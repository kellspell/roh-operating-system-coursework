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68" r:id="rId6"/>
    <p:sldId id="260" r:id="rId7"/>
    <p:sldId id="269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AE6F4-C15B-4AFF-8370-D6411251B42D}" v="15" dt="2025-10-05T09:59:27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76045" autoAdjust="0"/>
  </p:normalViewPr>
  <p:slideViewPr>
    <p:cSldViewPr snapToGrid="0" snapToObjects="1">
      <p:cViewPr>
        <p:scale>
          <a:sx n="93" d="100"/>
          <a:sy n="93" d="100"/>
        </p:scale>
        <p:origin x="53" y="-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bih Fatima" userId="1bfc5837-7f35-42e4-8f44-176c47f815d8" providerId="ADAL" clId="{3FE161B3-05B9-486D-8A35-14CCA4D9D23C}"/>
    <pc:docChg chg="undo custSel modSld">
      <pc:chgData name="Shabih Fatima" userId="1bfc5837-7f35-42e4-8f44-176c47f815d8" providerId="ADAL" clId="{3FE161B3-05B9-486D-8A35-14CCA4D9D23C}" dt="2025-10-05T09:59:39.493" v="64" actId="20577"/>
      <pc:docMkLst>
        <pc:docMk/>
      </pc:docMkLst>
      <pc:sldChg chg="delSp modSp mod modNotesTx">
        <pc:chgData name="Shabih Fatima" userId="1bfc5837-7f35-42e4-8f44-176c47f815d8" providerId="ADAL" clId="{3FE161B3-05B9-486D-8A35-14CCA4D9D23C}" dt="2025-10-05T09:57:26.334" v="55" actId="20577"/>
        <pc:sldMkLst>
          <pc:docMk/>
          <pc:sldMk cId="0" sldId="256"/>
        </pc:sldMkLst>
        <pc:spChg chg="mod">
          <ac:chgData name="Shabih Fatima" userId="1bfc5837-7f35-42e4-8f44-176c47f815d8" providerId="ADAL" clId="{3FE161B3-05B9-486D-8A35-14CCA4D9D23C}" dt="2025-10-04T20:35:28.157" v="52" actId="20577"/>
          <ac:spMkLst>
            <pc:docMk/>
            <pc:sldMk cId="0" sldId="256"/>
            <ac:spMk id="24" creationId="{00000000-0000-0000-0000-000000000000}"/>
          </ac:spMkLst>
        </pc:spChg>
        <pc:picChg chg="del">
          <ac:chgData name="Shabih Fatima" userId="1bfc5837-7f35-42e4-8f44-176c47f815d8" providerId="ADAL" clId="{3FE161B3-05B9-486D-8A35-14CCA4D9D23C}" dt="2025-10-04T20:35:22.514" v="51" actId="478"/>
          <ac:picMkLst>
            <pc:docMk/>
            <pc:sldMk cId="0" sldId="256"/>
            <ac:picMk id="10" creationId="{00000000-0000-0000-0000-000000000000}"/>
          </ac:picMkLst>
        </pc:picChg>
      </pc:sldChg>
      <pc:sldChg chg="modSp mod">
        <pc:chgData name="Shabih Fatima" userId="1bfc5837-7f35-42e4-8f44-176c47f815d8" providerId="ADAL" clId="{3FE161B3-05B9-486D-8A35-14CCA4D9D23C}" dt="2025-10-04T20:19:09.587" v="47"/>
        <pc:sldMkLst>
          <pc:docMk/>
          <pc:sldMk cId="0" sldId="260"/>
        </pc:sldMkLst>
        <pc:spChg chg="mod">
          <ac:chgData name="Shabih Fatima" userId="1bfc5837-7f35-42e4-8f44-176c47f815d8" providerId="ADAL" clId="{3FE161B3-05B9-486D-8A35-14CCA4D9D23C}" dt="2025-10-04T20:19:09.587" v="47"/>
          <ac:spMkLst>
            <pc:docMk/>
            <pc:sldMk cId="0" sldId="260"/>
            <ac:spMk id="55" creationId="{00000000-0000-0000-0000-000000000000}"/>
          </ac:spMkLst>
        </pc:spChg>
      </pc:sldChg>
      <pc:sldChg chg="modNotesTx">
        <pc:chgData name="Shabih Fatima" userId="1bfc5837-7f35-42e4-8f44-176c47f815d8" providerId="ADAL" clId="{3FE161B3-05B9-486D-8A35-14CCA4D9D23C}" dt="2025-10-05T09:57:49.110" v="58" actId="20577"/>
        <pc:sldMkLst>
          <pc:docMk/>
          <pc:sldMk cId="0" sldId="262"/>
        </pc:sldMkLst>
      </pc:sldChg>
      <pc:sldChg chg="delSp modSp mod modNotesTx">
        <pc:chgData name="Shabih Fatima" userId="1bfc5837-7f35-42e4-8f44-176c47f815d8" providerId="ADAL" clId="{3FE161B3-05B9-486D-8A35-14CCA4D9D23C}" dt="2025-10-05T09:57:53.908" v="59" actId="20577"/>
        <pc:sldMkLst>
          <pc:docMk/>
          <pc:sldMk cId="0" sldId="263"/>
        </pc:sldMkLst>
        <pc:picChg chg="mod">
          <ac:chgData name="Shabih Fatima" userId="1bfc5837-7f35-42e4-8f44-176c47f815d8" providerId="ADAL" clId="{3FE161B3-05B9-486D-8A35-14CCA4D9D23C}" dt="2025-10-04T20:01:07.267" v="8" actId="1076"/>
          <ac:picMkLst>
            <pc:docMk/>
            <pc:sldMk cId="0" sldId="263"/>
            <ac:picMk id="4" creationId="{00000000-0000-0000-0000-000000000000}"/>
          </ac:picMkLst>
        </pc:picChg>
        <pc:picChg chg="del mod">
          <ac:chgData name="Shabih Fatima" userId="1bfc5837-7f35-42e4-8f44-176c47f815d8" providerId="ADAL" clId="{3FE161B3-05B9-486D-8A35-14CCA4D9D23C}" dt="2025-10-04T20:00:56.986" v="7" actId="478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Shabih Fatima" userId="1bfc5837-7f35-42e4-8f44-176c47f815d8" providerId="ADAL" clId="{3FE161B3-05B9-486D-8A35-14CCA4D9D23C}" dt="2025-10-04T20:00:49.860" v="6" actId="1076"/>
          <ac:picMkLst>
            <pc:docMk/>
            <pc:sldMk cId="0" sldId="263"/>
            <ac:picMk id="11" creationId="{00000000-0000-0000-0000-000000000000}"/>
          </ac:picMkLst>
        </pc:picChg>
      </pc:sldChg>
      <pc:sldChg chg="modNotesTx">
        <pc:chgData name="Shabih Fatima" userId="1bfc5837-7f35-42e4-8f44-176c47f815d8" providerId="ADAL" clId="{3FE161B3-05B9-486D-8A35-14CCA4D9D23C}" dt="2025-10-05T09:57:59.677" v="60" actId="20577"/>
        <pc:sldMkLst>
          <pc:docMk/>
          <pc:sldMk cId="0" sldId="264"/>
        </pc:sldMkLst>
      </pc:sldChg>
      <pc:sldChg chg="modSp mod modNotesTx">
        <pc:chgData name="Shabih Fatima" userId="1bfc5837-7f35-42e4-8f44-176c47f815d8" providerId="ADAL" clId="{3FE161B3-05B9-486D-8A35-14CCA4D9D23C}" dt="2025-10-05T09:58:05.073" v="61" actId="20577"/>
        <pc:sldMkLst>
          <pc:docMk/>
          <pc:sldMk cId="0" sldId="265"/>
        </pc:sldMkLst>
        <pc:spChg chg="mod">
          <ac:chgData name="Shabih Fatima" userId="1bfc5837-7f35-42e4-8f44-176c47f815d8" providerId="ADAL" clId="{3FE161B3-05B9-486D-8A35-14CCA4D9D23C}" dt="2025-10-04T20:20:10.157" v="49" actId="20577"/>
          <ac:spMkLst>
            <pc:docMk/>
            <pc:sldMk cId="0" sldId="265"/>
            <ac:spMk id="39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04T20:15:34.469" v="40" actId="20577"/>
          <ac:spMkLst>
            <pc:docMk/>
            <pc:sldMk cId="0" sldId="265"/>
            <ac:spMk id="40" creationId="{00000000-0000-0000-0000-000000000000}"/>
          </ac:spMkLst>
        </pc:spChg>
      </pc:sldChg>
      <pc:sldChg chg="modSp mod">
        <pc:chgData name="Shabih Fatima" userId="1bfc5837-7f35-42e4-8f44-176c47f815d8" providerId="ADAL" clId="{3FE161B3-05B9-486D-8A35-14CCA4D9D23C}" dt="2025-10-04T20:10:46.434" v="20" actId="20577"/>
        <pc:sldMkLst>
          <pc:docMk/>
          <pc:sldMk cId="0" sldId="266"/>
        </pc:sldMkLst>
        <pc:spChg chg="mod">
          <ac:chgData name="Shabih Fatima" userId="1bfc5837-7f35-42e4-8f44-176c47f815d8" providerId="ADAL" clId="{3FE161B3-05B9-486D-8A35-14CCA4D9D23C}" dt="2025-10-04T20:10:46.434" v="20" actId="20577"/>
          <ac:spMkLst>
            <pc:docMk/>
            <pc:sldMk cId="0" sldId="266"/>
            <ac:spMk id="48" creationId="{00000000-0000-0000-0000-000000000000}"/>
          </ac:spMkLst>
        </pc:spChg>
      </pc:sldChg>
      <pc:sldChg chg="modSp mod">
        <pc:chgData name="Shabih Fatima" userId="1bfc5837-7f35-42e4-8f44-176c47f815d8" providerId="ADAL" clId="{3FE161B3-05B9-486D-8A35-14CCA4D9D23C}" dt="2025-10-05T09:59:39.493" v="64" actId="20577"/>
        <pc:sldMkLst>
          <pc:docMk/>
          <pc:sldMk cId="0" sldId="267"/>
        </pc:sldMkLst>
        <pc:spChg chg="mod">
          <ac:chgData name="Shabih Fatima" userId="1bfc5837-7f35-42e4-8f44-176c47f815d8" providerId="ADAL" clId="{3FE161B3-05B9-486D-8A35-14CCA4D9D23C}" dt="2025-10-05T09:59:27.730" v="6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05T09:59:39.493" v="64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Shabih Fatima" userId="1bfc5837-7f35-42e4-8f44-176c47f815d8" providerId="ADAL" clId="{3FE161B3-05B9-486D-8A35-14CCA4D9D23C}" dt="2025-10-04T20:16:23.190" v="45" actId="20577"/>
          <ac:spMkLst>
            <pc:docMk/>
            <pc:sldMk cId="0" sldId="267"/>
            <ac:spMk id="24" creationId="{00000000-0000-0000-0000-000000000000}"/>
          </ac:spMkLst>
        </pc:spChg>
      </pc:sldChg>
      <pc:sldChg chg="modNotesTx">
        <pc:chgData name="Shabih Fatima" userId="1bfc5837-7f35-42e4-8f44-176c47f815d8" providerId="ADAL" clId="{3FE161B3-05B9-486D-8A35-14CCA4D9D23C}" dt="2025-10-05T09:57:36.289" v="56" actId="20577"/>
        <pc:sldMkLst>
          <pc:docMk/>
          <pc:sldMk cId="0" sldId="268"/>
        </pc:sldMkLst>
      </pc:sldChg>
      <pc:sldChg chg="modNotesTx">
        <pc:chgData name="Shabih Fatima" userId="1bfc5837-7f35-42e4-8f44-176c47f815d8" providerId="ADAL" clId="{3FE161B3-05B9-486D-8A35-14CCA4D9D23C}" dt="2025-10-05T09:57:43.673" v="57" actId="2057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2230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19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28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20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26" Type="http://schemas.openxmlformats.org/officeDocument/2006/relationships/image" Target="../media/image80.png"/><Relationship Id="rId39" Type="http://schemas.openxmlformats.org/officeDocument/2006/relationships/image" Target="../media/image93.png"/><Relationship Id="rId21" Type="http://schemas.openxmlformats.org/officeDocument/2006/relationships/image" Target="../media/image75.png"/><Relationship Id="rId34" Type="http://schemas.openxmlformats.org/officeDocument/2006/relationships/image" Target="../media/image88.png"/><Relationship Id="rId42" Type="http://schemas.openxmlformats.org/officeDocument/2006/relationships/image" Target="../media/image2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29" Type="http://schemas.openxmlformats.org/officeDocument/2006/relationships/image" Target="../media/image83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24" Type="http://schemas.openxmlformats.org/officeDocument/2006/relationships/image" Target="../media/image78.png"/><Relationship Id="rId32" Type="http://schemas.openxmlformats.org/officeDocument/2006/relationships/image" Target="../media/image86.png"/><Relationship Id="rId37" Type="http://schemas.openxmlformats.org/officeDocument/2006/relationships/image" Target="../media/image91.png"/><Relationship Id="rId40" Type="http://schemas.openxmlformats.org/officeDocument/2006/relationships/image" Target="../media/image94.png"/><Relationship Id="rId5" Type="http://schemas.openxmlformats.org/officeDocument/2006/relationships/image" Target="../media/image59.png"/><Relationship Id="rId15" Type="http://schemas.openxmlformats.org/officeDocument/2006/relationships/image" Target="../media/image69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36" Type="http://schemas.openxmlformats.org/officeDocument/2006/relationships/image" Target="../media/image90.png"/><Relationship Id="rId10" Type="http://schemas.openxmlformats.org/officeDocument/2006/relationships/image" Target="../media/image64.png"/><Relationship Id="rId19" Type="http://schemas.openxmlformats.org/officeDocument/2006/relationships/image" Target="../media/image73.png"/><Relationship Id="rId31" Type="http://schemas.openxmlformats.org/officeDocument/2006/relationships/image" Target="../media/image85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68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Relationship Id="rId35" Type="http://schemas.openxmlformats.org/officeDocument/2006/relationships/image" Target="../media/image89.png"/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5" Type="http://schemas.openxmlformats.org/officeDocument/2006/relationships/image" Target="../media/image79.png"/><Relationship Id="rId33" Type="http://schemas.openxmlformats.org/officeDocument/2006/relationships/image" Target="../media/image87.png"/><Relationship Id="rId38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04.png"/><Relationship Id="rId18" Type="http://schemas.openxmlformats.org/officeDocument/2006/relationships/image" Target="../media/image63.png"/><Relationship Id="rId3" Type="http://schemas.openxmlformats.org/officeDocument/2006/relationships/image" Target="../media/image95.png"/><Relationship Id="rId21" Type="http://schemas.openxmlformats.org/officeDocument/2006/relationships/image" Target="../media/image110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17" Type="http://schemas.openxmlformats.org/officeDocument/2006/relationships/image" Target="../media/image10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7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5" Type="http://schemas.openxmlformats.org/officeDocument/2006/relationships/image" Target="../media/image106.png"/><Relationship Id="rId10" Type="http://schemas.openxmlformats.org/officeDocument/2006/relationships/image" Target="../media/image101.png"/><Relationship Id="rId19" Type="http://schemas.openxmlformats.org/officeDocument/2006/relationships/image" Target="../media/image109.png"/><Relationship Id="rId4" Type="http://schemas.openxmlformats.org/officeDocument/2006/relationships/image" Target="../media/image20.png"/><Relationship Id="rId9" Type="http://schemas.openxmlformats.org/officeDocument/2006/relationships/image" Target="../media/image100.png"/><Relationship Id="rId14" Type="http://schemas.openxmlformats.org/officeDocument/2006/relationships/image" Target="../media/image105.png"/><Relationship Id="rId22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3" Type="http://schemas.openxmlformats.org/officeDocument/2006/relationships/image" Target="../media/image111.png"/><Relationship Id="rId21" Type="http://schemas.openxmlformats.org/officeDocument/2006/relationships/image" Target="../media/image126.png"/><Relationship Id="rId7" Type="http://schemas.openxmlformats.org/officeDocument/2006/relationships/image" Target="../media/image115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11" Type="http://schemas.openxmlformats.org/officeDocument/2006/relationships/image" Target="../media/image15.png"/><Relationship Id="rId24" Type="http://schemas.openxmlformats.org/officeDocument/2006/relationships/image" Target="../media/image129.png"/><Relationship Id="rId5" Type="http://schemas.openxmlformats.org/officeDocument/2006/relationships/image" Target="../media/image113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10" Type="http://schemas.openxmlformats.org/officeDocument/2006/relationships/image" Target="../media/image14.png"/><Relationship Id="rId19" Type="http://schemas.openxmlformats.org/officeDocument/2006/relationships/image" Target="../media/image124.png"/><Relationship Id="rId4" Type="http://schemas.openxmlformats.org/officeDocument/2006/relationships/image" Target="../media/image112.png"/><Relationship Id="rId9" Type="http://schemas.openxmlformats.org/officeDocument/2006/relationships/image" Target="../media/image18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18" Type="http://schemas.openxmlformats.org/officeDocument/2006/relationships/image" Target="../media/image147.png"/><Relationship Id="rId3" Type="http://schemas.openxmlformats.org/officeDocument/2006/relationships/image" Target="../media/image19.png"/><Relationship Id="rId21" Type="http://schemas.openxmlformats.org/officeDocument/2006/relationships/image" Target="../media/image150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17" Type="http://schemas.openxmlformats.org/officeDocument/2006/relationships/image" Target="../media/image14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5.png"/><Relationship Id="rId20" Type="http://schemas.openxmlformats.org/officeDocument/2006/relationships/image" Target="../media/image1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19" Type="http://schemas.openxmlformats.org/officeDocument/2006/relationships/image" Target="../media/image148.png"/><Relationship Id="rId4" Type="http://schemas.openxmlformats.org/officeDocument/2006/relationships/image" Target="../media/image20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Relationship Id="rId22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3" Type="http://schemas.openxmlformats.org/officeDocument/2006/relationships/image" Target="../media/image151.png"/><Relationship Id="rId7" Type="http://schemas.openxmlformats.org/officeDocument/2006/relationships/image" Target="../media/image136.png"/><Relationship Id="rId12" Type="http://schemas.openxmlformats.org/officeDocument/2006/relationships/image" Target="../media/image1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png"/><Relationship Id="rId11" Type="http://schemas.openxmlformats.org/officeDocument/2006/relationships/image" Target="../media/image157.png"/><Relationship Id="rId5" Type="http://schemas.openxmlformats.org/officeDocument/2006/relationships/image" Target="../media/image152.png"/><Relationship Id="rId15" Type="http://schemas.openxmlformats.org/officeDocument/2006/relationships/image" Target="../media/image28.png"/><Relationship Id="rId10" Type="http://schemas.openxmlformats.org/officeDocument/2006/relationships/image" Target="../media/image156.png"/><Relationship Id="rId4" Type="http://schemas.openxmlformats.org/officeDocument/2006/relationships/image" Target="../media/image112.png"/><Relationship Id="rId9" Type="http://schemas.openxmlformats.org/officeDocument/2006/relationships/image" Target="../media/image155.png"/><Relationship Id="rId14" Type="http://schemas.openxmlformats.org/officeDocument/2006/relationships/image" Target="../media/image1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2.png"/><Relationship Id="rId3" Type="http://schemas.openxmlformats.org/officeDocument/2006/relationships/image" Target="../media/image160.png"/><Relationship Id="rId7" Type="http://schemas.openxmlformats.org/officeDocument/2006/relationships/image" Target="../media/image36.png"/><Relationship Id="rId12" Type="http://schemas.openxmlformats.org/officeDocument/2006/relationships/image" Target="../media/image167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2.png"/><Relationship Id="rId11" Type="http://schemas.openxmlformats.org/officeDocument/2006/relationships/image" Target="../media/image166.png"/><Relationship Id="rId5" Type="http://schemas.openxmlformats.org/officeDocument/2006/relationships/image" Target="../media/image161.png"/><Relationship Id="rId15" Type="http://schemas.openxmlformats.org/officeDocument/2006/relationships/image" Target="../media/image170.png"/><Relationship Id="rId10" Type="http://schemas.openxmlformats.org/officeDocument/2006/relationships/image" Target="../media/image165.png"/><Relationship Id="rId4" Type="http://schemas.openxmlformats.org/officeDocument/2006/relationships/image" Target="../media/image20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2.png"/><Relationship Id="rId18" Type="http://schemas.openxmlformats.org/officeDocument/2006/relationships/image" Target="../media/image187.png"/><Relationship Id="rId26" Type="http://schemas.openxmlformats.org/officeDocument/2006/relationships/image" Target="../media/image194.png"/><Relationship Id="rId3" Type="http://schemas.openxmlformats.org/officeDocument/2006/relationships/image" Target="../media/image173.png"/><Relationship Id="rId21" Type="http://schemas.openxmlformats.org/officeDocument/2006/relationships/image" Target="../media/image170.png"/><Relationship Id="rId7" Type="http://schemas.openxmlformats.org/officeDocument/2006/relationships/image" Target="../media/image176.png"/><Relationship Id="rId12" Type="http://schemas.openxmlformats.org/officeDocument/2006/relationships/image" Target="../media/image181.png"/><Relationship Id="rId17" Type="http://schemas.openxmlformats.org/officeDocument/2006/relationships/image" Target="../media/image186.png"/><Relationship Id="rId25" Type="http://schemas.openxmlformats.org/officeDocument/2006/relationships/image" Target="../media/image193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85.png"/><Relationship Id="rId20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png"/><Relationship Id="rId11" Type="http://schemas.openxmlformats.org/officeDocument/2006/relationships/image" Target="../media/image180.png"/><Relationship Id="rId24" Type="http://schemas.openxmlformats.org/officeDocument/2006/relationships/image" Target="../media/image192.png"/><Relationship Id="rId5" Type="http://schemas.openxmlformats.org/officeDocument/2006/relationships/image" Target="../media/image174.png"/><Relationship Id="rId15" Type="http://schemas.openxmlformats.org/officeDocument/2006/relationships/image" Target="../media/image184.png"/><Relationship Id="rId23" Type="http://schemas.openxmlformats.org/officeDocument/2006/relationships/image" Target="../media/image191.png"/><Relationship Id="rId10" Type="http://schemas.openxmlformats.org/officeDocument/2006/relationships/image" Target="../media/image179.png"/><Relationship Id="rId19" Type="http://schemas.openxmlformats.org/officeDocument/2006/relationships/image" Target="../media/image188.png"/><Relationship Id="rId4" Type="http://schemas.openxmlformats.org/officeDocument/2006/relationships/image" Target="../media/image20.png"/><Relationship Id="rId9" Type="http://schemas.openxmlformats.org/officeDocument/2006/relationships/image" Target="../media/image178.png"/><Relationship Id="rId14" Type="http://schemas.openxmlformats.org/officeDocument/2006/relationships/image" Target="../media/image183.png"/><Relationship Id="rId22" Type="http://schemas.openxmlformats.org/officeDocument/2006/relationships/image" Target="../media/image190.png"/><Relationship Id="rId27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png"/><Relationship Id="rId13" Type="http://schemas.openxmlformats.org/officeDocument/2006/relationships/image" Target="../media/image204.png"/><Relationship Id="rId3" Type="http://schemas.openxmlformats.org/officeDocument/2006/relationships/image" Target="../media/image195.png"/><Relationship Id="rId7" Type="http://schemas.openxmlformats.org/officeDocument/2006/relationships/image" Target="../media/image198.png"/><Relationship Id="rId12" Type="http://schemas.openxmlformats.org/officeDocument/2006/relationships/image" Target="../media/image20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4" Type="http://schemas.openxmlformats.org/officeDocument/2006/relationships/image" Target="../media/image20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76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781800"/>
            <a:ext cx="12192000" cy="76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81200"/>
            <a:ext cx="1219200" cy="571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1942" y="340995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0625" y="3409950"/>
            <a:ext cx="40005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93693" y="3409950"/>
            <a:ext cx="51435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3500" y="4010318"/>
            <a:ext cx="28575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4143082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72035" y="4609952"/>
            <a:ext cx="28575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53500" y="5183168"/>
            <a:ext cx="28575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72035" y="5733901"/>
            <a:ext cx="2857500" cy="3810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762000" y="914400"/>
            <a:ext cx="1066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3600" dirty="0"/>
          </a:p>
        </p:txBody>
      </p:sp>
      <p:sp>
        <p:nvSpPr>
          <p:cNvPr id="20" name="Text 1"/>
          <p:cNvSpPr/>
          <p:nvPr/>
        </p:nvSpPr>
        <p:spPr>
          <a:xfrm>
            <a:off x="762000" y="2266950"/>
            <a:ext cx="1280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Exploring OS Design Principles, Linux Ecosystem, and Command-Line Tools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762000" y="4019550"/>
            <a:ext cx="1724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 Architectures</a:t>
            </a:r>
            <a:endParaRPr lang="en-US" sz="1350" dirty="0"/>
          </a:p>
        </p:txBody>
      </p:sp>
      <p:sp>
        <p:nvSpPr>
          <p:cNvPr id="22" name="Text 3"/>
          <p:cNvSpPr/>
          <p:nvPr/>
        </p:nvSpPr>
        <p:spPr>
          <a:xfrm>
            <a:off x="2808833" y="4019550"/>
            <a:ext cx="1732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Ecosystem</a:t>
            </a:r>
            <a:endParaRPr lang="en-US" sz="1350" dirty="0"/>
          </a:p>
        </p:txBody>
      </p:sp>
      <p:sp>
        <p:nvSpPr>
          <p:cNvPr id="23" name="Text 4"/>
          <p:cNvSpPr/>
          <p:nvPr/>
        </p:nvSpPr>
        <p:spPr>
          <a:xfrm>
            <a:off x="4862215" y="4019550"/>
            <a:ext cx="21327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Command-Line Tools</a:t>
            </a:r>
            <a:endParaRPr lang="en-US" sz="1350" dirty="0"/>
          </a:p>
        </p:txBody>
      </p:sp>
      <p:sp>
        <p:nvSpPr>
          <p:cNvPr id="24" name="Text 5"/>
          <p:cNvSpPr/>
          <p:nvPr/>
        </p:nvSpPr>
        <p:spPr>
          <a:xfrm>
            <a:off x="971550" y="6248400"/>
            <a:ext cx="10628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9315450" y="4104982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Applications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9315450" y="46482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Libraries &amp; API</a:t>
            </a:r>
            <a:endParaRPr lang="en-US" sz="1200" b="1" dirty="0"/>
          </a:p>
        </p:txBody>
      </p:sp>
      <p:sp>
        <p:nvSpPr>
          <p:cNvPr id="28" name="Text 9"/>
          <p:cNvSpPr/>
          <p:nvPr/>
        </p:nvSpPr>
        <p:spPr>
          <a:xfrm>
            <a:off x="9334500" y="517885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Call Interface</a:t>
            </a:r>
            <a:endParaRPr lang="en-US" sz="1200" b="1" dirty="0"/>
          </a:p>
        </p:txBody>
      </p:sp>
      <p:sp>
        <p:nvSpPr>
          <p:cNvPr id="29" name="Text 10"/>
          <p:cNvSpPr/>
          <p:nvPr/>
        </p:nvSpPr>
        <p:spPr>
          <a:xfrm>
            <a:off x="9315450" y="5829886"/>
            <a:ext cx="2857500" cy="646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Kernel</a:t>
            </a:r>
            <a:endParaRPr lang="en-US" sz="1200" dirty="0"/>
          </a:p>
        </p:txBody>
      </p:sp>
      <p:pic>
        <p:nvPicPr>
          <p:cNvPr id="30" name="Image 7" descr="preencoded.png">
            <a:extLst>
              <a:ext uri="{FF2B5EF4-FFF2-40B4-BE49-F238E27FC236}">
                <a16:creationId xmlns:a16="http://schemas.microsoft.com/office/drawing/2014/main" id="{834A996F-F20B-53E7-5915-D240684CD50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972034" y="6262351"/>
            <a:ext cx="2838965" cy="38935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0D8E06C-8EB5-4EC4-4230-4D9975D9E6FC}"/>
              </a:ext>
            </a:extLst>
          </p:cNvPr>
          <p:cNvSpPr txBox="1"/>
          <p:nvPr/>
        </p:nvSpPr>
        <p:spPr>
          <a:xfrm>
            <a:off x="9239250" y="6313665"/>
            <a:ext cx="3256005" cy="306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Hardware</a:t>
            </a:r>
            <a:endParaRPr lang="en-US" sz="1200" dirty="0"/>
          </a:p>
        </p:txBody>
      </p:sp>
      <p:pic>
        <p:nvPicPr>
          <p:cNvPr id="33" name="Image 8" descr="preencoded.png">
            <a:extLst>
              <a:ext uri="{FF2B5EF4-FFF2-40B4-BE49-F238E27FC236}">
                <a16:creationId xmlns:a16="http://schemas.microsoft.com/office/drawing/2014/main" id="{E9559287-7B82-2037-A5E4-719655E86E8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26916" y="5244532"/>
            <a:ext cx="212334" cy="283112"/>
          </a:xfrm>
          <a:prstGeom prst="rect">
            <a:avLst/>
          </a:prstGeom>
        </p:spPr>
      </p:pic>
      <p:pic>
        <p:nvPicPr>
          <p:cNvPr id="34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67800" y="6400651"/>
            <a:ext cx="152400" cy="152400"/>
          </a:xfrm>
          <a:prstGeom prst="rect">
            <a:avLst/>
          </a:prstGeom>
        </p:spPr>
      </p:pic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59352" y="5881351"/>
            <a:ext cx="190500" cy="152400"/>
          </a:xfrm>
          <a:prstGeom prst="rect">
            <a:avLst/>
          </a:prstGeom>
        </p:spPr>
      </p:pic>
      <p:pic>
        <p:nvPicPr>
          <p:cNvPr id="36" name="Image 6" descr="preencoded.png">
            <a:extLst>
              <a:ext uri="{FF2B5EF4-FFF2-40B4-BE49-F238E27FC236}">
                <a16:creationId xmlns:a16="http://schemas.microsoft.com/office/drawing/2014/main" id="{994A4E9F-F4AD-3EFD-95BD-66FCDC9F065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67800" y="4696118"/>
            <a:ext cx="168453" cy="2566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828800"/>
            <a:ext cx="5448300" cy="419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05740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350" y="2247900"/>
            <a:ext cx="3429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086100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73380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3815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828800"/>
            <a:ext cx="5448300" cy="419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0" y="205740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00838" y="2247900"/>
            <a:ext cx="390525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08610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467100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5100" y="38481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28600"/>
            <a:ext cx="46250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457200" y="1219200"/>
            <a:ext cx="13533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objectives will guide our focus for the week: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676400" y="2133600"/>
            <a:ext cx="34136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LO1</a:t>
            </a:r>
            <a:endParaRPr lang="en-US" sz="2250" dirty="0"/>
          </a:p>
        </p:txBody>
      </p:sp>
      <p:sp>
        <p:nvSpPr>
          <p:cNvPr id="21" name="Text 4"/>
          <p:cNvSpPr/>
          <p:nvPr/>
        </p:nvSpPr>
        <p:spPr>
          <a:xfrm>
            <a:off x="1676400" y="2476500"/>
            <a:ext cx="4096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Operating System Design Principles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990600" y="30480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kernel architectures (monolithic, microkernel, hybrid)</a:t>
            </a:r>
            <a:endParaRPr lang="en-US" sz="1500" dirty="0"/>
          </a:p>
        </p:txBody>
      </p:sp>
      <p:sp>
        <p:nvSpPr>
          <p:cNvPr id="23" name="Text 6"/>
          <p:cNvSpPr/>
          <p:nvPr/>
        </p:nvSpPr>
        <p:spPr>
          <a:xfrm>
            <a:off x="990600" y="3695700"/>
            <a:ext cx="46863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Comprehending layered architecture and modularity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990600" y="4343400"/>
            <a:ext cx="37045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Tracing the system boot process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7505700" y="2133600"/>
            <a:ext cx="2782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LO4</a:t>
            </a:r>
            <a:endParaRPr lang="en-US" sz="2250" dirty="0"/>
          </a:p>
        </p:txBody>
      </p:sp>
      <p:sp>
        <p:nvSpPr>
          <p:cNvPr id="26" name="Text 9"/>
          <p:cNvSpPr/>
          <p:nvPr/>
        </p:nvSpPr>
        <p:spPr>
          <a:xfrm>
            <a:off x="7505700" y="2476500"/>
            <a:ext cx="33393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Command-Line Tools in Linux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6819900" y="3048000"/>
            <a:ext cx="52676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Navigating the file system and managing files</a:t>
            </a:r>
            <a:endParaRPr lang="en-US" sz="1500" dirty="0"/>
          </a:p>
        </p:txBody>
      </p:sp>
      <p:sp>
        <p:nvSpPr>
          <p:cNvPr id="28" name="Text 11"/>
          <p:cNvSpPr/>
          <p:nvPr/>
        </p:nvSpPr>
        <p:spPr>
          <a:xfrm>
            <a:off x="6819900" y="3429000"/>
            <a:ext cx="49141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Managing processes and system resources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6819900" y="3810000"/>
            <a:ext cx="47220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Retrieving system information effectively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457200" y="65151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981200"/>
            <a:ext cx="3555950" cy="3695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228850"/>
            <a:ext cx="478631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528" y="23622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971800"/>
            <a:ext cx="3098750" cy="876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000500"/>
            <a:ext cx="309875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00600"/>
            <a:ext cx="3098750" cy="647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7950" y="1981200"/>
            <a:ext cx="3555950" cy="3695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46550" y="2228850"/>
            <a:ext cx="435322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4125" y="23622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550" y="2971800"/>
            <a:ext cx="3098750" cy="647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550" y="3771900"/>
            <a:ext cx="3098750" cy="647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6550" y="4572000"/>
            <a:ext cx="3098750" cy="647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78701" y="1981200"/>
            <a:ext cx="3556099" cy="3695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7301" y="2228850"/>
            <a:ext cx="444698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1063" y="2362200"/>
            <a:ext cx="25717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07301" y="2971800"/>
            <a:ext cx="3098899" cy="647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07301" y="3771900"/>
            <a:ext cx="3098899" cy="647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07301" y="4572000"/>
            <a:ext cx="3098899" cy="647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228600"/>
            <a:ext cx="401246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 Overview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7581602" y="285750"/>
            <a:ext cx="49838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457200" y="1143000"/>
            <a:ext cx="1127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week focuses on operating system design and Linux foundations, with both theoretical concepts and practical skills.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1316831" y="2209800"/>
            <a:ext cx="246771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Lecture: OS Structures</a:t>
            </a:r>
            <a:endParaRPr lang="en-US" sz="1800" dirty="0"/>
          </a:p>
        </p:txBody>
      </p:sp>
      <p:sp>
        <p:nvSpPr>
          <p:cNvPr id="27" name="Text 4"/>
          <p:cNvSpPr/>
          <p:nvPr/>
        </p:nvSpPr>
        <p:spPr>
          <a:xfrm>
            <a:off x="838200" y="3048000"/>
            <a:ext cx="3535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Kernel Architectures</a:t>
            </a:r>
            <a:endParaRPr lang="en-US" sz="1500" dirty="0"/>
          </a:p>
        </p:txBody>
      </p:sp>
      <p:sp>
        <p:nvSpPr>
          <p:cNvPr id="28" name="Text 5"/>
          <p:cNvSpPr/>
          <p:nvPr/>
        </p:nvSpPr>
        <p:spPr>
          <a:xfrm>
            <a:off x="838200" y="3314700"/>
            <a:ext cx="2946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Monolithic vs. microkernel vs. hybrid systems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838200" y="4076700"/>
            <a:ext cx="3535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Layered Design</a:t>
            </a:r>
            <a:endParaRPr lang="en-US" sz="1500" dirty="0"/>
          </a:p>
        </p:txBody>
      </p:sp>
      <p:sp>
        <p:nvSpPr>
          <p:cNvPr id="30" name="Text 7"/>
          <p:cNvSpPr/>
          <p:nvPr/>
        </p:nvSpPr>
        <p:spPr>
          <a:xfrm>
            <a:off x="838200" y="4343400"/>
            <a:ext cx="353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Modularity and separation of concerns</a:t>
            </a:r>
            <a:endParaRPr lang="en-US" sz="1200" dirty="0"/>
          </a:p>
        </p:txBody>
      </p:sp>
      <p:sp>
        <p:nvSpPr>
          <p:cNvPr id="31" name="Text 8"/>
          <p:cNvSpPr/>
          <p:nvPr/>
        </p:nvSpPr>
        <p:spPr>
          <a:xfrm>
            <a:off x="838200" y="4876800"/>
            <a:ext cx="294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Boot Process</a:t>
            </a:r>
            <a:endParaRPr lang="en-US" sz="1500" dirty="0"/>
          </a:p>
        </p:txBody>
      </p:sp>
      <p:sp>
        <p:nvSpPr>
          <p:cNvPr id="32" name="Text 9"/>
          <p:cNvSpPr/>
          <p:nvPr/>
        </p:nvSpPr>
        <p:spPr>
          <a:xfrm>
            <a:off x="838200" y="5143500"/>
            <a:ext cx="353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initialisation sequence</a:t>
            </a:r>
            <a:endParaRPr lang="en-US" sz="1200" dirty="0"/>
          </a:p>
        </p:txBody>
      </p:sp>
      <p:sp>
        <p:nvSpPr>
          <p:cNvPr id="33" name="Text 10"/>
          <p:cNvSpPr/>
          <p:nvPr/>
        </p:nvSpPr>
        <p:spPr>
          <a:xfrm>
            <a:off x="5134273" y="2209800"/>
            <a:ext cx="251102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Lecture: Linux Ecosystem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4698950" y="3048000"/>
            <a:ext cx="3535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Kernel &amp; GNU/Linux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4698950" y="3314700"/>
            <a:ext cx="353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relationship between components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4698950" y="3848100"/>
            <a:ext cx="3535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Distribution Families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4698950" y="4114800"/>
            <a:ext cx="353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Debian, Red Hat, Arch, SUSE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4698950" y="4648200"/>
            <a:ext cx="3535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</a:t>
            </a:r>
            <a:endParaRPr lang="en-US" sz="1500" dirty="0"/>
          </a:p>
        </p:txBody>
      </p:sp>
      <p:sp>
        <p:nvSpPr>
          <p:cNvPr id="39" name="Text 16"/>
          <p:cNvSpPr/>
          <p:nvPr/>
        </p:nvSpPr>
        <p:spPr>
          <a:xfrm>
            <a:off x="4698950" y="4914900"/>
            <a:ext cx="3535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APT, DNF, Pacman, Zypper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9004399" y="2209800"/>
            <a:ext cx="25018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Practical: Command-Line</a:t>
            </a:r>
            <a:endParaRPr lang="en-US" sz="1800" dirty="0"/>
          </a:p>
        </p:txBody>
      </p:sp>
      <p:sp>
        <p:nvSpPr>
          <p:cNvPr id="41" name="Text 18"/>
          <p:cNvSpPr/>
          <p:nvPr/>
        </p:nvSpPr>
        <p:spPr>
          <a:xfrm>
            <a:off x="8559701" y="3048000"/>
            <a:ext cx="3535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File System Navigation</a:t>
            </a:r>
            <a:endParaRPr lang="en-US" sz="1500" dirty="0"/>
          </a:p>
        </p:txBody>
      </p:sp>
      <p:sp>
        <p:nvSpPr>
          <p:cNvPr id="42" name="Text 19"/>
          <p:cNvSpPr/>
          <p:nvPr/>
        </p:nvSpPr>
        <p:spPr>
          <a:xfrm>
            <a:off x="8559701" y="3314700"/>
            <a:ext cx="3535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ls, cd, pwd, mkdir, rm, cp, mv</a:t>
            </a:r>
            <a:endParaRPr lang="en-US" sz="1200" dirty="0"/>
          </a:p>
        </p:txBody>
      </p:sp>
      <p:sp>
        <p:nvSpPr>
          <p:cNvPr id="43" name="Text 20"/>
          <p:cNvSpPr/>
          <p:nvPr/>
        </p:nvSpPr>
        <p:spPr>
          <a:xfrm>
            <a:off x="8559701" y="3848100"/>
            <a:ext cx="3535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 Management</a:t>
            </a:r>
            <a:endParaRPr lang="en-US" sz="1500" dirty="0"/>
          </a:p>
        </p:txBody>
      </p:sp>
      <p:sp>
        <p:nvSpPr>
          <p:cNvPr id="44" name="Text 21"/>
          <p:cNvSpPr/>
          <p:nvPr/>
        </p:nvSpPr>
        <p:spPr>
          <a:xfrm>
            <a:off x="8559701" y="4114800"/>
            <a:ext cx="3535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ps, top, kill commands</a:t>
            </a:r>
            <a:endParaRPr lang="en-US" sz="1200" dirty="0"/>
          </a:p>
        </p:txBody>
      </p:sp>
      <p:sp>
        <p:nvSpPr>
          <p:cNvPr id="45" name="Text 22"/>
          <p:cNvSpPr/>
          <p:nvPr/>
        </p:nvSpPr>
        <p:spPr>
          <a:xfrm>
            <a:off x="8559701" y="4648200"/>
            <a:ext cx="3535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Information</a:t>
            </a:r>
            <a:endParaRPr lang="en-US" sz="1500" dirty="0"/>
          </a:p>
        </p:txBody>
      </p:sp>
      <p:sp>
        <p:nvSpPr>
          <p:cNvPr id="46" name="Text 23"/>
          <p:cNvSpPr/>
          <p:nvPr/>
        </p:nvSpPr>
        <p:spPr>
          <a:xfrm>
            <a:off x="8559701" y="4914900"/>
            <a:ext cx="3535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uname, lscpu, free commands</a:t>
            </a:r>
            <a:endParaRPr lang="en-US" sz="1200" dirty="0"/>
          </a:p>
        </p:txBody>
      </p:sp>
      <p:sp>
        <p:nvSpPr>
          <p:cNvPr id="47" name="Text 24"/>
          <p:cNvSpPr/>
          <p:nvPr/>
        </p:nvSpPr>
        <p:spPr>
          <a:xfrm>
            <a:off x="457200" y="65151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9448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43000"/>
            <a:ext cx="5524500" cy="3657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33350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39065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866900"/>
            <a:ext cx="5143500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819400"/>
            <a:ext cx="5143500" cy="419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771900"/>
            <a:ext cx="5143500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3000"/>
            <a:ext cx="5524500" cy="3657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3335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863" y="1390650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66900"/>
            <a:ext cx="5143500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819400"/>
            <a:ext cx="5143500" cy="419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3771900"/>
            <a:ext cx="514350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29200"/>
            <a:ext cx="5524500" cy="3657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5219700"/>
            <a:ext cx="3810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950" y="527685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5753100"/>
            <a:ext cx="514350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6705600"/>
            <a:ext cx="5143500" cy="4191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7658100"/>
            <a:ext cx="5143500" cy="419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5029200"/>
            <a:ext cx="5524500" cy="3657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521970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96050" y="5276850"/>
            <a:ext cx="190500" cy="2667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5753100"/>
            <a:ext cx="5143500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6705600"/>
            <a:ext cx="5143500" cy="4191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7658100"/>
            <a:ext cx="5143500" cy="4191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8991600"/>
            <a:ext cx="12192000" cy="457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228600"/>
            <a:ext cx="68765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Command-Line Fundamentals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1181100" y="1371600"/>
            <a:ext cx="30998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Terminal Navigation</a:t>
            </a:r>
            <a:endParaRPr lang="en-US" sz="1800" dirty="0"/>
          </a:p>
        </p:txBody>
      </p:sp>
      <p:sp>
        <p:nvSpPr>
          <p:cNvPr id="32" name="Text 3"/>
          <p:cNvSpPr/>
          <p:nvPr/>
        </p:nvSpPr>
        <p:spPr>
          <a:xfrm>
            <a:off x="742950" y="19907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1017389" y="199072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[directory]</a:t>
            </a:r>
            <a:endParaRPr lang="en-US" sz="1200" dirty="0"/>
          </a:p>
        </p:txBody>
      </p:sp>
      <p:sp>
        <p:nvSpPr>
          <p:cNvPr id="34" name="Text 5"/>
          <p:cNvSpPr/>
          <p:nvPr/>
        </p:nvSpPr>
        <p:spPr>
          <a:xfrm>
            <a:off x="723900" y="24765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 current directory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742950" y="29432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200" dirty="0"/>
          </a:p>
        </p:txBody>
      </p:sp>
      <p:sp>
        <p:nvSpPr>
          <p:cNvPr id="36" name="Text 7"/>
          <p:cNvSpPr/>
          <p:nvPr/>
        </p:nvSpPr>
        <p:spPr>
          <a:xfrm>
            <a:off x="723900" y="34290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List directory contents</a:t>
            </a:r>
            <a:endParaRPr lang="en-US" sz="1200" dirty="0"/>
          </a:p>
        </p:txBody>
      </p:sp>
      <p:sp>
        <p:nvSpPr>
          <p:cNvPr id="37" name="Text 8"/>
          <p:cNvSpPr/>
          <p:nvPr/>
        </p:nvSpPr>
        <p:spPr>
          <a:xfrm>
            <a:off x="742950" y="389572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200" dirty="0"/>
          </a:p>
        </p:txBody>
      </p:sp>
      <p:sp>
        <p:nvSpPr>
          <p:cNvPr id="38" name="Text 9"/>
          <p:cNvSpPr/>
          <p:nvPr/>
        </p:nvSpPr>
        <p:spPr>
          <a:xfrm>
            <a:off x="723900" y="43815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Print working directory</a:t>
            </a:r>
            <a:endParaRPr lang="en-US" sz="1200" dirty="0"/>
          </a:p>
        </p:txBody>
      </p:sp>
      <p:sp>
        <p:nvSpPr>
          <p:cNvPr id="39" name="Text 10"/>
          <p:cNvSpPr/>
          <p:nvPr/>
        </p:nvSpPr>
        <p:spPr>
          <a:xfrm>
            <a:off x="6934200" y="1371600"/>
            <a:ext cx="236529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File Operations</a:t>
            </a:r>
            <a:endParaRPr lang="en-US" sz="1800" dirty="0"/>
          </a:p>
        </p:txBody>
      </p:sp>
      <p:sp>
        <p:nvSpPr>
          <p:cNvPr id="40" name="Text 11"/>
          <p:cNvSpPr/>
          <p:nvPr/>
        </p:nvSpPr>
        <p:spPr>
          <a:xfrm>
            <a:off x="6496050" y="19907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1200" dirty="0"/>
          </a:p>
        </p:txBody>
      </p:sp>
      <p:sp>
        <p:nvSpPr>
          <p:cNvPr id="41" name="Text 12"/>
          <p:cNvSpPr/>
          <p:nvPr/>
        </p:nvSpPr>
        <p:spPr>
          <a:xfrm>
            <a:off x="6770489" y="199072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dest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6477000" y="24765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Copy files/directories</a:t>
            </a:r>
            <a:endParaRPr lang="en-US" sz="1200" dirty="0"/>
          </a:p>
        </p:txBody>
      </p:sp>
      <p:sp>
        <p:nvSpPr>
          <p:cNvPr id="43" name="Text 14"/>
          <p:cNvSpPr/>
          <p:nvPr/>
        </p:nvSpPr>
        <p:spPr>
          <a:xfrm>
            <a:off x="6496050" y="29432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6770489" y="2943225"/>
            <a:ext cx="12072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dest</a:t>
            </a:r>
            <a:endParaRPr lang="en-US" sz="1200" dirty="0"/>
          </a:p>
        </p:txBody>
      </p:sp>
      <p:sp>
        <p:nvSpPr>
          <p:cNvPr id="45" name="Text 16"/>
          <p:cNvSpPr/>
          <p:nvPr/>
        </p:nvSpPr>
        <p:spPr>
          <a:xfrm>
            <a:off x="6477000" y="34290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Move/rename files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496050" y="38957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200" dirty="0"/>
          </a:p>
        </p:txBody>
      </p:sp>
      <p:sp>
        <p:nvSpPr>
          <p:cNvPr id="47" name="Text 18"/>
          <p:cNvSpPr/>
          <p:nvPr/>
        </p:nvSpPr>
        <p:spPr>
          <a:xfrm>
            <a:off x="6770489" y="389572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477000" y="43815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Remove files</a:t>
            </a:r>
            <a:endParaRPr lang="en-US" sz="1200" dirty="0"/>
          </a:p>
        </p:txBody>
      </p:sp>
      <p:sp>
        <p:nvSpPr>
          <p:cNvPr id="49" name="Text 20"/>
          <p:cNvSpPr/>
          <p:nvPr/>
        </p:nvSpPr>
        <p:spPr>
          <a:xfrm>
            <a:off x="1181100" y="5257800"/>
            <a:ext cx="33148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 Management</a:t>
            </a:r>
            <a:endParaRPr lang="en-US" sz="1800" dirty="0"/>
          </a:p>
        </p:txBody>
      </p:sp>
      <p:sp>
        <p:nvSpPr>
          <p:cNvPr id="50" name="Text 21"/>
          <p:cNvSpPr/>
          <p:nvPr/>
        </p:nvSpPr>
        <p:spPr>
          <a:xfrm>
            <a:off x="742950" y="5876925"/>
            <a:ext cx="2194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</a:t>
            </a:r>
            <a:endParaRPr lang="en-US" sz="1200" dirty="0"/>
          </a:p>
        </p:txBody>
      </p:sp>
      <p:sp>
        <p:nvSpPr>
          <p:cNvPr id="51" name="Text 22"/>
          <p:cNvSpPr/>
          <p:nvPr/>
        </p:nvSpPr>
        <p:spPr>
          <a:xfrm>
            <a:off x="723900" y="63627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Display running processes</a:t>
            </a:r>
            <a:endParaRPr lang="en-US" sz="1200" dirty="0"/>
          </a:p>
        </p:txBody>
      </p:sp>
      <p:sp>
        <p:nvSpPr>
          <p:cNvPr id="52" name="Text 23"/>
          <p:cNvSpPr/>
          <p:nvPr/>
        </p:nvSpPr>
        <p:spPr>
          <a:xfrm>
            <a:off x="742950" y="682942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endParaRPr lang="en-US" sz="1200" dirty="0"/>
          </a:p>
        </p:txBody>
      </p:sp>
      <p:sp>
        <p:nvSpPr>
          <p:cNvPr id="53" name="Text 24"/>
          <p:cNvSpPr/>
          <p:nvPr/>
        </p:nvSpPr>
        <p:spPr>
          <a:xfrm>
            <a:off x="723900" y="73152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Real-time process monitor</a:t>
            </a:r>
            <a:endParaRPr lang="en-US" sz="1200" dirty="0"/>
          </a:p>
        </p:txBody>
      </p:sp>
      <p:sp>
        <p:nvSpPr>
          <p:cNvPr id="54" name="Text 25"/>
          <p:cNvSpPr/>
          <p:nvPr/>
        </p:nvSpPr>
        <p:spPr>
          <a:xfrm>
            <a:off x="742950" y="7781925"/>
            <a:ext cx="4389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kill</a:t>
            </a:r>
            <a:endParaRPr lang="en-US" sz="1200" dirty="0"/>
          </a:p>
        </p:txBody>
      </p:sp>
      <p:sp>
        <p:nvSpPr>
          <p:cNvPr id="55" name="Text 26"/>
          <p:cNvSpPr/>
          <p:nvPr/>
        </p:nvSpPr>
        <p:spPr>
          <a:xfrm>
            <a:off x="1200299" y="7781925"/>
            <a:ext cx="3293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2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1200" dirty="0"/>
          </a:p>
        </p:txBody>
      </p:sp>
      <p:sp>
        <p:nvSpPr>
          <p:cNvPr id="56" name="Text 27"/>
          <p:cNvSpPr/>
          <p:nvPr/>
        </p:nvSpPr>
        <p:spPr>
          <a:xfrm>
            <a:off x="723900" y="82677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Terminate processes</a:t>
            </a:r>
            <a:endParaRPr lang="en-US" sz="1200" dirty="0"/>
          </a:p>
        </p:txBody>
      </p:sp>
      <p:sp>
        <p:nvSpPr>
          <p:cNvPr id="57" name="Text 28"/>
          <p:cNvSpPr/>
          <p:nvPr/>
        </p:nvSpPr>
        <p:spPr>
          <a:xfrm>
            <a:off x="6934200" y="5257800"/>
            <a:ext cx="30585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Information</a:t>
            </a:r>
            <a:endParaRPr lang="en-US" sz="1800" dirty="0"/>
          </a:p>
        </p:txBody>
      </p:sp>
      <p:sp>
        <p:nvSpPr>
          <p:cNvPr id="58" name="Text 29"/>
          <p:cNvSpPr/>
          <p:nvPr/>
        </p:nvSpPr>
        <p:spPr>
          <a:xfrm>
            <a:off x="6496050" y="5876925"/>
            <a:ext cx="8779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uname -a</a:t>
            </a:r>
            <a:endParaRPr lang="en-US" sz="1200" dirty="0"/>
          </a:p>
        </p:txBody>
      </p:sp>
      <p:sp>
        <p:nvSpPr>
          <p:cNvPr id="59" name="Text 30"/>
          <p:cNvSpPr/>
          <p:nvPr/>
        </p:nvSpPr>
        <p:spPr>
          <a:xfrm>
            <a:off x="6477000" y="63627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 kernel information</a:t>
            </a:r>
            <a:endParaRPr lang="en-US" sz="1200" dirty="0"/>
          </a:p>
        </p:txBody>
      </p:sp>
      <p:sp>
        <p:nvSpPr>
          <p:cNvPr id="60" name="Text 31"/>
          <p:cNvSpPr/>
          <p:nvPr/>
        </p:nvSpPr>
        <p:spPr>
          <a:xfrm>
            <a:off x="6496050" y="6829425"/>
            <a:ext cx="54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lscpu</a:t>
            </a:r>
            <a:endParaRPr lang="en-US" sz="1200" dirty="0"/>
          </a:p>
        </p:txBody>
      </p:sp>
      <p:sp>
        <p:nvSpPr>
          <p:cNvPr id="61" name="Text 32"/>
          <p:cNvSpPr/>
          <p:nvPr/>
        </p:nvSpPr>
        <p:spPr>
          <a:xfrm>
            <a:off x="6477000" y="73152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Display CPU architecture</a:t>
            </a:r>
            <a:endParaRPr lang="en-US" sz="1200" dirty="0"/>
          </a:p>
        </p:txBody>
      </p:sp>
      <p:sp>
        <p:nvSpPr>
          <p:cNvPr id="62" name="Text 33"/>
          <p:cNvSpPr/>
          <p:nvPr/>
        </p:nvSpPr>
        <p:spPr>
          <a:xfrm>
            <a:off x="6496050" y="7781925"/>
            <a:ext cx="7683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CAF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-h</a:t>
            </a:r>
            <a:endParaRPr lang="en-US" sz="1200" dirty="0"/>
          </a:p>
        </p:txBody>
      </p:sp>
      <p:sp>
        <p:nvSpPr>
          <p:cNvPr id="63" name="Text 34"/>
          <p:cNvSpPr/>
          <p:nvPr/>
        </p:nvSpPr>
        <p:spPr>
          <a:xfrm>
            <a:off x="6477000" y="8267700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 memory usage</a:t>
            </a:r>
            <a:endParaRPr lang="en-US" sz="1200" dirty="0"/>
          </a:p>
        </p:txBody>
      </p:sp>
      <p:sp>
        <p:nvSpPr>
          <p:cNvPr id="64" name="Text 35"/>
          <p:cNvSpPr/>
          <p:nvPr/>
        </p:nvSpPr>
        <p:spPr>
          <a:xfrm>
            <a:off x="457200" y="91059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056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0" y="190500"/>
            <a:ext cx="38100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6200" y="190500"/>
            <a:ext cx="381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96700" y="190500"/>
            <a:ext cx="381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1066800"/>
            <a:ext cx="3708350" cy="54197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0301" y="1295400"/>
            <a:ext cx="457200" cy="542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4601" y="14097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2409825"/>
            <a:ext cx="325115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3133725"/>
            <a:ext cx="3251150" cy="2781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2701" y="33051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3781425"/>
            <a:ext cx="1435001" cy="4762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6150" y="3876675"/>
            <a:ext cx="114300" cy="114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7001" y="3781425"/>
            <a:ext cx="14351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7826" y="3876675"/>
            <a:ext cx="13335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333875"/>
            <a:ext cx="1435001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36625" y="4429125"/>
            <a:ext cx="133350" cy="114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97001" y="4333875"/>
            <a:ext cx="1435150" cy="4762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857351" y="4429125"/>
            <a:ext cx="114300" cy="1143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41750" y="1066800"/>
            <a:ext cx="3708350" cy="54197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852964" y="1295400"/>
            <a:ext cx="485775" cy="5429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67264" y="1409700"/>
            <a:ext cx="257175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70350" y="2409825"/>
            <a:ext cx="3251150" cy="762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70350" y="3324225"/>
            <a:ext cx="3251150" cy="12382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19651" y="3495675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22750" y="3933825"/>
            <a:ext cx="931218" cy="4762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31135" y="4029075"/>
            <a:ext cx="114300" cy="1143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630168" y="3933825"/>
            <a:ext cx="931366" cy="4762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29176" y="4029075"/>
            <a:ext cx="133350" cy="1143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37734" y="3933825"/>
            <a:ext cx="931218" cy="47625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046119" y="4029075"/>
            <a:ext cx="114300" cy="1143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470350" y="4676775"/>
            <a:ext cx="3251150" cy="123825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29176" y="4848225"/>
            <a:ext cx="13335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622750" y="5286375"/>
            <a:ext cx="1435001" cy="47625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73576" y="5381625"/>
            <a:ext cx="133350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33951" y="5286375"/>
            <a:ext cx="1435150" cy="47625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94302" y="5381625"/>
            <a:ext cx="114300" cy="1143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178701" y="1066800"/>
            <a:ext cx="3708499" cy="5419725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804350" y="1295400"/>
            <a:ext cx="457200" cy="542925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18650" y="1409700"/>
            <a:ext cx="228600" cy="3048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407301" y="2409825"/>
            <a:ext cx="3251299" cy="762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07301" y="3400425"/>
            <a:ext cx="3251299" cy="116205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956750" y="3533775"/>
            <a:ext cx="1524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1601" y="3971925"/>
            <a:ext cx="1473250" cy="47625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1001" y="4067175"/>
            <a:ext cx="114300" cy="1143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071050" y="3971925"/>
            <a:ext cx="1473250" cy="47625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750451" y="4067175"/>
            <a:ext cx="114300" cy="1143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407301" y="4676775"/>
            <a:ext cx="3251299" cy="116205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966275" y="4810125"/>
            <a:ext cx="133350" cy="1524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521601" y="5248275"/>
            <a:ext cx="1473250" cy="47625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91476" y="5343525"/>
            <a:ext cx="133350" cy="1143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071050" y="5248275"/>
            <a:ext cx="1473250" cy="47625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750451" y="5343525"/>
            <a:ext cx="114300" cy="114300"/>
          </a:xfrm>
          <a:prstGeom prst="rect">
            <a:avLst/>
          </a:prstGeom>
        </p:spPr>
      </p:pic>
      <p:sp>
        <p:nvSpPr>
          <p:cNvPr id="57" name="Text 1"/>
          <p:cNvSpPr/>
          <p:nvPr/>
        </p:nvSpPr>
        <p:spPr>
          <a:xfrm>
            <a:off x="208285" y="1990725"/>
            <a:ext cx="39013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Monolithic Kernel</a:t>
            </a:r>
            <a:endParaRPr lang="en-US" sz="1500" dirty="0"/>
          </a:p>
        </p:txBody>
      </p:sp>
      <p:sp>
        <p:nvSpPr>
          <p:cNvPr id="58" name="Text 2"/>
          <p:cNvSpPr/>
          <p:nvPr/>
        </p:nvSpPr>
        <p:spPr>
          <a:xfrm>
            <a:off x="685800" y="2562225"/>
            <a:ext cx="35356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 OS services run in kernel space.</a:t>
            </a:r>
            <a:endParaRPr lang="en-US" sz="1400" dirty="0"/>
          </a:p>
        </p:txBody>
      </p:sp>
      <p:sp>
        <p:nvSpPr>
          <p:cNvPr id="59" name="Text 3"/>
          <p:cNvSpPr/>
          <p:nvPr/>
        </p:nvSpPr>
        <p:spPr>
          <a:xfrm>
            <a:off x="685800" y="3514725"/>
            <a:ext cx="294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Space</a:t>
            </a:r>
            <a:endParaRPr lang="en-US" sz="1100" dirty="0"/>
          </a:p>
        </p:txBody>
      </p:sp>
      <p:sp>
        <p:nvSpPr>
          <p:cNvPr id="60" name="Text 4"/>
          <p:cNvSpPr/>
          <p:nvPr/>
        </p:nvSpPr>
        <p:spPr>
          <a:xfrm>
            <a:off x="633740" y="4029075"/>
            <a:ext cx="1539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Management</a:t>
            </a:r>
            <a:endParaRPr lang="en-US" sz="1100" dirty="0"/>
          </a:p>
        </p:txBody>
      </p:sp>
      <p:sp>
        <p:nvSpPr>
          <p:cNvPr id="61" name="Text 5"/>
          <p:cNvSpPr/>
          <p:nvPr/>
        </p:nvSpPr>
        <p:spPr>
          <a:xfrm>
            <a:off x="2144926" y="4029075"/>
            <a:ext cx="1539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r>
              <a:rPr lang="en-US" sz="9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Management</a:t>
            </a:r>
            <a:endParaRPr lang="en-US" sz="1100" dirty="0"/>
          </a:p>
        </p:txBody>
      </p:sp>
      <p:sp>
        <p:nvSpPr>
          <p:cNvPr id="62" name="Text 6"/>
          <p:cNvSpPr/>
          <p:nvPr/>
        </p:nvSpPr>
        <p:spPr>
          <a:xfrm>
            <a:off x="633740" y="4581525"/>
            <a:ext cx="1539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System</a:t>
            </a:r>
            <a:endParaRPr lang="en-US" sz="1100" dirty="0"/>
          </a:p>
        </p:txBody>
      </p:sp>
      <p:sp>
        <p:nvSpPr>
          <p:cNvPr id="63" name="Text 7"/>
          <p:cNvSpPr/>
          <p:nvPr/>
        </p:nvSpPr>
        <p:spPr>
          <a:xfrm>
            <a:off x="2144926" y="4581525"/>
            <a:ext cx="1539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Device Drivers</a:t>
            </a:r>
            <a:endParaRPr lang="en-US" sz="1100" dirty="0"/>
          </a:p>
        </p:txBody>
      </p:sp>
      <p:sp>
        <p:nvSpPr>
          <p:cNvPr id="64" name="Text 8"/>
          <p:cNvSpPr/>
          <p:nvPr/>
        </p:nvSpPr>
        <p:spPr>
          <a:xfrm>
            <a:off x="533400" y="6067425"/>
            <a:ext cx="3901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</a:t>
            </a: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Linux, BSD, MS-DOS</a:t>
            </a:r>
            <a:endParaRPr lang="en-US" sz="1100" dirty="0"/>
          </a:p>
        </p:txBody>
      </p:sp>
      <p:sp>
        <p:nvSpPr>
          <p:cNvPr id="65" name="Text 9"/>
          <p:cNvSpPr/>
          <p:nvPr/>
        </p:nvSpPr>
        <p:spPr>
          <a:xfrm>
            <a:off x="4470350" y="1990725"/>
            <a:ext cx="325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Microkernel</a:t>
            </a:r>
            <a:endParaRPr lang="en-US" sz="1500" dirty="0"/>
          </a:p>
        </p:txBody>
      </p:sp>
      <p:sp>
        <p:nvSpPr>
          <p:cNvPr id="66" name="Text 10"/>
          <p:cNvSpPr/>
          <p:nvPr/>
        </p:nvSpPr>
        <p:spPr>
          <a:xfrm>
            <a:off x="4622750" y="2562225"/>
            <a:ext cx="2946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Core services in kernel, others in user space.</a:t>
            </a:r>
            <a:endParaRPr lang="en-US" sz="1400" dirty="0"/>
          </a:p>
        </p:txBody>
      </p:sp>
      <p:sp>
        <p:nvSpPr>
          <p:cNvPr id="67" name="Text 11"/>
          <p:cNvSpPr/>
          <p:nvPr/>
        </p:nvSpPr>
        <p:spPr>
          <a:xfrm>
            <a:off x="4622750" y="3705225"/>
            <a:ext cx="294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Space</a:t>
            </a:r>
            <a:endParaRPr lang="en-US" sz="1100" dirty="0"/>
          </a:p>
        </p:txBody>
      </p:sp>
      <p:sp>
        <p:nvSpPr>
          <p:cNvPr id="68" name="Text 12"/>
          <p:cNvSpPr/>
          <p:nvPr/>
        </p:nvSpPr>
        <p:spPr>
          <a:xfrm>
            <a:off x="4698950" y="4181475"/>
            <a:ext cx="7788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IPC</a:t>
            </a:r>
            <a:endParaRPr lang="en-US" sz="1100" dirty="0"/>
          </a:p>
        </p:txBody>
      </p:sp>
      <p:sp>
        <p:nvSpPr>
          <p:cNvPr id="69" name="Text 13"/>
          <p:cNvSpPr/>
          <p:nvPr/>
        </p:nvSpPr>
        <p:spPr>
          <a:xfrm>
            <a:off x="5628471" y="4181475"/>
            <a:ext cx="9347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endParaRPr lang="en-US" sz="1100" dirty="0"/>
          </a:p>
        </p:txBody>
      </p:sp>
      <p:sp>
        <p:nvSpPr>
          <p:cNvPr id="70" name="Text 14"/>
          <p:cNvSpPr/>
          <p:nvPr/>
        </p:nvSpPr>
        <p:spPr>
          <a:xfrm>
            <a:off x="6636053" y="4181475"/>
            <a:ext cx="9345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71" name="Text 15"/>
          <p:cNvSpPr/>
          <p:nvPr/>
        </p:nvSpPr>
        <p:spPr>
          <a:xfrm>
            <a:off x="4622750" y="5057775"/>
            <a:ext cx="29463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Space</a:t>
            </a:r>
            <a:endParaRPr lang="en-US" sz="1100" dirty="0"/>
          </a:p>
        </p:txBody>
      </p:sp>
      <p:sp>
        <p:nvSpPr>
          <p:cNvPr id="72" name="Text 16"/>
          <p:cNvSpPr/>
          <p:nvPr/>
        </p:nvSpPr>
        <p:spPr>
          <a:xfrm>
            <a:off x="4570690" y="5534025"/>
            <a:ext cx="1539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System</a:t>
            </a:r>
            <a:endParaRPr lang="en-US" sz="1100" dirty="0"/>
          </a:p>
        </p:txBody>
      </p:sp>
      <p:sp>
        <p:nvSpPr>
          <p:cNvPr id="73" name="Text 17"/>
          <p:cNvSpPr/>
          <p:nvPr/>
        </p:nvSpPr>
        <p:spPr>
          <a:xfrm>
            <a:off x="6081876" y="5534025"/>
            <a:ext cx="1539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Device Drivers</a:t>
            </a:r>
            <a:endParaRPr lang="en-US" sz="1100" dirty="0"/>
          </a:p>
        </p:txBody>
      </p:sp>
      <p:sp>
        <p:nvSpPr>
          <p:cNvPr id="74" name="Text 18"/>
          <p:cNvSpPr/>
          <p:nvPr/>
        </p:nvSpPr>
        <p:spPr>
          <a:xfrm>
            <a:off x="4470350" y="6067425"/>
            <a:ext cx="39013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</a:t>
            </a: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Minix, QNX, Hurd</a:t>
            </a:r>
            <a:endParaRPr lang="en-US" sz="1100" dirty="0"/>
          </a:p>
        </p:txBody>
      </p:sp>
      <p:sp>
        <p:nvSpPr>
          <p:cNvPr id="75" name="Text 19"/>
          <p:cNvSpPr/>
          <p:nvPr/>
        </p:nvSpPr>
        <p:spPr>
          <a:xfrm>
            <a:off x="8407301" y="1990725"/>
            <a:ext cx="3251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Kernel</a:t>
            </a:r>
            <a:endParaRPr lang="en-US" sz="1500" dirty="0"/>
          </a:p>
        </p:txBody>
      </p:sp>
      <p:sp>
        <p:nvSpPr>
          <p:cNvPr id="76" name="Text 20"/>
          <p:cNvSpPr/>
          <p:nvPr/>
        </p:nvSpPr>
        <p:spPr>
          <a:xfrm>
            <a:off x="8559701" y="2562225"/>
            <a:ext cx="29464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Definition:</a:t>
            </a:r>
            <a:r>
              <a:rPr lang="en-US" sz="14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Mix of monolithic and microkernel approaches.</a:t>
            </a:r>
            <a:endParaRPr lang="en-US" sz="1400" dirty="0"/>
          </a:p>
        </p:txBody>
      </p:sp>
      <p:sp>
        <p:nvSpPr>
          <p:cNvPr id="77" name="Text 21"/>
          <p:cNvSpPr/>
          <p:nvPr/>
        </p:nvSpPr>
        <p:spPr>
          <a:xfrm>
            <a:off x="8521601" y="3743325"/>
            <a:ext cx="3022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Kernel Space</a:t>
            </a:r>
            <a:endParaRPr lang="en-US" sz="1100" dirty="0"/>
          </a:p>
        </p:txBody>
      </p:sp>
      <p:sp>
        <p:nvSpPr>
          <p:cNvPr id="78" name="Text 22"/>
          <p:cNvSpPr/>
          <p:nvPr/>
        </p:nvSpPr>
        <p:spPr>
          <a:xfrm>
            <a:off x="8465716" y="4219575"/>
            <a:ext cx="1585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Services</a:t>
            </a:r>
            <a:endParaRPr lang="en-US" sz="1100" dirty="0"/>
          </a:p>
        </p:txBody>
      </p:sp>
      <p:sp>
        <p:nvSpPr>
          <p:cNvPr id="79" name="Text 23"/>
          <p:cNvSpPr/>
          <p:nvPr/>
        </p:nvSpPr>
        <p:spPr>
          <a:xfrm>
            <a:off x="10015165" y="4219575"/>
            <a:ext cx="1585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Performance-Critical</a:t>
            </a:r>
            <a:endParaRPr lang="en-US" sz="1100" dirty="0"/>
          </a:p>
        </p:txBody>
      </p:sp>
      <p:sp>
        <p:nvSpPr>
          <p:cNvPr id="80" name="Text 24"/>
          <p:cNvSpPr/>
          <p:nvPr/>
        </p:nvSpPr>
        <p:spPr>
          <a:xfrm>
            <a:off x="8521601" y="5019675"/>
            <a:ext cx="30226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Space</a:t>
            </a:r>
            <a:endParaRPr lang="en-US" sz="1100" dirty="0"/>
          </a:p>
        </p:txBody>
      </p:sp>
      <p:sp>
        <p:nvSpPr>
          <p:cNvPr id="81" name="Text 25"/>
          <p:cNvSpPr/>
          <p:nvPr/>
        </p:nvSpPr>
        <p:spPr>
          <a:xfrm>
            <a:off x="8465716" y="5495925"/>
            <a:ext cx="1585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System</a:t>
            </a:r>
            <a:endParaRPr lang="en-US" sz="1100" dirty="0"/>
          </a:p>
        </p:txBody>
      </p:sp>
      <p:sp>
        <p:nvSpPr>
          <p:cNvPr id="82" name="Text 26"/>
          <p:cNvSpPr/>
          <p:nvPr/>
        </p:nvSpPr>
        <p:spPr>
          <a:xfrm>
            <a:off x="10015165" y="5495925"/>
            <a:ext cx="15850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Non-Critical</a:t>
            </a:r>
            <a:endParaRPr lang="en-US" sz="1100" dirty="0"/>
          </a:p>
        </p:txBody>
      </p:sp>
      <p:sp>
        <p:nvSpPr>
          <p:cNvPr id="83" name="Text 27"/>
          <p:cNvSpPr/>
          <p:nvPr/>
        </p:nvSpPr>
        <p:spPr>
          <a:xfrm>
            <a:off x="8407301" y="6067425"/>
            <a:ext cx="39015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Examples:</a:t>
            </a:r>
            <a:r>
              <a:rPr lang="en-US" sz="1100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Windows NT, macOS</a:t>
            </a:r>
            <a:endParaRPr lang="en-US" sz="1100" dirty="0"/>
          </a:p>
        </p:txBody>
      </p:sp>
      <p:pic>
        <p:nvPicPr>
          <p:cNvPr id="88" name="Image 1" descr="preencoded.png">
            <a:extLst>
              <a:ext uri="{FF2B5EF4-FFF2-40B4-BE49-F238E27FC236}">
                <a16:creationId xmlns:a16="http://schemas.microsoft.com/office/drawing/2014/main" id="{959B9E8C-5130-F449-2299-09D5EACE3126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sp>
        <p:nvSpPr>
          <p:cNvPr id="90" name="Text 0">
            <a:extLst>
              <a:ext uri="{FF2B5EF4-FFF2-40B4-BE49-F238E27FC236}">
                <a16:creationId xmlns:a16="http://schemas.microsoft.com/office/drawing/2014/main" id="{4B7BC2A0-C889-D1B7-4221-90DC38CCA23C}"/>
              </a:ext>
            </a:extLst>
          </p:cNvPr>
          <p:cNvSpPr/>
          <p:nvPr/>
        </p:nvSpPr>
        <p:spPr>
          <a:xfrm>
            <a:off x="381000" y="280988"/>
            <a:ext cx="3951208" cy="1009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 Kernel Architectures</a:t>
            </a:r>
            <a:endParaRPr lang="en-US" sz="2250" dirty="0"/>
          </a:p>
        </p:txBody>
      </p:sp>
      <p:sp>
        <p:nvSpPr>
          <p:cNvPr id="91" name="Text 1">
            <a:extLst>
              <a:ext uri="{FF2B5EF4-FFF2-40B4-BE49-F238E27FC236}">
                <a16:creationId xmlns:a16="http://schemas.microsoft.com/office/drawing/2014/main" id="{17099750-2C0E-C838-35CE-00E4D5B7B860}"/>
              </a:ext>
            </a:extLst>
          </p:cNvPr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pic>
        <p:nvPicPr>
          <p:cNvPr id="94" name="Image 32" descr="preencoded.png">
            <a:extLst>
              <a:ext uri="{FF2B5EF4-FFF2-40B4-BE49-F238E27FC236}">
                <a16:creationId xmlns:a16="http://schemas.microsoft.com/office/drawing/2014/main" id="{8FADB1EB-2286-DE29-E2FF-4A6412ACD3E6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sp>
        <p:nvSpPr>
          <p:cNvPr id="95" name="Text 24">
            <a:extLst>
              <a:ext uri="{FF2B5EF4-FFF2-40B4-BE49-F238E27FC236}">
                <a16:creationId xmlns:a16="http://schemas.microsoft.com/office/drawing/2014/main" id="{3C3C3D07-3029-FC29-242D-FB1E41611290}"/>
              </a:ext>
            </a:extLst>
          </p:cNvPr>
          <p:cNvSpPr/>
          <p:nvPr/>
        </p:nvSpPr>
        <p:spPr>
          <a:xfrm>
            <a:off x="457200" y="65151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771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52600"/>
            <a:ext cx="11277600" cy="38957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905000"/>
            <a:ext cx="1097280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905000"/>
            <a:ext cx="1995041" cy="800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4641" y="1905000"/>
            <a:ext cx="2992487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7516" y="201930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8966" y="215265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7128" y="1905000"/>
            <a:ext cx="2992487" cy="800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0003" y="20193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7166" y="21526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9615" y="1905000"/>
            <a:ext cx="2992785" cy="800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2490" y="20193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03940" y="2152650"/>
            <a:ext cx="2286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2705100"/>
            <a:ext cx="1995041" cy="685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4641" y="2705100"/>
            <a:ext cx="2992487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28" y="2705100"/>
            <a:ext cx="2992487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9615" y="2705100"/>
            <a:ext cx="2992785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390900"/>
            <a:ext cx="1995041" cy="685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4641" y="3390900"/>
            <a:ext cx="2992487" cy="685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28" y="3390900"/>
            <a:ext cx="2992487" cy="685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9615" y="3390900"/>
            <a:ext cx="2992785" cy="685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076700"/>
            <a:ext cx="1995041" cy="685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4641" y="4076700"/>
            <a:ext cx="2992487" cy="6858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28" y="4076700"/>
            <a:ext cx="2992487" cy="685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9615" y="4076700"/>
            <a:ext cx="2992785" cy="685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4762500"/>
            <a:ext cx="1995041" cy="685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04641" y="4762500"/>
            <a:ext cx="2992487" cy="685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97128" y="4762500"/>
            <a:ext cx="2992487" cy="685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89615" y="4762500"/>
            <a:ext cx="2992785" cy="6858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7013" y="5876925"/>
            <a:ext cx="60960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27513" y="6029325"/>
            <a:ext cx="22860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877223" y="5876925"/>
            <a:ext cx="609600" cy="6096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53435" y="6029325"/>
            <a:ext cx="257175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31410" y="5876925"/>
            <a:ext cx="609600" cy="6096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910" y="6029325"/>
            <a:ext cx="228600" cy="3048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7019925"/>
            <a:ext cx="12192000" cy="457200"/>
          </a:xfrm>
          <a:prstGeom prst="rect">
            <a:avLst/>
          </a:prstGeom>
        </p:spPr>
      </p:pic>
      <p:sp>
        <p:nvSpPr>
          <p:cNvPr id="39" name="Text 0"/>
          <p:cNvSpPr/>
          <p:nvPr/>
        </p:nvSpPr>
        <p:spPr>
          <a:xfrm>
            <a:off x="457200" y="228600"/>
            <a:ext cx="59621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Comparing Kernel Models</a:t>
            </a:r>
            <a:endParaRPr lang="en-US" sz="2700" dirty="0"/>
          </a:p>
        </p:txBody>
      </p:sp>
      <p:sp>
        <p:nvSpPr>
          <p:cNvPr id="40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41" name="Text 2"/>
          <p:cNvSpPr/>
          <p:nvPr/>
        </p:nvSpPr>
        <p:spPr>
          <a:xfrm>
            <a:off x="457200" y="10668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Different kernel models represent varying approaches to structuring the operating system's core functionalities, each with distinct advantages and disadvantages.</a:t>
            </a:r>
            <a:endParaRPr lang="en-US" sz="1500" dirty="0"/>
          </a:p>
        </p:txBody>
      </p:sp>
      <p:sp>
        <p:nvSpPr>
          <p:cNvPr id="42" name="Text 3"/>
          <p:cNvSpPr/>
          <p:nvPr/>
        </p:nvSpPr>
        <p:spPr>
          <a:xfrm>
            <a:off x="752475" y="1905000"/>
            <a:ext cx="1995041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</a:t>
            </a:r>
            <a:endParaRPr lang="en-US" sz="1500" dirty="0"/>
          </a:p>
        </p:txBody>
      </p:sp>
      <p:sp>
        <p:nvSpPr>
          <p:cNvPr id="43" name="Text 4"/>
          <p:cNvSpPr/>
          <p:nvPr/>
        </p:nvSpPr>
        <p:spPr>
          <a:xfrm>
            <a:off x="3433316" y="2171700"/>
            <a:ext cx="22636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Monolithic Kernel</a:t>
            </a:r>
            <a:endParaRPr lang="en-US" sz="1500" dirty="0"/>
          </a:p>
        </p:txBody>
      </p:sp>
      <p:sp>
        <p:nvSpPr>
          <p:cNvPr id="44" name="Text 5"/>
          <p:cNvSpPr/>
          <p:nvPr/>
        </p:nvSpPr>
        <p:spPr>
          <a:xfrm>
            <a:off x="6425803" y="2171700"/>
            <a:ext cx="15210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Microkernel</a:t>
            </a:r>
            <a:endParaRPr lang="en-US" sz="1500" dirty="0"/>
          </a:p>
        </p:txBody>
      </p:sp>
      <p:sp>
        <p:nvSpPr>
          <p:cNvPr id="45" name="Text 6"/>
          <p:cNvSpPr/>
          <p:nvPr/>
        </p:nvSpPr>
        <p:spPr>
          <a:xfrm>
            <a:off x="9418290" y="2171700"/>
            <a:ext cx="177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Hybrid Kernel</a:t>
            </a:r>
            <a:endParaRPr lang="en-US" sz="1500" dirty="0"/>
          </a:p>
        </p:txBody>
      </p:sp>
      <p:sp>
        <p:nvSpPr>
          <p:cNvPr id="46" name="Text 7"/>
          <p:cNvSpPr/>
          <p:nvPr/>
        </p:nvSpPr>
        <p:spPr>
          <a:xfrm>
            <a:off x="752475" y="2705100"/>
            <a:ext cx="1995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47" name="Text 8"/>
          <p:cNvSpPr/>
          <p:nvPr/>
        </p:nvSpPr>
        <p:spPr>
          <a:xfrm>
            <a:off x="2747516" y="2705100"/>
            <a:ext cx="3590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 OS services run in kernel space</a:t>
            </a:r>
            <a:endParaRPr lang="en-US" sz="1200" dirty="0"/>
          </a:p>
        </p:txBody>
      </p:sp>
      <p:sp>
        <p:nvSpPr>
          <p:cNvPr id="48" name="Text 9"/>
          <p:cNvSpPr/>
          <p:nvPr/>
        </p:nvSpPr>
        <p:spPr>
          <a:xfrm>
            <a:off x="5740003" y="27051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services in kernel, others in user space</a:t>
            </a:r>
            <a:endParaRPr lang="en-US" sz="1200" dirty="0"/>
          </a:p>
        </p:txBody>
      </p:sp>
      <p:sp>
        <p:nvSpPr>
          <p:cNvPr id="49" name="Text 10"/>
          <p:cNvSpPr/>
          <p:nvPr/>
        </p:nvSpPr>
        <p:spPr>
          <a:xfrm>
            <a:off x="8732490" y="2705100"/>
            <a:ext cx="29927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Mix of monolithic and microkernel approaches</a:t>
            </a:r>
            <a:endParaRPr lang="en-US" sz="1200" dirty="0"/>
          </a:p>
        </p:txBody>
      </p:sp>
      <p:sp>
        <p:nvSpPr>
          <p:cNvPr id="50" name="Text 11"/>
          <p:cNvSpPr/>
          <p:nvPr/>
        </p:nvSpPr>
        <p:spPr>
          <a:xfrm>
            <a:off x="752475" y="3390900"/>
            <a:ext cx="2394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51" name="Text 12"/>
          <p:cNvSpPr/>
          <p:nvPr/>
        </p:nvSpPr>
        <p:spPr>
          <a:xfrm>
            <a:off x="2747516" y="33909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performance, direct hardware access</a:t>
            </a:r>
            <a:endParaRPr lang="en-US" sz="1200" dirty="0"/>
          </a:p>
        </p:txBody>
      </p:sp>
      <p:sp>
        <p:nvSpPr>
          <p:cNvPr id="52" name="Text 13"/>
          <p:cNvSpPr/>
          <p:nvPr/>
        </p:nvSpPr>
        <p:spPr>
          <a:xfrm>
            <a:off x="5740003" y="33909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Performance overhead due to inter-process communication</a:t>
            </a:r>
            <a:endParaRPr lang="en-US" sz="1200" dirty="0"/>
          </a:p>
        </p:txBody>
      </p:sp>
      <p:sp>
        <p:nvSpPr>
          <p:cNvPr id="53" name="Text 14"/>
          <p:cNvSpPr/>
          <p:nvPr/>
        </p:nvSpPr>
        <p:spPr>
          <a:xfrm>
            <a:off x="8732490" y="3390900"/>
            <a:ext cx="29927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 performance, improved modularity and security</a:t>
            </a:r>
            <a:endParaRPr lang="en-US" sz="1200" dirty="0"/>
          </a:p>
        </p:txBody>
      </p:sp>
      <p:sp>
        <p:nvSpPr>
          <p:cNvPr id="54" name="Text 15"/>
          <p:cNvSpPr/>
          <p:nvPr/>
        </p:nvSpPr>
        <p:spPr>
          <a:xfrm>
            <a:off x="752475" y="4076700"/>
            <a:ext cx="1995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5" name="Text 16"/>
          <p:cNvSpPr/>
          <p:nvPr/>
        </p:nvSpPr>
        <p:spPr>
          <a:xfrm>
            <a:off x="2747516" y="40767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GB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Larger trusted code base / potential attack surface (more services run in kernel space); security depends on implementation.</a:t>
            </a:r>
            <a:endParaRPr lang="en-US" sz="1200" dirty="0"/>
          </a:p>
        </p:txBody>
      </p:sp>
      <p:sp>
        <p:nvSpPr>
          <p:cNvPr id="56" name="Text 17"/>
          <p:cNvSpPr/>
          <p:nvPr/>
        </p:nvSpPr>
        <p:spPr>
          <a:xfrm>
            <a:off x="5740003" y="40767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security, greater stability, easier debugging</a:t>
            </a:r>
            <a:endParaRPr lang="en-US" sz="1200" dirty="0"/>
          </a:p>
        </p:txBody>
      </p:sp>
      <p:sp>
        <p:nvSpPr>
          <p:cNvPr id="57" name="Text 18"/>
          <p:cNvSpPr/>
          <p:nvPr/>
        </p:nvSpPr>
        <p:spPr>
          <a:xfrm>
            <a:off x="8732490" y="4076700"/>
            <a:ext cx="29927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Can inherit complexity from both models</a:t>
            </a:r>
            <a:endParaRPr lang="en-US" sz="1200" dirty="0"/>
          </a:p>
        </p:txBody>
      </p:sp>
      <p:sp>
        <p:nvSpPr>
          <p:cNvPr id="58" name="Text 19"/>
          <p:cNvSpPr/>
          <p:nvPr/>
        </p:nvSpPr>
        <p:spPr>
          <a:xfrm>
            <a:off x="752475" y="4762500"/>
            <a:ext cx="19950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</a:t>
            </a:r>
            <a:endParaRPr lang="en-US" sz="1200" dirty="0"/>
          </a:p>
        </p:txBody>
      </p:sp>
      <p:sp>
        <p:nvSpPr>
          <p:cNvPr id="59" name="Text 20"/>
          <p:cNvSpPr/>
          <p:nvPr/>
        </p:nvSpPr>
        <p:spPr>
          <a:xfrm>
            <a:off x="2747516" y="4762500"/>
            <a:ext cx="35909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Linux, BSD, MS-DOS</a:t>
            </a:r>
            <a:endParaRPr lang="en-US" sz="1200" dirty="0"/>
          </a:p>
        </p:txBody>
      </p:sp>
      <p:sp>
        <p:nvSpPr>
          <p:cNvPr id="60" name="Text 21"/>
          <p:cNvSpPr/>
          <p:nvPr/>
        </p:nvSpPr>
        <p:spPr>
          <a:xfrm>
            <a:off x="5740003" y="4762500"/>
            <a:ext cx="299248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Minix, QNX, Hurd</a:t>
            </a:r>
            <a:endParaRPr lang="en-US" sz="1200" dirty="0"/>
          </a:p>
        </p:txBody>
      </p:sp>
      <p:sp>
        <p:nvSpPr>
          <p:cNvPr id="61" name="Text 22"/>
          <p:cNvSpPr/>
          <p:nvPr/>
        </p:nvSpPr>
        <p:spPr>
          <a:xfrm>
            <a:off x="8732490" y="4762500"/>
            <a:ext cx="29927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Windows NT (XP, 7, 10), macOS (XNU kernel)</a:t>
            </a:r>
            <a:endParaRPr lang="en-US" sz="1200" dirty="0"/>
          </a:p>
        </p:txBody>
      </p:sp>
      <p:sp>
        <p:nvSpPr>
          <p:cNvPr id="62" name="Text 23"/>
          <p:cNvSpPr/>
          <p:nvPr/>
        </p:nvSpPr>
        <p:spPr>
          <a:xfrm>
            <a:off x="4350990" y="6562725"/>
            <a:ext cx="938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Monolithic</a:t>
            </a:r>
            <a:endParaRPr lang="en-US" sz="1200" dirty="0"/>
          </a:p>
        </p:txBody>
      </p:sp>
      <p:sp>
        <p:nvSpPr>
          <p:cNvPr id="63" name="Text 24"/>
          <p:cNvSpPr/>
          <p:nvPr/>
        </p:nvSpPr>
        <p:spPr>
          <a:xfrm>
            <a:off x="5742384" y="6562725"/>
            <a:ext cx="1055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Microkernel</a:t>
            </a:r>
            <a:endParaRPr lang="en-US" sz="1200" dirty="0"/>
          </a:p>
        </p:txBody>
      </p:sp>
      <p:sp>
        <p:nvSpPr>
          <p:cNvPr id="64" name="Text 25"/>
          <p:cNvSpPr/>
          <p:nvPr/>
        </p:nvSpPr>
        <p:spPr>
          <a:xfrm>
            <a:off x="7284541" y="6562725"/>
            <a:ext cx="6040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Hybrid</a:t>
            </a:r>
            <a:endParaRPr lang="en-US" sz="1200" dirty="0"/>
          </a:p>
        </p:txBody>
      </p:sp>
      <p:sp>
        <p:nvSpPr>
          <p:cNvPr id="65" name="Text 26"/>
          <p:cNvSpPr/>
          <p:nvPr/>
        </p:nvSpPr>
        <p:spPr>
          <a:xfrm>
            <a:off x="457200" y="7134225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9629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24000"/>
            <a:ext cx="546795" cy="381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86100"/>
            <a:ext cx="53340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23850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400" y="3695700"/>
            <a:ext cx="4889450" cy="609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000" y="3848100"/>
            <a:ext cx="20002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1750" y="4305300"/>
            <a:ext cx="4444901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0350" y="44577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3950" y="4914900"/>
            <a:ext cx="40005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2550" y="50673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46150" y="5524500"/>
            <a:ext cx="3555950" cy="609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4750" y="5676900"/>
            <a:ext cx="22860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0" y="1524000"/>
            <a:ext cx="5638800" cy="5676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1524000"/>
            <a:ext cx="546795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2819400"/>
            <a:ext cx="3048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77000" y="2924175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695700"/>
            <a:ext cx="3429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3800475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4572000"/>
            <a:ext cx="2667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676775"/>
            <a:ext cx="1143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00800" y="5524500"/>
            <a:ext cx="5334000" cy="1676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53200" y="57150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53200" y="6781800"/>
            <a:ext cx="1206847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912447" y="6781800"/>
            <a:ext cx="1060996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25843" y="6781800"/>
            <a:ext cx="1434703" cy="2667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7505700"/>
            <a:ext cx="12192000" cy="4572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228600"/>
            <a:ext cx="663520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Layered Architecture and Modularity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7092404" y="342900"/>
            <a:ext cx="46423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31" name="Text 2"/>
          <p:cNvSpPr/>
          <p:nvPr/>
        </p:nvSpPr>
        <p:spPr>
          <a:xfrm>
            <a:off x="657671" y="1563387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01    </a:t>
            </a: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Layered Architecture</a:t>
            </a:r>
            <a:endParaRPr lang="en-US" sz="1800" dirty="0"/>
          </a:p>
        </p:txBody>
      </p:sp>
      <p:sp>
        <p:nvSpPr>
          <p:cNvPr id="32" name="Text 3"/>
          <p:cNvSpPr/>
          <p:nvPr/>
        </p:nvSpPr>
        <p:spPr>
          <a:xfrm>
            <a:off x="457200" y="2057400"/>
            <a:ext cx="5334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Layered architecture organizes the OS into distinct hierarchical layers, where each layer provides services to the layer above it and requests services from the layer below.</a:t>
            </a:r>
            <a:endParaRPr lang="en-US" sz="1350" dirty="0"/>
          </a:p>
        </p:txBody>
      </p:sp>
      <p:sp>
        <p:nvSpPr>
          <p:cNvPr id="33" name="Text 4"/>
          <p:cNvSpPr/>
          <p:nvPr/>
        </p:nvSpPr>
        <p:spPr>
          <a:xfrm>
            <a:off x="1095375" y="3257550"/>
            <a:ext cx="19902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Applications</a:t>
            </a:r>
            <a:endParaRPr lang="en-US" sz="1500" dirty="0"/>
          </a:p>
        </p:txBody>
      </p:sp>
      <p:sp>
        <p:nvSpPr>
          <p:cNvPr id="34" name="Text 5"/>
          <p:cNvSpPr/>
          <p:nvPr/>
        </p:nvSpPr>
        <p:spPr>
          <a:xfrm>
            <a:off x="1260425" y="3867150"/>
            <a:ext cx="25976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Libraries &amp; API</a:t>
            </a:r>
            <a:endParaRPr lang="en-US" sz="1500" dirty="0"/>
          </a:p>
        </p:txBody>
      </p:sp>
      <p:sp>
        <p:nvSpPr>
          <p:cNvPr id="35" name="Text 6"/>
          <p:cNvSpPr/>
          <p:nvPr/>
        </p:nvSpPr>
        <p:spPr>
          <a:xfrm>
            <a:off x="1511350" y="4476750"/>
            <a:ext cx="24479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Call Interface</a:t>
            </a:r>
            <a:endParaRPr lang="en-US" sz="1500" dirty="0"/>
          </a:p>
        </p:txBody>
      </p:sp>
      <p:sp>
        <p:nvSpPr>
          <p:cNvPr id="36" name="Text 7"/>
          <p:cNvSpPr/>
          <p:nvPr/>
        </p:nvSpPr>
        <p:spPr>
          <a:xfrm>
            <a:off x="1790700" y="5086350"/>
            <a:ext cx="7183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Kernel</a:t>
            </a:r>
            <a:endParaRPr lang="en-US" sz="1500" dirty="0"/>
          </a:p>
        </p:txBody>
      </p:sp>
      <p:sp>
        <p:nvSpPr>
          <p:cNvPr id="37" name="Text 8"/>
          <p:cNvSpPr/>
          <p:nvPr/>
        </p:nvSpPr>
        <p:spPr>
          <a:xfrm>
            <a:off x="1955750" y="5695950"/>
            <a:ext cx="11037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Hardware</a:t>
            </a:r>
            <a:endParaRPr lang="en-US" sz="1500" dirty="0"/>
          </a:p>
        </p:txBody>
      </p:sp>
      <p:sp>
        <p:nvSpPr>
          <p:cNvPr id="38" name="Text 9"/>
          <p:cNvSpPr/>
          <p:nvPr/>
        </p:nvSpPr>
        <p:spPr>
          <a:xfrm>
            <a:off x="6515100" y="1524000"/>
            <a:ext cx="6400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02     </a:t>
            </a: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Modularity Principles</a:t>
            </a:r>
            <a:endParaRPr lang="en-US" sz="1800" dirty="0"/>
          </a:p>
        </p:txBody>
      </p:sp>
      <p:sp>
        <p:nvSpPr>
          <p:cNvPr id="39" name="Text 10"/>
          <p:cNvSpPr/>
          <p:nvPr/>
        </p:nvSpPr>
        <p:spPr>
          <a:xfrm>
            <a:off x="6400800" y="2057400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Modularity is a key aspect of modern OS design, allowing components to be developed and updated independently.</a:t>
            </a:r>
            <a:endParaRPr lang="en-US" sz="1350" dirty="0"/>
          </a:p>
        </p:txBody>
      </p:sp>
      <p:sp>
        <p:nvSpPr>
          <p:cNvPr id="40" name="Text 11"/>
          <p:cNvSpPr/>
          <p:nvPr/>
        </p:nvSpPr>
        <p:spPr>
          <a:xfrm>
            <a:off x="6819900" y="2819400"/>
            <a:ext cx="5897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Separation of Concerns</a:t>
            </a:r>
            <a:endParaRPr lang="en-US" sz="1500" dirty="0"/>
          </a:p>
        </p:txBody>
      </p:sp>
      <p:sp>
        <p:nvSpPr>
          <p:cNvPr id="41" name="Text 12"/>
          <p:cNvSpPr/>
          <p:nvPr/>
        </p:nvSpPr>
        <p:spPr>
          <a:xfrm>
            <a:off x="6819900" y="3086100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layer is responsible for a specific set of functionalities, promoting cleaner code and easier maintenance.</a:t>
            </a:r>
            <a:endParaRPr lang="en-US" sz="1200" dirty="0"/>
          </a:p>
        </p:txBody>
      </p:sp>
      <p:sp>
        <p:nvSpPr>
          <p:cNvPr id="42" name="Text 13"/>
          <p:cNvSpPr/>
          <p:nvPr/>
        </p:nvSpPr>
        <p:spPr>
          <a:xfrm>
            <a:off x="6858000" y="3695700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43" name="Text 14"/>
          <p:cNvSpPr/>
          <p:nvPr/>
        </p:nvSpPr>
        <p:spPr>
          <a:xfrm>
            <a:off x="6858000" y="3962400"/>
            <a:ext cx="487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Higher layers hide the complexities of lower layers, allowing for simplified interaction and reduced dependency.</a:t>
            </a:r>
            <a:endParaRPr lang="en-US" sz="1200" dirty="0"/>
          </a:p>
        </p:txBody>
      </p:sp>
      <p:sp>
        <p:nvSpPr>
          <p:cNvPr id="44" name="Text 15"/>
          <p:cNvSpPr/>
          <p:nvPr/>
        </p:nvSpPr>
        <p:spPr>
          <a:xfrm>
            <a:off x="6781800" y="4572000"/>
            <a:ext cx="594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Well-defined Interfaces</a:t>
            </a:r>
            <a:endParaRPr lang="en-US" sz="1500" dirty="0"/>
          </a:p>
        </p:txBody>
      </p:sp>
      <p:sp>
        <p:nvSpPr>
          <p:cNvPr id="45" name="Text 16"/>
          <p:cNvSpPr/>
          <p:nvPr/>
        </p:nvSpPr>
        <p:spPr>
          <a:xfrm>
            <a:off x="6781800" y="4838700"/>
            <a:ext cx="495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Clear interfaces between OS components ensure that changes in one module do not adversely affect others.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819900" y="5676900"/>
            <a:ext cx="603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Loadable Kernel Modules (LKMs)</a:t>
            </a:r>
            <a:endParaRPr lang="en-US" sz="1500" dirty="0"/>
          </a:p>
        </p:txBody>
      </p:sp>
      <p:sp>
        <p:nvSpPr>
          <p:cNvPr id="47" name="Text 18"/>
          <p:cNvSpPr/>
          <p:nvPr/>
        </p:nvSpPr>
        <p:spPr>
          <a:xfrm>
            <a:off x="6553200" y="6019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Pieces of code that can be loaded into and unloaded from the kernel at runtime, extending functionality without requiring a system reboot.</a:t>
            </a:r>
            <a:endParaRPr lang="en-US" sz="1200" dirty="0"/>
          </a:p>
        </p:txBody>
      </p:sp>
      <p:sp>
        <p:nvSpPr>
          <p:cNvPr id="48" name="Text 19"/>
          <p:cNvSpPr/>
          <p:nvPr/>
        </p:nvSpPr>
        <p:spPr>
          <a:xfrm>
            <a:off x="6667500" y="6781800"/>
            <a:ext cx="14482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Device Drivers</a:t>
            </a:r>
            <a:endParaRPr lang="en-US" sz="1050" dirty="0"/>
          </a:p>
        </p:txBody>
      </p:sp>
      <p:sp>
        <p:nvSpPr>
          <p:cNvPr id="49" name="Text 20"/>
          <p:cNvSpPr/>
          <p:nvPr/>
        </p:nvSpPr>
        <p:spPr>
          <a:xfrm>
            <a:off x="8026747" y="6781800"/>
            <a:ext cx="12731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File Systems</a:t>
            </a:r>
            <a:endParaRPr lang="en-US" sz="1050" dirty="0"/>
          </a:p>
        </p:txBody>
      </p:sp>
      <p:sp>
        <p:nvSpPr>
          <p:cNvPr id="50" name="Text 21"/>
          <p:cNvSpPr/>
          <p:nvPr/>
        </p:nvSpPr>
        <p:spPr>
          <a:xfrm>
            <a:off x="9240143" y="6781800"/>
            <a:ext cx="17216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Network Protocols</a:t>
            </a:r>
            <a:endParaRPr lang="en-US" sz="1050" dirty="0"/>
          </a:p>
        </p:txBody>
      </p:sp>
      <p:sp>
        <p:nvSpPr>
          <p:cNvPr id="51" name="Text 22"/>
          <p:cNvSpPr/>
          <p:nvPr/>
        </p:nvSpPr>
        <p:spPr>
          <a:xfrm>
            <a:off x="457200" y="76200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6400"/>
            <a:ext cx="2255490" cy="24860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496" y="186690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1996" y="2028825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5565" y="2795588"/>
            <a:ext cx="14287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2690" y="1924050"/>
            <a:ext cx="2255490" cy="19907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06986" y="2114550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9386" y="2276475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1055" y="2795588"/>
            <a:ext cx="142875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8180" y="1676400"/>
            <a:ext cx="2255490" cy="248602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2476" y="186690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546" y="2795588"/>
            <a:ext cx="142875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3671" y="1924050"/>
            <a:ext cx="2255490" cy="1990725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17966" y="2114550"/>
            <a:ext cx="666750" cy="666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8466" y="2276475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2036" y="2795588"/>
            <a:ext cx="142875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79161" y="1924050"/>
            <a:ext cx="2255490" cy="1990725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3457" y="2114550"/>
            <a:ext cx="666750" cy="6667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44907" y="2276475"/>
            <a:ext cx="323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5562600"/>
            <a:ext cx="11277600" cy="533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743575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400800"/>
            <a:ext cx="12192000" cy="457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228600"/>
            <a:ext cx="48763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Boot Process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27" name="Text 2"/>
          <p:cNvSpPr/>
          <p:nvPr/>
        </p:nvSpPr>
        <p:spPr>
          <a:xfrm>
            <a:off x="457200" y="1143000"/>
            <a:ext cx="13533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sequence of operations when a computer is powered on:</a:t>
            </a:r>
            <a:endParaRPr lang="en-US" sz="1800" dirty="0"/>
          </a:p>
        </p:txBody>
      </p:sp>
      <p:sp>
        <p:nvSpPr>
          <p:cNvPr id="28" name="Text 3"/>
          <p:cNvSpPr/>
          <p:nvPr/>
        </p:nvSpPr>
        <p:spPr>
          <a:xfrm>
            <a:off x="647700" y="2676525"/>
            <a:ext cx="18744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BIOS/UEFI POST</a:t>
            </a:r>
            <a:endParaRPr lang="en-US" sz="1500" dirty="0"/>
          </a:p>
        </p:txBody>
      </p:sp>
      <p:sp>
        <p:nvSpPr>
          <p:cNvPr id="29" name="Text 4"/>
          <p:cNvSpPr/>
          <p:nvPr/>
        </p:nvSpPr>
        <p:spPr>
          <a:xfrm>
            <a:off x="647700" y="3286125"/>
            <a:ext cx="18744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Power-On Self-Test to check hardware components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2715741" y="2924175"/>
            <a:ext cx="2249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Bootloader</a:t>
            </a:r>
            <a:endParaRPr lang="en-US" sz="1500" dirty="0"/>
          </a:p>
        </p:txBody>
      </p:sp>
      <p:sp>
        <p:nvSpPr>
          <p:cNvPr id="31" name="Text 6"/>
          <p:cNvSpPr/>
          <p:nvPr/>
        </p:nvSpPr>
        <p:spPr>
          <a:xfrm>
            <a:off x="2903190" y="3267075"/>
            <a:ext cx="187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GRUB loads kernel and initramfs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5158680" y="2676525"/>
            <a:ext cx="18744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Kernel Loading</a:t>
            </a:r>
            <a:endParaRPr lang="en-US" sz="1500" dirty="0"/>
          </a:p>
        </p:txBody>
      </p:sp>
      <p:sp>
        <p:nvSpPr>
          <p:cNvPr id="33" name="Text 8"/>
          <p:cNvSpPr/>
          <p:nvPr/>
        </p:nvSpPr>
        <p:spPr>
          <a:xfrm>
            <a:off x="5158680" y="3286125"/>
            <a:ext cx="18744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Kernel initializes hardware and mounts rootfs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7226722" y="2924175"/>
            <a:ext cx="2249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Init System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7414171" y="3267075"/>
            <a:ext cx="187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systemd or SysVinit starts services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9482212" y="2924175"/>
            <a:ext cx="22493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5. User Space</a:t>
            </a:r>
            <a:endParaRPr lang="en-US" sz="1500" dirty="0"/>
          </a:p>
        </p:txBody>
      </p:sp>
      <p:sp>
        <p:nvSpPr>
          <p:cNvPr id="37" name="Text 12"/>
          <p:cNvSpPr/>
          <p:nvPr/>
        </p:nvSpPr>
        <p:spPr>
          <a:xfrm>
            <a:off x="9669661" y="3267075"/>
            <a:ext cx="1874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Login prompt and user applications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886718" y="5715000"/>
            <a:ext cx="1316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boot process is critical for system initialization. A failure at any stage prevents the system from reaching the next one.</a:t>
            </a:r>
            <a:endParaRPr lang="en-US" sz="1200" dirty="0"/>
          </a:p>
        </p:txBody>
      </p:sp>
      <p:sp>
        <p:nvSpPr>
          <p:cNvPr id="39" name="Text 14"/>
          <p:cNvSpPr/>
          <p:nvPr/>
        </p:nvSpPr>
        <p:spPr>
          <a:xfrm>
            <a:off x="457200" y="65151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219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463" y="2381250"/>
            <a:ext cx="3657600" cy="2514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2590800"/>
            <a:ext cx="609600" cy="609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76525" y="2724150"/>
            <a:ext cx="2857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3390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36957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42291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362200"/>
            <a:ext cx="3657600" cy="2514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2590800"/>
            <a:ext cx="6096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9875" y="2724150"/>
            <a:ext cx="323850" cy="342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3909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39243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44577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81600"/>
            <a:ext cx="11277600" cy="1066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486400"/>
            <a:ext cx="398859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0442" y="5562600"/>
            <a:ext cx="257175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553200"/>
            <a:ext cx="12192000" cy="4572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457200" y="228600"/>
            <a:ext cx="649456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Kernel and GNU Relationship</a:t>
            </a:r>
            <a:endParaRPr lang="en-US" sz="2700" dirty="0"/>
          </a:p>
        </p:txBody>
      </p:sp>
      <p:sp>
        <p:nvSpPr>
          <p:cNvPr id="22" name="Text 1"/>
          <p:cNvSpPr/>
          <p:nvPr/>
        </p:nvSpPr>
        <p:spPr>
          <a:xfrm>
            <a:off x="6951762" y="342900"/>
            <a:ext cx="478303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23" name="Text 2"/>
          <p:cNvSpPr/>
          <p:nvPr/>
        </p:nvSpPr>
        <p:spPr>
          <a:xfrm>
            <a:off x="457200" y="1524000"/>
            <a:ext cx="1127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term "Linux" often refers to the entire operating system, but it's crucial to understand the distinction between the kernel and the broader GNU project.</a:t>
            </a:r>
            <a:endParaRPr lang="en-US" sz="1800" dirty="0"/>
          </a:p>
        </p:txBody>
      </p:sp>
      <p:sp>
        <p:nvSpPr>
          <p:cNvPr id="24" name="Text 3"/>
          <p:cNvSpPr/>
          <p:nvPr/>
        </p:nvSpPr>
        <p:spPr>
          <a:xfrm>
            <a:off x="3276600" y="2743200"/>
            <a:ext cx="193631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Kernel</a:t>
            </a:r>
            <a:endParaRPr lang="en-US" sz="1800" dirty="0"/>
          </a:p>
        </p:txBody>
      </p:sp>
      <p:sp>
        <p:nvSpPr>
          <p:cNvPr id="25" name="Text 4"/>
          <p:cNvSpPr/>
          <p:nvPr/>
        </p:nvSpPr>
        <p:spPr>
          <a:xfrm>
            <a:off x="2743200" y="3352800"/>
            <a:ext cx="2352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by Linus Torvalds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2743200" y="3657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component responsible for managing hardware resources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2743200" y="4191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Process scheduling, memory management, device drivers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7239000" y="2743200"/>
            <a:ext cx="18716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9333EA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GNU Project</a:t>
            </a:r>
            <a:endParaRPr lang="en-US" sz="1800" dirty="0"/>
          </a:p>
        </p:txBody>
      </p:sp>
      <p:sp>
        <p:nvSpPr>
          <p:cNvPr id="29" name="Text 8"/>
          <p:cNvSpPr/>
          <p:nvPr/>
        </p:nvSpPr>
        <p:spPr>
          <a:xfrm>
            <a:off x="6705600" y="33528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Developed comprehensive free software tools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705600" y="38862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Essential command-line utilities (bash, ls, grep, gcc)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6705600" y="4419600"/>
            <a:ext cx="27081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Libraries and system libraries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1160859" y="5334000"/>
            <a:ext cx="104215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GNU/Linux System</a:t>
            </a:r>
            <a:endParaRPr lang="en-US" sz="1800" dirty="0"/>
          </a:p>
        </p:txBody>
      </p:sp>
      <p:sp>
        <p:nvSpPr>
          <p:cNvPr id="33" name="Text 12"/>
          <p:cNvSpPr/>
          <p:nvPr/>
        </p:nvSpPr>
        <p:spPr>
          <a:xfrm>
            <a:off x="1160859" y="5638800"/>
            <a:ext cx="104215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complete operating system, accurately described as GNU/Linux, highlighting the symbiotic relationship between the kernel and the GNU userland tools.</a:t>
            </a:r>
            <a:endParaRPr lang="en-US" sz="1200" dirty="0"/>
          </a:p>
        </p:txBody>
      </p:sp>
      <p:sp>
        <p:nvSpPr>
          <p:cNvPr id="34" name="Text 13"/>
          <p:cNvSpPr/>
          <p:nvPr/>
        </p:nvSpPr>
        <p:spPr>
          <a:xfrm>
            <a:off x="457200" y="66675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294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43000"/>
            <a:ext cx="5524500" cy="25479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33350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8" y="1466850"/>
            <a:ext cx="20002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9438" y="3162300"/>
            <a:ext cx="2166938" cy="3381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143000"/>
            <a:ext cx="5524500" cy="25479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33350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2538" y="3162300"/>
            <a:ext cx="2166938" cy="33813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919537"/>
            <a:ext cx="5524500" cy="254793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4110038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863" y="4243388"/>
            <a:ext cx="257175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49438" y="5938838"/>
            <a:ext cx="2017812" cy="33813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3919537"/>
            <a:ext cx="5524500" cy="254793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4110038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4243388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2538" y="5938838"/>
            <a:ext cx="2390626" cy="33813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772275"/>
            <a:ext cx="12192000" cy="4572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228600"/>
            <a:ext cx="62207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Distribution Families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371600" y="1466850"/>
            <a:ext cx="21892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Debian Family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647700" y="20193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Known for stability and free software principles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647700" y="2381250"/>
            <a:ext cx="1056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647700" y="25908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Ubuntu (popular for desktops)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647700" y="28194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Mint (Ubuntu-based)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47700" y="3219450"/>
            <a:ext cx="2343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Management: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2763738" y="3162300"/>
            <a:ext cx="260032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install &lt;package&gt;</a:t>
            </a:r>
            <a:endParaRPr lang="en-US" sz="975" dirty="0"/>
          </a:p>
        </p:txBody>
      </p:sp>
      <p:sp>
        <p:nvSpPr>
          <p:cNvPr id="29" name="Text 9"/>
          <p:cNvSpPr/>
          <p:nvPr/>
        </p:nvSpPr>
        <p:spPr>
          <a:xfrm>
            <a:off x="7124700" y="1466850"/>
            <a:ext cx="23397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 Hat Family</a:t>
            </a:r>
            <a:endParaRPr lang="en-US" sz="1800" dirty="0"/>
          </a:p>
        </p:txBody>
      </p:sp>
      <p:sp>
        <p:nvSpPr>
          <p:cNvPr id="30" name="Text 10"/>
          <p:cNvSpPr/>
          <p:nvPr/>
        </p:nvSpPr>
        <p:spPr>
          <a:xfrm>
            <a:off x="6400800" y="20193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 focus with commercial support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400800" y="2381250"/>
            <a:ext cx="1056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2" name="Text 12"/>
          <p:cNvSpPr/>
          <p:nvPr/>
        </p:nvSpPr>
        <p:spPr>
          <a:xfrm>
            <a:off x="6400800" y="25908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 Hat Enterprise Linux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6400800" y="28194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Fedora (community-driven)</a:t>
            </a:r>
            <a:endParaRPr lang="en-US" sz="1200" dirty="0"/>
          </a:p>
        </p:txBody>
      </p:sp>
      <p:sp>
        <p:nvSpPr>
          <p:cNvPr id="34" name="Text 14"/>
          <p:cNvSpPr/>
          <p:nvPr/>
        </p:nvSpPr>
        <p:spPr>
          <a:xfrm>
            <a:off x="6400800" y="3219450"/>
            <a:ext cx="2343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Management: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516838" y="3162300"/>
            <a:ext cx="2600325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dnf install &lt;package&gt;</a:t>
            </a:r>
            <a:endParaRPr lang="en-US" sz="975" dirty="0"/>
          </a:p>
        </p:txBody>
      </p:sp>
      <p:sp>
        <p:nvSpPr>
          <p:cNvPr id="36" name="Text 16"/>
          <p:cNvSpPr/>
          <p:nvPr/>
        </p:nvSpPr>
        <p:spPr>
          <a:xfrm>
            <a:off x="1371600" y="4243388"/>
            <a:ext cx="181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 Family</a:t>
            </a:r>
            <a:endParaRPr lang="en-US" sz="1800" dirty="0"/>
          </a:p>
        </p:txBody>
      </p:sp>
      <p:sp>
        <p:nvSpPr>
          <p:cNvPr id="37" name="Text 17"/>
          <p:cNvSpPr/>
          <p:nvPr/>
        </p:nvSpPr>
        <p:spPr>
          <a:xfrm>
            <a:off x="647700" y="47958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Simplicity, minimalism, and user control</a:t>
            </a:r>
            <a:endParaRPr lang="en-US" sz="1200" dirty="0"/>
          </a:p>
        </p:txBody>
      </p:sp>
      <p:sp>
        <p:nvSpPr>
          <p:cNvPr id="38" name="Text 18"/>
          <p:cNvSpPr/>
          <p:nvPr/>
        </p:nvSpPr>
        <p:spPr>
          <a:xfrm>
            <a:off x="647700" y="5157788"/>
            <a:ext cx="1056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647700" y="53673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 Linux (rolling release)</a:t>
            </a:r>
            <a:endParaRPr lang="en-US" sz="1200" dirty="0"/>
          </a:p>
        </p:txBody>
      </p:sp>
      <p:sp>
        <p:nvSpPr>
          <p:cNvPr id="40" name="Text 20"/>
          <p:cNvSpPr/>
          <p:nvPr/>
        </p:nvSpPr>
        <p:spPr>
          <a:xfrm>
            <a:off x="647700" y="55959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Manjaro (user-friendly Arch-based)</a:t>
            </a:r>
            <a:endParaRPr lang="en-US" sz="1200" dirty="0"/>
          </a:p>
        </p:txBody>
      </p:sp>
      <p:sp>
        <p:nvSpPr>
          <p:cNvPr id="41" name="Text 21"/>
          <p:cNvSpPr/>
          <p:nvPr/>
        </p:nvSpPr>
        <p:spPr>
          <a:xfrm>
            <a:off x="647700" y="5995988"/>
            <a:ext cx="2343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Management:</a:t>
            </a:r>
            <a:endParaRPr lang="en-US" sz="1200" dirty="0"/>
          </a:p>
        </p:txBody>
      </p:sp>
      <p:sp>
        <p:nvSpPr>
          <p:cNvPr id="42" name="Text 22"/>
          <p:cNvSpPr/>
          <p:nvPr/>
        </p:nvSpPr>
        <p:spPr>
          <a:xfrm>
            <a:off x="2763738" y="5938838"/>
            <a:ext cx="2421374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pacman -S &lt;package&gt;</a:t>
            </a:r>
            <a:endParaRPr lang="en-US" sz="975" dirty="0"/>
          </a:p>
        </p:txBody>
      </p:sp>
      <p:sp>
        <p:nvSpPr>
          <p:cNvPr id="43" name="Text 23"/>
          <p:cNvSpPr/>
          <p:nvPr/>
        </p:nvSpPr>
        <p:spPr>
          <a:xfrm>
            <a:off x="7124700" y="4243388"/>
            <a:ext cx="1910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SUSE Family</a:t>
            </a:r>
            <a:endParaRPr lang="en-US" sz="1800" dirty="0"/>
          </a:p>
        </p:txBody>
      </p:sp>
      <p:sp>
        <p:nvSpPr>
          <p:cNvPr id="44" name="Text 24"/>
          <p:cNvSpPr/>
          <p:nvPr/>
        </p:nvSpPr>
        <p:spPr>
          <a:xfrm>
            <a:off x="6400800" y="47958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Enterprise-grade with system administration tools</a:t>
            </a:r>
            <a:endParaRPr lang="en-US" sz="1200" dirty="0"/>
          </a:p>
        </p:txBody>
      </p:sp>
      <p:sp>
        <p:nvSpPr>
          <p:cNvPr id="45" name="Text 25"/>
          <p:cNvSpPr/>
          <p:nvPr/>
        </p:nvSpPr>
        <p:spPr>
          <a:xfrm>
            <a:off x="6400800" y="5157788"/>
            <a:ext cx="1056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46" name="Text 26"/>
          <p:cNvSpPr/>
          <p:nvPr/>
        </p:nvSpPr>
        <p:spPr>
          <a:xfrm>
            <a:off x="6400800" y="536733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openSUSE (community-driven)</a:t>
            </a:r>
            <a:endParaRPr lang="en-US" sz="1200" dirty="0"/>
          </a:p>
        </p:txBody>
      </p:sp>
      <p:sp>
        <p:nvSpPr>
          <p:cNvPr id="47" name="Text 27"/>
          <p:cNvSpPr/>
          <p:nvPr/>
        </p:nvSpPr>
        <p:spPr>
          <a:xfrm>
            <a:off x="6400800" y="55959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SUSE Linux Enterprise Server</a:t>
            </a:r>
            <a:endParaRPr lang="en-US" sz="1200" dirty="0"/>
          </a:p>
        </p:txBody>
      </p:sp>
      <p:sp>
        <p:nvSpPr>
          <p:cNvPr id="48" name="Text 28"/>
          <p:cNvSpPr/>
          <p:nvPr/>
        </p:nvSpPr>
        <p:spPr>
          <a:xfrm>
            <a:off x="6400800" y="5995988"/>
            <a:ext cx="2343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Management:</a:t>
            </a:r>
            <a:endParaRPr lang="en-US" sz="1200" dirty="0"/>
          </a:p>
        </p:txBody>
      </p:sp>
      <p:sp>
        <p:nvSpPr>
          <p:cNvPr id="49" name="Text 29"/>
          <p:cNvSpPr/>
          <p:nvPr/>
        </p:nvSpPr>
        <p:spPr>
          <a:xfrm>
            <a:off x="8516838" y="5938838"/>
            <a:ext cx="2868751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zypper install &lt;package&gt;</a:t>
            </a:r>
            <a:endParaRPr lang="en-US" sz="975" dirty="0"/>
          </a:p>
        </p:txBody>
      </p:sp>
      <p:sp>
        <p:nvSpPr>
          <p:cNvPr id="50" name="Text 30"/>
          <p:cNvSpPr/>
          <p:nvPr/>
        </p:nvSpPr>
        <p:spPr>
          <a:xfrm>
            <a:off x="457200" y="6886575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  <p:pic>
        <p:nvPicPr>
          <p:cNvPr id="51" name="Image 15" descr="preencoded.png">
            <a:extLst>
              <a:ext uri="{FF2B5EF4-FFF2-40B4-BE49-F238E27FC236}">
                <a16:creationId xmlns:a16="http://schemas.microsoft.com/office/drawing/2014/main" id="{20E74F29-4568-662B-6470-A12FA512EFB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2728" y="1503663"/>
            <a:ext cx="1905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437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38300"/>
            <a:ext cx="5524500" cy="159543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828800"/>
            <a:ext cx="457200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2743200"/>
            <a:ext cx="1232595" cy="22383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6495" y="2743200"/>
            <a:ext cx="1307157" cy="22383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39852" y="2743200"/>
            <a:ext cx="2052637" cy="2238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638300"/>
            <a:ext cx="5524500" cy="159543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28800"/>
            <a:ext cx="457200" cy="457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2743200"/>
            <a:ext cx="2052637" cy="22383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29638" y="2743200"/>
            <a:ext cx="1232595" cy="22383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432" y="2743200"/>
            <a:ext cx="1232595" cy="22383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462338"/>
            <a:ext cx="5524500" cy="159543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3652838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729038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567238"/>
            <a:ext cx="1903512" cy="22383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7412" y="4567238"/>
            <a:ext cx="1307157" cy="22383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3462338"/>
            <a:ext cx="5524500" cy="1595438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652838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5100" y="3729038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00800" y="4567238"/>
            <a:ext cx="2276326" cy="22383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53326" y="4567238"/>
            <a:ext cx="1456283" cy="223838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5286375"/>
            <a:ext cx="11277600" cy="1295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" y="5934075"/>
            <a:ext cx="171450" cy="2667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210300" y="5934075"/>
            <a:ext cx="219075" cy="2667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6886575"/>
            <a:ext cx="12192000" cy="4572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457200" y="228600"/>
            <a:ext cx="72114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Management Systems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30" name="Text 2"/>
          <p:cNvSpPr/>
          <p:nvPr/>
        </p:nvSpPr>
        <p:spPr>
          <a:xfrm>
            <a:off x="457200" y="1143000"/>
            <a:ext cx="13533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Linux distributions use different package management systems to install, update, and remove software.</a:t>
            </a:r>
            <a:endParaRPr lang="en-US" sz="1500" dirty="0"/>
          </a:p>
        </p:txBody>
      </p:sp>
      <p:sp>
        <p:nvSpPr>
          <p:cNvPr id="31" name="Text 3"/>
          <p:cNvSpPr/>
          <p:nvPr/>
        </p:nvSpPr>
        <p:spPr>
          <a:xfrm>
            <a:off x="1257300" y="1905000"/>
            <a:ext cx="2031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APT (Debian)</a:t>
            </a:r>
            <a:endParaRPr lang="en-US" sz="1800" dirty="0"/>
          </a:p>
        </p:txBody>
      </p:sp>
      <p:sp>
        <p:nvSpPr>
          <p:cNvPr id="32" name="Text 4"/>
          <p:cNvSpPr/>
          <p:nvPr/>
        </p:nvSpPr>
        <p:spPr>
          <a:xfrm>
            <a:off x="647700" y="24003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Advanced Package Tool for Debian-based systems.</a:t>
            </a:r>
            <a:endParaRPr lang="en-US" sz="1200" dirty="0"/>
          </a:p>
        </p:txBody>
      </p:sp>
      <p:sp>
        <p:nvSpPr>
          <p:cNvPr id="33" name="Text 5"/>
          <p:cNvSpPr/>
          <p:nvPr/>
        </p:nvSpPr>
        <p:spPr>
          <a:xfrm>
            <a:off x="704850" y="2743200"/>
            <a:ext cx="147911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update</a:t>
            </a:r>
            <a:endParaRPr lang="en-US" sz="975" dirty="0"/>
          </a:p>
        </p:txBody>
      </p:sp>
      <p:sp>
        <p:nvSpPr>
          <p:cNvPr id="34" name="Text 6"/>
          <p:cNvSpPr/>
          <p:nvPr/>
        </p:nvSpPr>
        <p:spPr>
          <a:xfrm>
            <a:off x="2013645" y="2743200"/>
            <a:ext cx="156858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upgrade</a:t>
            </a:r>
            <a:endParaRPr lang="en-US" sz="975" dirty="0"/>
          </a:p>
        </p:txBody>
      </p:sp>
      <p:sp>
        <p:nvSpPr>
          <p:cNvPr id="35" name="Text 7"/>
          <p:cNvSpPr/>
          <p:nvPr/>
        </p:nvSpPr>
        <p:spPr>
          <a:xfrm>
            <a:off x="3397002" y="2743200"/>
            <a:ext cx="246316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apt install &lt;package&gt;</a:t>
            </a:r>
            <a:endParaRPr lang="en-US" sz="975" dirty="0"/>
          </a:p>
        </p:txBody>
      </p:sp>
      <p:sp>
        <p:nvSpPr>
          <p:cNvPr id="36" name="Text 8"/>
          <p:cNvSpPr/>
          <p:nvPr/>
        </p:nvSpPr>
        <p:spPr>
          <a:xfrm>
            <a:off x="7010400" y="1905000"/>
            <a:ext cx="30205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DNF/YUM (Red Hat)</a:t>
            </a:r>
            <a:endParaRPr lang="en-US" sz="1800" dirty="0"/>
          </a:p>
        </p:txBody>
      </p:sp>
      <p:sp>
        <p:nvSpPr>
          <p:cNvPr id="37" name="Text 9"/>
          <p:cNvSpPr/>
          <p:nvPr/>
        </p:nvSpPr>
        <p:spPr>
          <a:xfrm>
            <a:off x="6400800" y="2400300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Yellowdog Updater, Modified for Red Hat-based systems.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6457950" y="2743200"/>
            <a:ext cx="246316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dnf install &lt;package&gt;</a:t>
            </a:r>
            <a:endParaRPr lang="en-US" sz="975" dirty="0"/>
          </a:p>
        </p:txBody>
      </p:sp>
      <p:sp>
        <p:nvSpPr>
          <p:cNvPr id="39" name="Text 11"/>
          <p:cNvSpPr/>
          <p:nvPr/>
        </p:nvSpPr>
        <p:spPr>
          <a:xfrm>
            <a:off x="8586788" y="2743200"/>
            <a:ext cx="147911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</a:t>
            </a: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 err="1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</a:t>
            </a: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upgrade</a:t>
            </a:r>
            <a:endParaRPr lang="en-US" sz="975" dirty="0"/>
          </a:p>
        </p:txBody>
      </p:sp>
      <p:sp>
        <p:nvSpPr>
          <p:cNvPr id="40" name="Text 12"/>
          <p:cNvSpPr/>
          <p:nvPr/>
        </p:nvSpPr>
        <p:spPr>
          <a:xfrm>
            <a:off x="9895582" y="2743200"/>
            <a:ext cx="147911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yum upgrade</a:t>
            </a:r>
            <a:endParaRPr lang="en-US" sz="975" dirty="0"/>
          </a:p>
        </p:txBody>
      </p:sp>
      <p:sp>
        <p:nvSpPr>
          <p:cNvPr id="41" name="Text 13"/>
          <p:cNvSpPr/>
          <p:nvPr/>
        </p:nvSpPr>
        <p:spPr>
          <a:xfrm>
            <a:off x="1257300" y="3729038"/>
            <a:ext cx="22593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Pacman (Arch)</a:t>
            </a:r>
            <a:endParaRPr lang="en-US" sz="1800" dirty="0"/>
          </a:p>
        </p:txBody>
      </p:sp>
      <p:sp>
        <p:nvSpPr>
          <p:cNvPr id="42" name="Text 14"/>
          <p:cNvSpPr/>
          <p:nvPr/>
        </p:nvSpPr>
        <p:spPr>
          <a:xfrm>
            <a:off x="647700" y="42243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manager for Arch Linux and derivatives.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704850" y="4567238"/>
            <a:ext cx="2284214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pacman -S &lt;package&gt;</a:t>
            </a:r>
            <a:endParaRPr lang="en-US" sz="975" dirty="0"/>
          </a:p>
        </p:txBody>
      </p:sp>
      <p:sp>
        <p:nvSpPr>
          <p:cNvPr id="44" name="Text 16"/>
          <p:cNvSpPr/>
          <p:nvPr/>
        </p:nvSpPr>
        <p:spPr>
          <a:xfrm>
            <a:off x="2684562" y="4567238"/>
            <a:ext cx="1568589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pacman -Syu</a:t>
            </a:r>
            <a:endParaRPr lang="en-US" sz="975" dirty="0"/>
          </a:p>
        </p:txBody>
      </p:sp>
      <p:sp>
        <p:nvSpPr>
          <p:cNvPr id="45" name="Text 17"/>
          <p:cNvSpPr/>
          <p:nvPr/>
        </p:nvSpPr>
        <p:spPr>
          <a:xfrm>
            <a:off x="7010400" y="3729038"/>
            <a:ext cx="22433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Zypper (SUSE)</a:t>
            </a:r>
            <a:endParaRPr lang="en-US" sz="1800" dirty="0"/>
          </a:p>
        </p:txBody>
      </p:sp>
      <p:sp>
        <p:nvSpPr>
          <p:cNvPr id="46" name="Text 18"/>
          <p:cNvSpPr/>
          <p:nvPr/>
        </p:nvSpPr>
        <p:spPr>
          <a:xfrm>
            <a:off x="6400800" y="4224338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manager for SUSE Linux distributions.</a:t>
            </a:r>
            <a:endParaRPr lang="en-US" sz="1200" dirty="0"/>
          </a:p>
        </p:txBody>
      </p:sp>
      <p:sp>
        <p:nvSpPr>
          <p:cNvPr id="47" name="Text 19"/>
          <p:cNvSpPr/>
          <p:nvPr/>
        </p:nvSpPr>
        <p:spPr>
          <a:xfrm>
            <a:off x="6457950" y="4567238"/>
            <a:ext cx="273159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zypper install &lt;package&gt;</a:t>
            </a:r>
            <a:endParaRPr lang="en-US" sz="975" dirty="0"/>
          </a:p>
        </p:txBody>
      </p:sp>
      <p:sp>
        <p:nvSpPr>
          <p:cNvPr id="48" name="Text 20"/>
          <p:cNvSpPr/>
          <p:nvPr/>
        </p:nvSpPr>
        <p:spPr>
          <a:xfrm>
            <a:off x="8810476" y="4567238"/>
            <a:ext cx="1747540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3"/>
              </a:lnSpc>
              <a:buNone/>
            </a:pPr>
            <a:r>
              <a:rPr lang="en-US" sz="9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 zypper update</a:t>
            </a:r>
            <a:endParaRPr lang="en-US" sz="975" dirty="0"/>
          </a:p>
        </p:txBody>
      </p:sp>
      <p:sp>
        <p:nvSpPr>
          <p:cNvPr id="49" name="Text 21"/>
          <p:cNvSpPr/>
          <p:nvPr/>
        </p:nvSpPr>
        <p:spPr>
          <a:xfrm>
            <a:off x="647700" y="5476875"/>
            <a:ext cx="1089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Concepts</a:t>
            </a:r>
            <a:endParaRPr lang="en-US" sz="1800" dirty="0"/>
          </a:p>
        </p:txBody>
      </p:sp>
      <p:sp>
        <p:nvSpPr>
          <p:cNvPr id="50" name="Text 22"/>
          <p:cNvSpPr/>
          <p:nvPr/>
        </p:nvSpPr>
        <p:spPr>
          <a:xfrm>
            <a:off x="933450" y="5895975"/>
            <a:ext cx="43112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Package Repositories</a:t>
            </a:r>
            <a:endParaRPr lang="en-US" sz="1500" dirty="0"/>
          </a:p>
        </p:txBody>
      </p:sp>
      <p:sp>
        <p:nvSpPr>
          <p:cNvPr id="51" name="Text 23"/>
          <p:cNvSpPr/>
          <p:nvPr/>
        </p:nvSpPr>
        <p:spPr>
          <a:xfrm>
            <a:off x="933450" y="6162675"/>
            <a:ext cx="43112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Centralized repositories for software packages.</a:t>
            </a:r>
            <a:endParaRPr lang="en-US" sz="1200" dirty="0"/>
          </a:p>
        </p:txBody>
      </p:sp>
      <p:sp>
        <p:nvSpPr>
          <p:cNvPr id="52" name="Text 24"/>
          <p:cNvSpPr/>
          <p:nvPr/>
        </p:nvSpPr>
        <p:spPr>
          <a:xfrm>
            <a:off x="6543675" y="5895975"/>
            <a:ext cx="43480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Dependency Resolution</a:t>
            </a:r>
            <a:endParaRPr lang="en-US" sz="1500" dirty="0"/>
          </a:p>
        </p:txBody>
      </p:sp>
      <p:sp>
        <p:nvSpPr>
          <p:cNvPr id="53" name="Text 25"/>
          <p:cNvSpPr/>
          <p:nvPr/>
        </p:nvSpPr>
        <p:spPr>
          <a:xfrm>
            <a:off x="6543675" y="6162675"/>
            <a:ext cx="4348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Automatically handling software dependencies.</a:t>
            </a:r>
            <a:endParaRPr lang="en-US" sz="1200" dirty="0"/>
          </a:p>
        </p:txBody>
      </p:sp>
      <p:sp>
        <p:nvSpPr>
          <p:cNvPr id="54" name="Text 26"/>
          <p:cNvSpPr/>
          <p:nvPr/>
        </p:nvSpPr>
        <p:spPr>
          <a:xfrm>
            <a:off x="457200" y="7000875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8305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838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6400"/>
            <a:ext cx="11277600" cy="1295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18669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575" y="1971675"/>
            <a:ext cx="19050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200400"/>
            <a:ext cx="11277600" cy="1295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33909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763" y="3495675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724400"/>
            <a:ext cx="11277600" cy="1295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" y="491490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6288" y="5019675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248400"/>
            <a:ext cx="11277600" cy="1295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" y="6438900"/>
            <a:ext cx="476250" cy="476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0100" y="6543675"/>
            <a:ext cx="17145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7848600"/>
            <a:ext cx="12192000" cy="4572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228600"/>
            <a:ext cx="49997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Questions &amp; Discussion</a:t>
            </a:r>
          </a:p>
        </p:txBody>
      </p:sp>
      <p:sp>
        <p:nvSpPr>
          <p:cNvPr id="18" name="Text 1"/>
          <p:cNvSpPr/>
          <p:nvPr/>
        </p:nvSpPr>
        <p:spPr>
          <a:xfrm>
            <a:off x="6753225" y="285750"/>
            <a:ext cx="5977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2: System Architecture and Linux Foundations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457200" y="1143000"/>
            <a:ext cx="13533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Let's discuss these questions: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276350" y="1866900"/>
            <a:ext cx="80460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21" name="Text 4"/>
          <p:cNvSpPr/>
          <p:nvPr/>
        </p:nvSpPr>
        <p:spPr>
          <a:xfrm>
            <a:off x="1276350" y="2209800"/>
            <a:ext cx="96553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kernel architecture would you choose for an embedded system with limited resources?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1276350" y="2590800"/>
            <a:ext cx="96553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 the pros and cons of different kernel models in terms of performance, security, and resource requirements.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1276350" y="3390900"/>
            <a:ext cx="5337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1276350" y="3733800"/>
            <a:ext cx="640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happens during </a:t>
            </a:r>
            <a:r>
              <a:rPr lang="en-US" sz="135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e.g. the </a:t>
            </a: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GRUB stage of the boot process?</a:t>
            </a:r>
            <a:endParaRPr lang="en-US" sz="1350" dirty="0"/>
          </a:p>
        </p:txBody>
      </p:sp>
      <p:sp>
        <p:nvSpPr>
          <p:cNvPr id="25" name="Text 8"/>
          <p:cNvSpPr/>
          <p:nvPr/>
        </p:nvSpPr>
        <p:spPr>
          <a:xfrm>
            <a:off x="1276350" y="4114800"/>
            <a:ext cx="640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does GRUB fit into the overall system boot sequence we discussed earlier?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1276350" y="4914900"/>
            <a:ext cx="61125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1276350" y="5257800"/>
            <a:ext cx="73350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How would you install the 'htop' utility on Ubuntu and Fedora systems?</a:t>
            </a:r>
            <a:endParaRPr lang="en-US" sz="1350" dirty="0"/>
          </a:p>
        </p:txBody>
      </p:sp>
      <p:sp>
        <p:nvSpPr>
          <p:cNvPr id="28" name="Text 11"/>
          <p:cNvSpPr/>
          <p:nvPr/>
        </p:nvSpPr>
        <p:spPr>
          <a:xfrm>
            <a:off x="1276350" y="5638800"/>
            <a:ext cx="73350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commands would you use, and what differences might you encounter?</a:t>
            </a:r>
            <a:endParaRPr lang="en-US" sz="1050" dirty="0"/>
          </a:p>
        </p:txBody>
      </p:sp>
      <p:sp>
        <p:nvSpPr>
          <p:cNvPr id="29" name="Text 12"/>
          <p:cNvSpPr/>
          <p:nvPr/>
        </p:nvSpPr>
        <p:spPr>
          <a:xfrm>
            <a:off x="1276350" y="6438900"/>
            <a:ext cx="5460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1276350" y="6781800"/>
            <a:ext cx="65531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is the relationship between GNU and Linux important?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1276350" y="7162800"/>
            <a:ext cx="65531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would be different if we were using just the Linux kernel without GNU tools?</a:t>
            </a:r>
            <a:endParaRPr lang="en-US" sz="1050" dirty="0"/>
          </a:p>
        </p:txBody>
      </p:sp>
      <p:sp>
        <p:nvSpPr>
          <p:cNvPr id="32" name="Text 15"/>
          <p:cNvSpPr/>
          <p:nvPr/>
        </p:nvSpPr>
        <p:spPr>
          <a:xfrm>
            <a:off x="457200" y="7962900"/>
            <a:ext cx="398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 Architecture and Linux Foundations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1397</Words>
  <Application>Microsoft Office PowerPoint</Application>
  <PresentationFormat>Widescreen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Roboto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Shabih Fatima</cp:lastModifiedBy>
  <cp:revision>2</cp:revision>
  <dcterms:created xsi:type="dcterms:W3CDTF">2025-10-04T19:07:00Z</dcterms:created>
  <dcterms:modified xsi:type="dcterms:W3CDTF">2025-10-05T09:59:44Z</dcterms:modified>
</cp:coreProperties>
</file>