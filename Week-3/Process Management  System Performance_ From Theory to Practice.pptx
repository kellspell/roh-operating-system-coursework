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70" r:id="rId7"/>
    <p:sldId id="267" r:id="rId8"/>
    <p:sldId id="263" r:id="rId9"/>
    <p:sldId id="268"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6132FB-7781-4385-A0F5-74106352C7B8}" v="75" dt="2025-10-12T18:52:27.152"/>
    <p1510:client id="{99D7A0B2-A915-456B-935A-CC502BD694F4}" v="1" dt="2025-10-11T21:50:12.4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67910" autoAdjust="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bih Fatima" userId="1bfc5837-7f35-42e4-8f44-176c47f815d8" providerId="ADAL" clId="{3FE161B3-05B9-486D-8A35-14CCA4D9D23C}"/>
    <pc:docChg chg="undo custSel addSld delSld modSld">
      <pc:chgData name="Shabih Fatima" userId="1bfc5837-7f35-42e4-8f44-176c47f815d8" providerId="ADAL" clId="{3FE161B3-05B9-486D-8A35-14CCA4D9D23C}" dt="2025-10-12T19:55:40.686" v="271" actId="20577"/>
      <pc:docMkLst>
        <pc:docMk/>
      </pc:docMkLst>
      <pc:sldChg chg="modNotesTx">
        <pc:chgData name="Shabih Fatima" userId="1bfc5837-7f35-42e4-8f44-176c47f815d8" providerId="ADAL" clId="{3FE161B3-05B9-486D-8A35-14CCA4D9D23C}" dt="2025-10-12T19:54:57.829" v="262" actId="20577"/>
        <pc:sldMkLst>
          <pc:docMk/>
          <pc:sldMk cId="0" sldId="256"/>
        </pc:sldMkLst>
      </pc:sldChg>
      <pc:sldChg chg="modNotesTx">
        <pc:chgData name="Shabih Fatima" userId="1bfc5837-7f35-42e4-8f44-176c47f815d8" providerId="ADAL" clId="{3FE161B3-05B9-486D-8A35-14CCA4D9D23C}" dt="2025-10-12T19:55:03.048" v="263" actId="20577"/>
        <pc:sldMkLst>
          <pc:docMk/>
          <pc:sldMk cId="0" sldId="257"/>
        </pc:sldMkLst>
      </pc:sldChg>
      <pc:sldChg chg="addSp delSp modSp mod modNotesTx">
        <pc:chgData name="Shabih Fatima" userId="1bfc5837-7f35-42e4-8f44-176c47f815d8" providerId="ADAL" clId="{3FE161B3-05B9-486D-8A35-14CCA4D9D23C}" dt="2025-10-12T19:55:08.621" v="264" actId="20577"/>
        <pc:sldMkLst>
          <pc:docMk/>
          <pc:sldMk cId="0" sldId="258"/>
        </pc:sldMkLst>
        <pc:spChg chg="add del">
          <ac:chgData name="Shabih Fatima" userId="1bfc5837-7f35-42e4-8f44-176c47f815d8" providerId="ADAL" clId="{3FE161B3-05B9-486D-8A35-14CCA4D9D23C}" dt="2025-10-12T18:38:40.985" v="237" actId="478"/>
          <ac:spMkLst>
            <pc:docMk/>
            <pc:sldMk cId="0" sldId="258"/>
            <ac:spMk id="43" creationId="{00000000-0000-0000-0000-000000000000}"/>
          </ac:spMkLst>
        </pc:spChg>
        <pc:spChg chg="add del">
          <ac:chgData name="Shabih Fatima" userId="1bfc5837-7f35-42e4-8f44-176c47f815d8" providerId="ADAL" clId="{3FE161B3-05B9-486D-8A35-14CCA4D9D23C}" dt="2025-10-12T18:38:40.579" v="236" actId="478"/>
          <ac:spMkLst>
            <pc:docMk/>
            <pc:sldMk cId="0" sldId="258"/>
            <ac:spMk id="44" creationId="{00000000-0000-0000-0000-000000000000}"/>
          </ac:spMkLst>
        </pc:spChg>
        <pc:picChg chg="mod">
          <ac:chgData name="Shabih Fatima" userId="1bfc5837-7f35-42e4-8f44-176c47f815d8" providerId="ADAL" clId="{3FE161B3-05B9-486D-8A35-14CCA4D9D23C}" dt="2025-10-12T18:38:40.235" v="235" actId="14100"/>
          <ac:picMkLst>
            <pc:docMk/>
            <pc:sldMk cId="0" sldId="258"/>
            <ac:picMk id="6" creationId="{00000000-0000-0000-0000-000000000000}"/>
          </ac:picMkLst>
        </pc:picChg>
        <pc:picChg chg="add del">
          <ac:chgData name="Shabih Fatima" userId="1bfc5837-7f35-42e4-8f44-176c47f815d8" providerId="ADAL" clId="{3FE161B3-05B9-486D-8A35-14CCA4D9D23C}" dt="2025-10-12T18:38:41.300" v="238" actId="478"/>
          <ac:picMkLst>
            <pc:docMk/>
            <pc:sldMk cId="0" sldId="258"/>
            <ac:picMk id="21" creationId="{00000000-0000-0000-0000-000000000000}"/>
          </ac:picMkLst>
        </pc:picChg>
        <pc:picChg chg="add del">
          <ac:chgData name="Shabih Fatima" userId="1bfc5837-7f35-42e4-8f44-176c47f815d8" providerId="ADAL" clId="{3FE161B3-05B9-486D-8A35-14CCA4D9D23C}" dt="2025-10-12T18:38:41.679" v="239" actId="478"/>
          <ac:picMkLst>
            <pc:docMk/>
            <pc:sldMk cId="0" sldId="258"/>
            <ac:picMk id="22" creationId="{00000000-0000-0000-0000-000000000000}"/>
          </ac:picMkLst>
        </pc:picChg>
      </pc:sldChg>
      <pc:sldChg chg="modNotesTx">
        <pc:chgData name="Shabih Fatima" userId="1bfc5837-7f35-42e4-8f44-176c47f815d8" providerId="ADAL" clId="{3FE161B3-05B9-486D-8A35-14CCA4D9D23C}" dt="2025-10-12T19:55:13.655" v="265" actId="20577"/>
        <pc:sldMkLst>
          <pc:docMk/>
          <pc:sldMk cId="0" sldId="259"/>
        </pc:sldMkLst>
      </pc:sldChg>
      <pc:sldChg chg="modNotesTx">
        <pc:chgData name="Shabih Fatima" userId="1bfc5837-7f35-42e4-8f44-176c47f815d8" providerId="ADAL" clId="{3FE161B3-05B9-486D-8A35-14CCA4D9D23C}" dt="2025-10-12T19:55:18.236" v="266" actId="20577"/>
        <pc:sldMkLst>
          <pc:docMk/>
          <pc:sldMk cId="0" sldId="260"/>
        </pc:sldMkLst>
      </pc:sldChg>
      <pc:sldChg chg="del modNotesTx">
        <pc:chgData name="Shabih Fatima" userId="1bfc5837-7f35-42e4-8f44-176c47f815d8" providerId="ADAL" clId="{3FE161B3-05B9-486D-8A35-14CCA4D9D23C}" dt="2025-10-11T23:43:25.099" v="192" actId="2696"/>
        <pc:sldMkLst>
          <pc:docMk/>
          <pc:sldMk cId="0" sldId="261"/>
        </pc:sldMkLst>
      </pc:sldChg>
      <pc:sldChg chg="delSp add del mod">
        <pc:chgData name="Shabih Fatima" userId="1bfc5837-7f35-42e4-8f44-176c47f815d8" providerId="ADAL" clId="{3FE161B3-05B9-486D-8A35-14CCA4D9D23C}" dt="2025-10-11T21:50:27.691" v="4" actId="2696"/>
        <pc:sldMkLst>
          <pc:docMk/>
          <pc:sldMk cId="0" sldId="262"/>
        </pc:sldMkLst>
        <pc:picChg chg="del">
          <ac:chgData name="Shabih Fatima" userId="1bfc5837-7f35-42e4-8f44-176c47f815d8" providerId="ADAL" clId="{3FE161B3-05B9-486D-8A35-14CCA4D9D23C}" dt="2025-10-11T21:48:51.481" v="0" actId="478"/>
          <ac:picMkLst>
            <pc:docMk/>
            <pc:sldMk cId="0" sldId="262"/>
            <ac:picMk id="28" creationId="{00000000-0000-0000-0000-000000000000}"/>
          </ac:picMkLst>
        </pc:picChg>
      </pc:sldChg>
      <pc:sldChg chg="modNotesTx">
        <pc:chgData name="Shabih Fatima" userId="1bfc5837-7f35-42e4-8f44-176c47f815d8" providerId="ADAL" clId="{3FE161B3-05B9-486D-8A35-14CCA4D9D23C}" dt="2025-10-12T19:55:32.610" v="269" actId="20577"/>
        <pc:sldMkLst>
          <pc:docMk/>
          <pc:sldMk cId="0" sldId="263"/>
        </pc:sldMkLst>
      </pc:sldChg>
      <pc:sldChg chg="addSp delSp del mod modNotesTx">
        <pc:chgData name="Shabih Fatima" userId="1bfc5837-7f35-42e4-8f44-176c47f815d8" providerId="ADAL" clId="{3FE161B3-05B9-486D-8A35-14CCA4D9D23C}" dt="2025-10-11T22:40:41.882" v="70" actId="2696"/>
        <pc:sldMkLst>
          <pc:docMk/>
          <pc:sldMk cId="0" sldId="264"/>
        </pc:sldMkLst>
        <pc:spChg chg="del">
          <ac:chgData name="Shabih Fatima" userId="1bfc5837-7f35-42e4-8f44-176c47f815d8" providerId="ADAL" clId="{3FE161B3-05B9-486D-8A35-14CCA4D9D23C}" dt="2025-10-11T22:24:38.689" v="52" actId="21"/>
          <ac:spMkLst>
            <pc:docMk/>
            <pc:sldMk cId="0" sldId="264"/>
            <ac:spMk id="51" creationId="{00000000-0000-0000-0000-000000000000}"/>
          </ac:spMkLst>
        </pc:spChg>
        <pc:picChg chg="add del">
          <ac:chgData name="Shabih Fatima" userId="1bfc5837-7f35-42e4-8f44-176c47f815d8" providerId="ADAL" clId="{3FE161B3-05B9-486D-8A35-14CCA4D9D23C}" dt="2025-10-11T22:24:32.347" v="51" actId="21"/>
          <ac:picMkLst>
            <pc:docMk/>
            <pc:sldMk cId="0" sldId="264"/>
            <ac:picMk id="2" creationId="{00000000-0000-0000-0000-000000000000}"/>
          </ac:picMkLst>
        </pc:picChg>
        <pc:picChg chg="del">
          <ac:chgData name="Shabih Fatima" userId="1bfc5837-7f35-42e4-8f44-176c47f815d8" providerId="ADAL" clId="{3FE161B3-05B9-486D-8A35-14CCA4D9D23C}" dt="2025-10-11T22:24:19.338" v="49" actId="478"/>
          <ac:picMkLst>
            <pc:docMk/>
            <pc:sldMk cId="0" sldId="264"/>
            <ac:picMk id="18" creationId="{00000000-0000-0000-0000-000000000000}"/>
          </ac:picMkLst>
        </pc:picChg>
      </pc:sldChg>
      <pc:sldChg chg="delSp mod modNotesTx">
        <pc:chgData name="Shabih Fatima" userId="1bfc5837-7f35-42e4-8f44-176c47f815d8" providerId="ADAL" clId="{3FE161B3-05B9-486D-8A35-14CCA4D9D23C}" dt="2025-10-12T19:55:40.686" v="271" actId="20577"/>
        <pc:sldMkLst>
          <pc:docMk/>
          <pc:sldMk cId="0" sldId="265"/>
        </pc:sldMkLst>
        <pc:picChg chg="del">
          <ac:chgData name="Shabih Fatima" userId="1bfc5837-7f35-42e4-8f44-176c47f815d8" providerId="ADAL" clId="{3FE161B3-05B9-486D-8A35-14CCA4D9D23C}" dt="2025-10-12T17:22:43.316" v="207" actId="478"/>
          <ac:picMkLst>
            <pc:docMk/>
            <pc:sldMk cId="0" sldId="265"/>
            <ac:picMk id="13" creationId="{00000000-0000-0000-0000-000000000000}"/>
          </ac:picMkLst>
        </pc:picChg>
      </pc:sldChg>
      <pc:sldChg chg="modSp mod modNotesTx">
        <pc:chgData name="Shabih Fatima" userId="1bfc5837-7f35-42e4-8f44-176c47f815d8" providerId="ADAL" clId="{3FE161B3-05B9-486D-8A35-14CCA4D9D23C}" dt="2025-10-12T19:05:56.983" v="254" actId="20577"/>
        <pc:sldMkLst>
          <pc:docMk/>
          <pc:sldMk cId="0" sldId="266"/>
        </pc:sldMkLst>
        <pc:picChg chg="mod">
          <ac:chgData name="Shabih Fatima" userId="1bfc5837-7f35-42e4-8f44-176c47f815d8" providerId="ADAL" clId="{3FE161B3-05B9-486D-8A35-14CCA4D9D23C}" dt="2025-10-12T18:44:08.827" v="243" actId="1076"/>
          <ac:picMkLst>
            <pc:docMk/>
            <pc:sldMk cId="0" sldId="266"/>
            <ac:picMk id="2" creationId="{00000000-0000-0000-0000-000000000000}"/>
          </ac:picMkLst>
        </pc:picChg>
      </pc:sldChg>
      <pc:sldChg chg="add modNotesTx">
        <pc:chgData name="Shabih Fatima" userId="1bfc5837-7f35-42e4-8f44-176c47f815d8" providerId="ADAL" clId="{3FE161B3-05B9-486D-8A35-14CCA4D9D23C}" dt="2025-10-12T19:55:28.141" v="268" actId="20577"/>
        <pc:sldMkLst>
          <pc:docMk/>
          <pc:sldMk cId="0" sldId="267"/>
        </pc:sldMkLst>
      </pc:sldChg>
      <pc:sldChg chg="add modNotesTx">
        <pc:chgData name="Shabih Fatima" userId="1bfc5837-7f35-42e4-8f44-176c47f815d8" providerId="ADAL" clId="{3FE161B3-05B9-486D-8A35-14CCA4D9D23C}" dt="2025-10-12T19:55:36.952" v="270" actId="20577"/>
        <pc:sldMkLst>
          <pc:docMk/>
          <pc:sldMk cId="0" sldId="268"/>
        </pc:sldMkLst>
      </pc:sldChg>
      <pc:sldChg chg="add del modNotesTx">
        <pc:chgData name="Shabih Fatima" userId="1bfc5837-7f35-42e4-8f44-176c47f815d8" providerId="ADAL" clId="{3FE161B3-05B9-486D-8A35-14CCA4D9D23C}" dt="2025-10-12T17:20:00.368" v="202" actId="2696"/>
        <pc:sldMkLst>
          <pc:docMk/>
          <pc:sldMk cId="0" sldId="269"/>
        </pc:sldMkLst>
      </pc:sldChg>
      <pc:sldChg chg="addSp delSp modSp add mod modNotesTx">
        <pc:chgData name="Shabih Fatima" userId="1bfc5837-7f35-42e4-8f44-176c47f815d8" providerId="ADAL" clId="{3FE161B3-05B9-486D-8A35-14CCA4D9D23C}" dt="2025-10-12T19:55:22.509" v="267" actId="20577"/>
        <pc:sldMkLst>
          <pc:docMk/>
          <pc:sldMk cId="0" sldId="270"/>
        </pc:sldMkLst>
        <pc:spChg chg="del">
          <ac:chgData name="Shabih Fatima" userId="1bfc5837-7f35-42e4-8f44-176c47f815d8" providerId="ADAL" clId="{3FE161B3-05B9-486D-8A35-14CCA4D9D23C}" dt="2025-10-11T23:41:12.545" v="105" actId="21"/>
          <ac:spMkLst>
            <pc:docMk/>
            <pc:sldMk cId="0" sldId="270"/>
            <ac:spMk id="110" creationId="{00000000-0000-0000-0000-000000000000}"/>
          </ac:spMkLst>
        </pc:spChg>
        <pc:spChg chg="del">
          <ac:chgData name="Shabih Fatima" userId="1bfc5837-7f35-42e4-8f44-176c47f815d8" providerId="ADAL" clId="{3FE161B3-05B9-486D-8A35-14CCA4D9D23C}" dt="2025-10-11T23:41:24.924" v="107" actId="21"/>
          <ac:spMkLst>
            <pc:docMk/>
            <pc:sldMk cId="0" sldId="270"/>
            <ac:spMk id="111" creationId="{00000000-0000-0000-0000-000000000000}"/>
          </ac:spMkLst>
        </pc:spChg>
        <pc:spChg chg="mod">
          <ac:chgData name="Shabih Fatima" userId="1bfc5837-7f35-42e4-8f44-176c47f815d8" providerId="ADAL" clId="{3FE161B3-05B9-486D-8A35-14CCA4D9D23C}" dt="2025-10-11T23:41:36.738" v="110" actId="20577"/>
          <ac:spMkLst>
            <pc:docMk/>
            <pc:sldMk cId="0" sldId="270"/>
            <ac:spMk id="112" creationId="{00000000-0000-0000-0000-000000000000}"/>
          </ac:spMkLst>
        </pc:spChg>
        <pc:spChg chg="mod">
          <ac:chgData name="Shabih Fatima" userId="1bfc5837-7f35-42e4-8f44-176c47f815d8" providerId="ADAL" clId="{3FE161B3-05B9-486D-8A35-14CCA4D9D23C}" dt="2025-10-11T23:42:07.247" v="186" actId="20577"/>
          <ac:spMkLst>
            <pc:docMk/>
            <pc:sldMk cId="0" sldId="270"/>
            <ac:spMk id="113" creationId="{00000000-0000-0000-0000-000000000000}"/>
          </ac:spMkLst>
        </pc:spChg>
        <pc:spChg chg="mod">
          <ac:chgData name="Shabih Fatima" userId="1bfc5837-7f35-42e4-8f44-176c47f815d8" providerId="ADAL" clId="{3FE161B3-05B9-486D-8A35-14CCA4D9D23C}" dt="2025-10-11T23:41:59.013" v="148" actId="20577"/>
          <ac:spMkLst>
            <pc:docMk/>
            <pc:sldMk cId="0" sldId="270"/>
            <ac:spMk id="114" creationId="{00000000-0000-0000-0000-000000000000}"/>
          </ac:spMkLst>
        </pc:spChg>
        <pc:spChg chg="del mod">
          <ac:chgData name="Shabih Fatima" userId="1bfc5837-7f35-42e4-8f44-176c47f815d8" providerId="ADAL" clId="{3FE161B3-05B9-486D-8A35-14CCA4D9D23C}" dt="2025-10-11T23:42:14.161" v="189" actId="478"/>
          <ac:spMkLst>
            <pc:docMk/>
            <pc:sldMk cId="0" sldId="270"/>
            <ac:spMk id="115" creationId="{00000000-0000-0000-0000-000000000000}"/>
          </ac:spMkLst>
        </pc:spChg>
        <pc:spChg chg="mod">
          <ac:chgData name="Shabih Fatima" userId="1bfc5837-7f35-42e4-8f44-176c47f815d8" providerId="ADAL" clId="{3FE161B3-05B9-486D-8A35-14CCA4D9D23C}" dt="2025-10-11T23:42:25.479" v="190" actId="20577"/>
          <ac:spMkLst>
            <pc:docMk/>
            <pc:sldMk cId="0" sldId="270"/>
            <ac:spMk id="116" creationId="{00000000-0000-0000-0000-000000000000}"/>
          </ac:spMkLst>
        </pc:spChg>
        <pc:spChg chg="mod">
          <ac:chgData name="Shabih Fatima" userId="1bfc5837-7f35-42e4-8f44-176c47f815d8" providerId="ADAL" clId="{3FE161B3-05B9-486D-8A35-14CCA4D9D23C}" dt="2025-10-11T23:42:29.561" v="191" actId="20577"/>
          <ac:spMkLst>
            <pc:docMk/>
            <pc:sldMk cId="0" sldId="270"/>
            <ac:spMk id="117" creationId="{00000000-0000-0000-0000-000000000000}"/>
          </ac:spMkLst>
        </pc:spChg>
        <pc:picChg chg="add del">
          <ac:chgData name="Shabih Fatima" userId="1bfc5837-7f35-42e4-8f44-176c47f815d8" providerId="ADAL" clId="{3FE161B3-05B9-486D-8A35-14CCA4D9D23C}" dt="2025-10-11T23:41:47.551" v="112" actId="21"/>
          <ac:picMkLst>
            <pc:docMk/>
            <pc:sldMk cId="0" sldId="270"/>
            <ac:picMk id="16" creationId="{00000000-0000-0000-0000-000000000000}"/>
          </ac:picMkLst>
        </pc:picChg>
        <pc:picChg chg="del">
          <ac:chgData name="Shabih Fatima" userId="1bfc5837-7f35-42e4-8f44-176c47f815d8" providerId="ADAL" clId="{3FE161B3-05B9-486D-8A35-14CCA4D9D23C}" dt="2025-10-11T23:41:06.925" v="104" actId="21"/>
          <ac:picMkLst>
            <pc:docMk/>
            <pc:sldMk cId="0" sldId="270"/>
            <ac:picMk id="34" creationId="{00000000-0000-0000-0000-000000000000}"/>
          </ac:picMkLst>
        </pc:picChg>
        <pc:picChg chg="del">
          <ac:chgData name="Shabih Fatima" userId="1bfc5837-7f35-42e4-8f44-176c47f815d8" providerId="ADAL" clId="{3FE161B3-05B9-486D-8A35-14CCA4D9D23C}" dt="2025-10-11T23:41:17.843" v="106" actId="21"/>
          <ac:picMkLst>
            <pc:docMk/>
            <pc:sldMk cId="0" sldId="270"/>
            <ac:picMk id="3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9523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a:p>
            <a:endParaRPr lang="en-GB" b="1" dirty="0"/>
          </a:p>
          <a:p>
            <a:endParaRPr lang="en-GB" b="1" dirty="0"/>
          </a:p>
          <a:p>
            <a:endParaRPr lang="en-GB" b="1"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notesSlide" Target="../notesSlides/notesSlide2.xml"/><Relationship Id="rId16"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7.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3.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23.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s>
</file>

<file path=ppt/slides/_rels/slide4.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57.png"/><Relationship Id="rId21" Type="http://schemas.openxmlformats.org/officeDocument/2006/relationships/image" Target="../media/image75.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notesSlide" Target="../notesSlides/notesSlide4.xml"/><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3.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5.xml.rels><?xml version="1.0" encoding="UTF-8" standalone="yes"?>
<Relationships xmlns="http://schemas.openxmlformats.org/package/2006/relationships"><Relationship Id="rId13" Type="http://schemas.openxmlformats.org/officeDocument/2006/relationships/image" Target="../media/image85.png"/><Relationship Id="rId18" Type="http://schemas.openxmlformats.org/officeDocument/2006/relationships/image" Target="../media/image89.png"/><Relationship Id="rId26" Type="http://schemas.openxmlformats.org/officeDocument/2006/relationships/image" Target="../media/image97.png"/><Relationship Id="rId21" Type="http://schemas.openxmlformats.org/officeDocument/2006/relationships/image" Target="../media/image92.png"/><Relationship Id="rId34" Type="http://schemas.openxmlformats.org/officeDocument/2006/relationships/image" Target="../media/image105.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73.png"/><Relationship Id="rId25" Type="http://schemas.openxmlformats.org/officeDocument/2006/relationships/image" Target="../media/image96.png"/><Relationship Id="rId33" Type="http://schemas.openxmlformats.org/officeDocument/2006/relationships/image" Target="../media/image104.png"/><Relationship Id="rId38" Type="http://schemas.openxmlformats.org/officeDocument/2006/relationships/image" Target="../media/image109.png"/><Relationship Id="rId2" Type="http://schemas.openxmlformats.org/officeDocument/2006/relationships/notesSlide" Target="../notesSlides/notesSlide5.xml"/><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5.png"/><Relationship Id="rId32" Type="http://schemas.openxmlformats.org/officeDocument/2006/relationships/image" Target="../media/image103.png"/><Relationship Id="rId37" Type="http://schemas.openxmlformats.org/officeDocument/2006/relationships/image" Target="../media/image108.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4.png"/><Relationship Id="rId28" Type="http://schemas.openxmlformats.org/officeDocument/2006/relationships/image" Target="../media/image99.png"/><Relationship Id="rId36" Type="http://schemas.openxmlformats.org/officeDocument/2006/relationships/image" Target="../media/image107.png"/><Relationship Id="rId10" Type="http://schemas.openxmlformats.org/officeDocument/2006/relationships/image" Target="../media/image82.png"/><Relationship Id="rId19" Type="http://schemas.openxmlformats.org/officeDocument/2006/relationships/image" Target="../media/image90.png"/><Relationship Id="rId31" Type="http://schemas.openxmlformats.org/officeDocument/2006/relationships/image" Target="../media/image102.png"/><Relationship Id="rId4" Type="http://schemas.openxmlformats.org/officeDocument/2006/relationships/image" Target="../media/image58.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 Id="rId35" Type="http://schemas.openxmlformats.org/officeDocument/2006/relationships/image" Target="../media/image106.png"/><Relationship Id="rId8" Type="http://schemas.openxmlformats.org/officeDocument/2006/relationships/image" Target="../media/image80.png"/><Relationship Id="rId3" Type="http://schemas.openxmlformats.org/officeDocument/2006/relationships/image" Target="../media/image76.png"/></Relationships>
</file>

<file path=ppt/slides/_rels/slide6.xml.rels><?xml version="1.0" encoding="UTF-8" standalone="yes"?>
<Relationships xmlns="http://schemas.openxmlformats.org/package/2006/relationships"><Relationship Id="rId13" Type="http://schemas.openxmlformats.org/officeDocument/2006/relationships/image" Target="../media/image119.png"/><Relationship Id="rId18" Type="http://schemas.openxmlformats.org/officeDocument/2006/relationships/image" Target="../media/image124.png"/><Relationship Id="rId26" Type="http://schemas.openxmlformats.org/officeDocument/2006/relationships/image" Target="../media/image132.png"/><Relationship Id="rId21" Type="http://schemas.openxmlformats.org/officeDocument/2006/relationships/image" Target="../media/image127.png"/><Relationship Id="rId34" Type="http://schemas.openxmlformats.org/officeDocument/2006/relationships/image" Target="../media/image140.png"/><Relationship Id="rId7" Type="http://schemas.openxmlformats.org/officeDocument/2006/relationships/image" Target="../media/image113.png"/><Relationship Id="rId12" Type="http://schemas.openxmlformats.org/officeDocument/2006/relationships/image" Target="../media/image118.png"/><Relationship Id="rId17" Type="http://schemas.openxmlformats.org/officeDocument/2006/relationships/image" Target="../media/image123.png"/><Relationship Id="rId25" Type="http://schemas.openxmlformats.org/officeDocument/2006/relationships/image" Target="../media/image131.png"/><Relationship Id="rId33" Type="http://schemas.openxmlformats.org/officeDocument/2006/relationships/image" Target="../media/image139.png"/><Relationship Id="rId38" Type="http://schemas.openxmlformats.org/officeDocument/2006/relationships/image" Target="../media/image144.png"/><Relationship Id="rId2" Type="http://schemas.openxmlformats.org/officeDocument/2006/relationships/notesSlide" Target="../notesSlides/notesSlide6.xml"/><Relationship Id="rId16" Type="http://schemas.openxmlformats.org/officeDocument/2006/relationships/image" Target="../media/image122.png"/><Relationship Id="rId20" Type="http://schemas.openxmlformats.org/officeDocument/2006/relationships/image" Target="../media/image126.png"/><Relationship Id="rId29" Type="http://schemas.openxmlformats.org/officeDocument/2006/relationships/image" Target="../media/image135.png"/><Relationship Id="rId1" Type="http://schemas.openxmlformats.org/officeDocument/2006/relationships/slideLayout" Target="../slideLayouts/slideLayout1.xml"/><Relationship Id="rId6" Type="http://schemas.openxmlformats.org/officeDocument/2006/relationships/image" Target="../media/image112.png"/><Relationship Id="rId11" Type="http://schemas.openxmlformats.org/officeDocument/2006/relationships/image" Target="../media/image117.png"/><Relationship Id="rId24" Type="http://schemas.openxmlformats.org/officeDocument/2006/relationships/image" Target="../media/image130.png"/><Relationship Id="rId32" Type="http://schemas.openxmlformats.org/officeDocument/2006/relationships/image" Target="../media/image138.png"/><Relationship Id="rId37" Type="http://schemas.openxmlformats.org/officeDocument/2006/relationships/image" Target="../media/image143.png"/><Relationship Id="rId5" Type="http://schemas.openxmlformats.org/officeDocument/2006/relationships/image" Target="../media/image111.png"/><Relationship Id="rId15" Type="http://schemas.openxmlformats.org/officeDocument/2006/relationships/image" Target="../media/image121.png"/><Relationship Id="rId23" Type="http://schemas.openxmlformats.org/officeDocument/2006/relationships/image" Target="../media/image129.png"/><Relationship Id="rId28" Type="http://schemas.openxmlformats.org/officeDocument/2006/relationships/image" Target="../media/image134.png"/><Relationship Id="rId36" Type="http://schemas.openxmlformats.org/officeDocument/2006/relationships/image" Target="../media/image142.png"/><Relationship Id="rId10" Type="http://schemas.openxmlformats.org/officeDocument/2006/relationships/image" Target="../media/image116.png"/><Relationship Id="rId19" Type="http://schemas.openxmlformats.org/officeDocument/2006/relationships/image" Target="../media/image125.png"/><Relationship Id="rId31" Type="http://schemas.openxmlformats.org/officeDocument/2006/relationships/image" Target="../media/image137.png"/><Relationship Id="rId4" Type="http://schemas.openxmlformats.org/officeDocument/2006/relationships/image" Target="../media/image58.png"/><Relationship Id="rId9" Type="http://schemas.openxmlformats.org/officeDocument/2006/relationships/image" Target="../media/image115.png"/><Relationship Id="rId14" Type="http://schemas.openxmlformats.org/officeDocument/2006/relationships/image" Target="../media/image120.png"/><Relationship Id="rId22" Type="http://schemas.openxmlformats.org/officeDocument/2006/relationships/image" Target="../media/image128.png"/><Relationship Id="rId27" Type="http://schemas.openxmlformats.org/officeDocument/2006/relationships/image" Target="../media/image133.png"/><Relationship Id="rId30" Type="http://schemas.openxmlformats.org/officeDocument/2006/relationships/image" Target="../media/image136.png"/><Relationship Id="rId35" Type="http://schemas.openxmlformats.org/officeDocument/2006/relationships/image" Target="../media/image141.png"/><Relationship Id="rId8" Type="http://schemas.openxmlformats.org/officeDocument/2006/relationships/image" Target="../media/image114.png"/><Relationship Id="rId3" Type="http://schemas.openxmlformats.org/officeDocument/2006/relationships/image" Target="../media/image110.png"/></Relationships>
</file>

<file path=ppt/slides/_rels/slide7.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18" Type="http://schemas.openxmlformats.org/officeDocument/2006/relationships/image" Target="../media/image159.png"/><Relationship Id="rId26" Type="http://schemas.openxmlformats.org/officeDocument/2006/relationships/image" Target="../media/image167.png"/><Relationship Id="rId3" Type="http://schemas.openxmlformats.org/officeDocument/2006/relationships/image" Target="../media/image145.png"/><Relationship Id="rId21" Type="http://schemas.openxmlformats.org/officeDocument/2006/relationships/image" Target="../media/image162.png"/><Relationship Id="rId7" Type="http://schemas.openxmlformats.org/officeDocument/2006/relationships/image" Target="../media/image148.png"/><Relationship Id="rId12" Type="http://schemas.openxmlformats.org/officeDocument/2006/relationships/image" Target="../media/image153.png"/><Relationship Id="rId17" Type="http://schemas.openxmlformats.org/officeDocument/2006/relationships/image" Target="../media/image158.png"/><Relationship Id="rId25" Type="http://schemas.openxmlformats.org/officeDocument/2006/relationships/image" Target="../media/image166.png"/><Relationship Id="rId2" Type="http://schemas.openxmlformats.org/officeDocument/2006/relationships/notesSlide" Target="../notesSlides/notesSlide7.xml"/><Relationship Id="rId16" Type="http://schemas.openxmlformats.org/officeDocument/2006/relationships/image" Target="../media/image157.png"/><Relationship Id="rId20" Type="http://schemas.openxmlformats.org/officeDocument/2006/relationships/image" Target="../media/image161.png"/><Relationship Id="rId29" Type="http://schemas.openxmlformats.org/officeDocument/2006/relationships/image" Target="../media/image170.png"/><Relationship Id="rId1" Type="http://schemas.openxmlformats.org/officeDocument/2006/relationships/slideLayout" Target="../slideLayouts/slideLayout1.xml"/><Relationship Id="rId6" Type="http://schemas.openxmlformats.org/officeDocument/2006/relationships/image" Target="../media/image147.png"/><Relationship Id="rId11" Type="http://schemas.openxmlformats.org/officeDocument/2006/relationships/image" Target="../media/image152.png"/><Relationship Id="rId24" Type="http://schemas.openxmlformats.org/officeDocument/2006/relationships/image" Target="../media/image165.png"/><Relationship Id="rId5" Type="http://schemas.openxmlformats.org/officeDocument/2006/relationships/image" Target="../media/image146.png"/><Relationship Id="rId15" Type="http://schemas.openxmlformats.org/officeDocument/2006/relationships/image" Target="../media/image156.png"/><Relationship Id="rId23" Type="http://schemas.openxmlformats.org/officeDocument/2006/relationships/image" Target="../media/image164.png"/><Relationship Id="rId28" Type="http://schemas.openxmlformats.org/officeDocument/2006/relationships/image" Target="../media/image169.png"/><Relationship Id="rId10" Type="http://schemas.openxmlformats.org/officeDocument/2006/relationships/image" Target="../media/image151.png"/><Relationship Id="rId19" Type="http://schemas.openxmlformats.org/officeDocument/2006/relationships/image" Target="../media/image160.png"/><Relationship Id="rId4" Type="http://schemas.openxmlformats.org/officeDocument/2006/relationships/image" Target="../media/image58.png"/><Relationship Id="rId9" Type="http://schemas.openxmlformats.org/officeDocument/2006/relationships/image" Target="../media/image150.png"/><Relationship Id="rId14" Type="http://schemas.openxmlformats.org/officeDocument/2006/relationships/image" Target="../media/image155.png"/><Relationship Id="rId22" Type="http://schemas.openxmlformats.org/officeDocument/2006/relationships/image" Target="../media/image163.png"/><Relationship Id="rId27" Type="http://schemas.openxmlformats.org/officeDocument/2006/relationships/image" Target="../media/image168.png"/></Relationships>
</file>

<file path=ppt/slides/_rels/slide8.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51.png"/><Relationship Id="rId18" Type="http://schemas.openxmlformats.org/officeDocument/2006/relationships/image" Target="../media/image184.png"/><Relationship Id="rId26" Type="http://schemas.openxmlformats.org/officeDocument/2006/relationships/image" Target="../media/image191.png"/><Relationship Id="rId3" Type="http://schemas.openxmlformats.org/officeDocument/2006/relationships/image" Target="../media/image171.png"/><Relationship Id="rId21" Type="http://schemas.openxmlformats.org/officeDocument/2006/relationships/image" Target="../media/image187.png"/><Relationship Id="rId7" Type="http://schemas.openxmlformats.org/officeDocument/2006/relationships/image" Target="../media/image175.png"/><Relationship Id="rId12" Type="http://schemas.openxmlformats.org/officeDocument/2006/relationships/image" Target="../media/image179.png"/><Relationship Id="rId17" Type="http://schemas.openxmlformats.org/officeDocument/2006/relationships/image" Target="../media/image183.png"/><Relationship Id="rId25" Type="http://schemas.openxmlformats.org/officeDocument/2006/relationships/image" Target="../media/image190.png"/><Relationship Id="rId2" Type="http://schemas.openxmlformats.org/officeDocument/2006/relationships/notesSlide" Target="../notesSlides/notesSlide8.xml"/><Relationship Id="rId16" Type="http://schemas.openxmlformats.org/officeDocument/2006/relationships/image" Target="../media/image182.png"/><Relationship Id="rId20" Type="http://schemas.openxmlformats.org/officeDocument/2006/relationships/image" Target="../media/image186.png"/><Relationship Id="rId29" Type="http://schemas.openxmlformats.org/officeDocument/2006/relationships/image" Target="../media/image194.png"/><Relationship Id="rId1" Type="http://schemas.openxmlformats.org/officeDocument/2006/relationships/slideLayout" Target="../slideLayouts/slideLayout1.xml"/><Relationship Id="rId6" Type="http://schemas.openxmlformats.org/officeDocument/2006/relationships/image" Target="../media/image174.png"/><Relationship Id="rId11" Type="http://schemas.openxmlformats.org/officeDocument/2006/relationships/image" Target="../media/image178.png"/><Relationship Id="rId24" Type="http://schemas.openxmlformats.org/officeDocument/2006/relationships/image" Target="../media/image189.png"/><Relationship Id="rId5" Type="http://schemas.openxmlformats.org/officeDocument/2006/relationships/image" Target="../media/image173.png"/><Relationship Id="rId15" Type="http://schemas.openxmlformats.org/officeDocument/2006/relationships/image" Target="../media/image181.png"/><Relationship Id="rId23" Type="http://schemas.openxmlformats.org/officeDocument/2006/relationships/image" Target="../media/image188.png"/><Relationship Id="rId28" Type="http://schemas.openxmlformats.org/officeDocument/2006/relationships/image" Target="../media/image193.png"/><Relationship Id="rId10" Type="http://schemas.openxmlformats.org/officeDocument/2006/relationships/image" Target="../media/image45.png"/><Relationship Id="rId19" Type="http://schemas.openxmlformats.org/officeDocument/2006/relationships/image" Target="../media/image185.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0.png"/><Relationship Id="rId22" Type="http://schemas.openxmlformats.org/officeDocument/2006/relationships/image" Target="../media/image48.png"/><Relationship Id="rId27" Type="http://schemas.openxmlformats.org/officeDocument/2006/relationships/image" Target="../media/image192.png"/></Relationships>
</file>

<file path=ppt/slides/_rels/slide9.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3.png"/><Relationship Id="rId18" Type="http://schemas.openxmlformats.org/officeDocument/2006/relationships/image" Target="../media/image208.png"/><Relationship Id="rId26" Type="http://schemas.openxmlformats.org/officeDocument/2006/relationships/image" Target="../media/image216.png"/><Relationship Id="rId3" Type="http://schemas.openxmlformats.org/officeDocument/2006/relationships/image" Target="../media/image145.png"/><Relationship Id="rId21" Type="http://schemas.openxmlformats.org/officeDocument/2006/relationships/image" Target="../media/image211.png"/><Relationship Id="rId7" Type="http://schemas.openxmlformats.org/officeDocument/2006/relationships/image" Target="../media/image197.png"/><Relationship Id="rId12" Type="http://schemas.openxmlformats.org/officeDocument/2006/relationships/image" Target="../media/image202.png"/><Relationship Id="rId17" Type="http://schemas.openxmlformats.org/officeDocument/2006/relationships/image" Target="../media/image207.png"/><Relationship Id="rId25" Type="http://schemas.openxmlformats.org/officeDocument/2006/relationships/image" Target="../media/image215.png"/><Relationship Id="rId2" Type="http://schemas.openxmlformats.org/officeDocument/2006/relationships/notesSlide" Target="../notesSlides/notesSlide9.xml"/><Relationship Id="rId16" Type="http://schemas.openxmlformats.org/officeDocument/2006/relationships/image" Target="../media/image206.png"/><Relationship Id="rId20" Type="http://schemas.openxmlformats.org/officeDocument/2006/relationships/image" Target="../media/image210.png"/><Relationship Id="rId29" Type="http://schemas.openxmlformats.org/officeDocument/2006/relationships/image" Target="../media/image219.png"/><Relationship Id="rId1" Type="http://schemas.openxmlformats.org/officeDocument/2006/relationships/slideLayout" Target="../slideLayouts/slideLayout1.xml"/><Relationship Id="rId6" Type="http://schemas.openxmlformats.org/officeDocument/2006/relationships/image" Target="../media/image196.png"/><Relationship Id="rId11" Type="http://schemas.openxmlformats.org/officeDocument/2006/relationships/image" Target="../media/image201.png"/><Relationship Id="rId24" Type="http://schemas.openxmlformats.org/officeDocument/2006/relationships/image" Target="../media/image214.png"/><Relationship Id="rId5" Type="http://schemas.openxmlformats.org/officeDocument/2006/relationships/image" Target="../media/image195.png"/><Relationship Id="rId15" Type="http://schemas.openxmlformats.org/officeDocument/2006/relationships/image" Target="../media/image205.png"/><Relationship Id="rId23" Type="http://schemas.openxmlformats.org/officeDocument/2006/relationships/image" Target="../media/image213.png"/><Relationship Id="rId28" Type="http://schemas.openxmlformats.org/officeDocument/2006/relationships/image" Target="../media/image218.png"/><Relationship Id="rId10" Type="http://schemas.openxmlformats.org/officeDocument/2006/relationships/image" Target="../media/image200.png"/><Relationship Id="rId19" Type="http://schemas.openxmlformats.org/officeDocument/2006/relationships/image" Target="../media/image209.png"/><Relationship Id="rId4" Type="http://schemas.openxmlformats.org/officeDocument/2006/relationships/image" Target="../media/image172.png"/><Relationship Id="rId9" Type="http://schemas.openxmlformats.org/officeDocument/2006/relationships/image" Target="../media/image199.png"/><Relationship Id="rId14" Type="http://schemas.openxmlformats.org/officeDocument/2006/relationships/image" Target="../media/image204.png"/><Relationship Id="rId22" Type="http://schemas.openxmlformats.org/officeDocument/2006/relationships/image" Target="../media/image212.png"/><Relationship Id="rId27" Type="http://schemas.openxmlformats.org/officeDocument/2006/relationships/image" Target="../media/image217.png"/></Relationships>
</file>

<file path=ppt/slides/_rels/slide10.xml.rels><?xml version="1.0" encoding="UTF-8" standalone="yes"?>
<Relationships xmlns="http://schemas.openxmlformats.org/package/2006/relationships"><Relationship Id="rId8" Type="http://schemas.openxmlformats.org/officeDocument/2006/relationships/image" Target="../media/image224.png"/><Relationship Id="rId13" Type="http://schemas.openxmlformats.org/officeDocument/2006/relationships/image" Target="../media/image229.png"/><Relationship Id="rId18" Type="http://schemas.openxmlformats.org/officeDocument/2006/relationships/image" Target="../media/image234.png"/><Relationship Id="rId26" Type="http://schemas.openxmlformats.org/officeDocument/2006/relationships/image" Target="../media/image242.png"/><Relationship Id="rId3" Type="http://schemas.openxmlformats.org/officeDocument/2006/relationships/image" Target="../media/image220.png"/><Relationship Id="rId21" Type="http://schemas.openxmlformats.org/officeDocument/2006/relationships/image" Target="../media/image237.png"/><Relationship Id="rId7" Type="http://schemas.openxmlformats.org/officeDocument/2006/relationships/image" Target="../media/image223.png"/><Relationship Id="rId12" Type="http://schemas.openxmlformats.org/officeDocument/2006/relationships/image" Target="../media/image228.png"/><Relationship Id="rId17" Type="http://schemas.openxmlformats.org/officeDocument/2006/relationships/image" Target="../media/image233.png"/><Relationship Id="rId25" Type="http://schemas.openxmlformats.org/officeDocument/2006/relationships/image" Target="../media/image241.png"/><Relationship Id="rId2" Type="http://schemas.openxmlformats.org/officeDocument/2006/relationships/notesSlide" Target="../notesSlides/notesSlide10.xml"/><Relationship Id="rId16" Type="http://schemas.openxmlformats.org/officeDocument/2006/relationships/image" Target="../media/image232.png"/><Relationship Id="rId20" Type="http://schemas.openxmlformats.org/officeDocument/2006/relationships/image" Target="../media/image236.png"/><Relationship Id="rId1" Type="http://schemas.openxmlformats.org/officeDocument/2006/relationships/slideLayout" Target="../slideLayouts/slideLayout1.xml"/><Relationship Id="rId6" Type="http://schemas.openxmlformats.org/officeDocument/2006/relationships/image" Target="../media/image222.png"/><Relationship Id="rId11" Type="http://schemas.openxmlformats.org/officeDocument/2006/relationships/image" Target="../media/image227.png"/><Relationship Id="rId24" Type="http://schemas.openxmlformats.org/officeDocument/2006/relationships/image" Target="../media/image240.png"/><Relationship Id="rId5" Type="http://schemas.openxmlformats.org/officeDocument/2006/relationships/image" Target="../media/image221.png"/><Relationship Id="rId15" Type="http://schemas.openxmlformats.org/officeDocument/2006/relationships/image" Target="../media/image231.png"/><Relationship Id="rId23" Type="http://schemas.openxmlformats.org/officeDocument/2006/relationships/image" Target="../media/image239.png"/><Relationship Id="rId10" Type="http://schemas.openxmlformats.org/officeDocument/2006/relationships/image" Target="../media/image226.png"/><Relationship Id="rId19" Type="http://schemas.openxmlformats.org/officeDocument/2006/relationships/image" Target="../media/image235.png"/><Relationship Id="rId4" Type="http://schemas.openxmlformats.org/officeDocument/2006/relationships/image" Target="../media/image172.png"/><Relationship Id="rId9" Type="http://schemas.openxmlformats.org/officeDocument/2006/relationships/image" Target="../media/image225.png"/><Relationship Id="rId14" Type="http://schemas.openxmlformats.org/officeDocument/2006/relationships/image" Target="../media/image230.png"/><Relationship Id="rId22" Type="http://schemas.openxmlformats.org/officeDocument/2006/relationships/image" Target="../media/image238.png"/></Relationships>
</file>

<file path=ppt/slides/_rels/slide11.xml.rels><?xml version="1.0" encoding="UTF-8" standalone="yes"?>
<Relationships xmlns="http://schemas.openxmlformats.org/package/2006/relationships"><Relationship Id="rId8" Type="http://schemas.openxmlformats.org/officeDocument/2006/relationships/image" Target="../media/image246.png"/><Relationship Id="rId13" Type="http://schemas.openxmlformats.org/officeDocument/2006/relationships/image" Target="../media/image251.png"/><Relationship Id="rId18" Type="http://schemas.openxmlformats.org/officeDocument/2006/relationships/image" Target="../media/image256.png"/><Relationship Id="rId3" Type="http://schemas.openxmlformats.org/officeDocument/2006/relationships/image" Target="../media/image145.png"/><Relationship Id="rId7" Type="http://schemas.openxmlformats.org/officeDocument/2006/relationships/image" Target="../media/image245.png"/><Relationship Id="rId12" Type="http://schemas.openxmlformats.org/officeDocument/2006/relationships/image" Target="../media/image250.png"/><Relationship Id="rId17" Type="http://schemas.openxmlformats.org/officeDocument/2006/relationships/image" Target="../media/image255.png"/><Relationship Id="rId2" Type="http://schemas.openxmlformats.org/officeDocument/2006/relationships/notesSlide" Target="../notesSlides/notesSlide11.xml"/><Relationship Id="rId16" Type="http://schemas.openxmlformats.org/officeDocument/2006/relationships/image" Target="../media/image254.png"/><Relationship Id="rId1" Type="http://schemas.openxmlformats.org/officeDocument/2006/relationships/slideLayout" Target="../slideLayouts/slideLayout1.xml"/><Relationship Id="rId6" Type="http://schemas.openxmlformats.org/officeDocument/2006/relationships/image" Target="../media/image244.png"/><Relationship Id="rId11" Type="http://schemas.openxmlformats.org/officeDocument/2006/relationships/image" Target="../media/image249.png"/><Relationship Id="rId5" Type="http://schemas.openxmlformats.org/officeDocument/2006/relationships/image" Target="../media/image243.png"/><Relationship Id="rId15" Type="http://schemas.openxmlformats.org/officeDocument/2006/relationships/image" Target="../media/image253.png"/><Relationship Id="rId10" Type="http://schemas.openxmlformats.org/officeDocument/2006/relationships/image" Target="../media/image248.png"/><Relationship Id="rId19" Type="http://schemas.openxmlformats.org/officeDocument/2006/relationships/image" Target="../media/image257.png"/><Relationship Id="rId4" Type="http://schemas.openxmlformats.org/officeDocument/2006/relationships/image" Target="../media/image23.png"/><Relationship Id="rId9" Type="http://schemas.openxmlformats.org/officeDocument/2006/relationships/image" Target="../media/image247.png"/><Relationship Id="rId14" Type="http://schemas.openxmlformats.org/officeDocument/2006/relationships/image" Target="../media/image25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1028700"/>
            <a:ext cx="4063901" cy="19050"/>
          </a:xfrm>
          <a:prstGeom prst="rect">
            <a:avLst/>
          </a:prstGeom>
        </p:spPr>
      </p:pic>
      <p:pic>
        <p:nvPicPr>
          <p:cNvPr id="4" name="Image 2" descr="preencoded.png"/>
          <p:cNvPicPr>
            <a:picLocks noChangeAspect="1"/>
          </p:cNvPicPr>
          <p:nvPr/>
        </p:nvPicPr>
        <p:blipFill>
          <a:blip r:embed="rId5"/>
          <a:stretch>
            <a:fillRect/>
          </a:stretch>
        </p:blipFill>
        <p:spPr>
          <a:xfrm>
            <a:off x="9144000" y="2400300"/>
            <a:ext cx="3048000" cy="19050"/>
          </a:xfrm>
          <a:prstGeom prst="rect">
            <a:avLst/>
          </a:prstGeom>
        </p:spPr>
      </p:pic>
      <p:pic>
        <p:nvPicPr>
          <p:cNvPr id="5" name="Image 3" descr="preencoded.png"/>
          <p:cNvPicPr>
            <a:picLocks noChangeAspect="1"/>
          </p:cNvPicPr>
          <p:nvPr/>
        </p:nvPicPr>
        <p:blipFill>
          <a:blip r:embed="rId6"/>
          <a:stretch>
            <a:fillRect/>
          </a:stretch>
        </p:blipFill>
        <p:spPr>
          <a:xfrm>
            <a:off x="0" y="3771900"/>
            <a:ext cx="6096000" cy="19050"/>
          </a:xfrm>
          <a:prstGeom prst="rect">
            <a:avLst/>
          </a:prstGeom>
        </p:spPr>
      </p:pic>
      <p:pic>
        <p:nvPicPr>
          <p:cNvPr id="6" name="Image 4" descr="preencoded.png"/>
          <p:cNvPicPr>
            <a:picLocks noChangeAspect="1"/>
          </p:cNvPicPr>
          <p:nvPr/>
        </p:nvPicPr>
        <p:blipFill>
          <a:blip r:embed="rId7"/>
          <a:stretch>
            <a:fillRect/>
          </a:stretch>
        </p:blipFill>
        <p:spPr>
          <a:xfrm>
            <a:off x="4064050" y="5143500"/>
            <a:ext cx="8127950" cy="19050"/>
          </a:xfrm>
          <a:prstGeom prst="rect">
            <a:avLst/>
          </a:prstGeom>
        </p:spPr>
      </p:pic>
      <p:pic>
        <p:nvPicPr>
          <p:cNvPr id="7" name="Image 5" descr="preencoded.png"/>
          <p:cNvPicPr>
            <a:picLocks noChangeAspect="1"/>
          </p:cNvPicPr>
          <p:nvPr/>
        </p:nvPicPr>
        <p:blipFill>
          <a:blip r:embed="rId8"/>
          <a:stretch>
            <a:fillRect/>
          </a:stretch>
        </p:blipFill>
        <p:spPr>
          <a:xfrm>
            <a:off x="3048000" y="0"/>
            <a:ext cx="19050" cy="2286000"/>
          </a:xfrm>
          <a:prstGeom prst="rect">
            <a:avLst/>
          </a:prstGeom>
        </p:spPr>
      </p:pic>
      <p:pic>
        <p:nvPicPr>
          <p:cNvPr id="8" name="Image 6" descr="preencoded.png"/>
          <p:cNvPicPr>
            <a:picLocks noChangeAspect="1"/>
          </p:cNvPicPr>
          <p:nvPr/>
        </p:nvPicPr>
        <p:blipFill>
          <a:blip r:embed="rId9"/>
          <a:stretch>
            <a:fillRect/>
          </a:stretch>
        </p:blipFill>
        <p:spPr>
          <a:xfrm>
            <a:off x="7905750" y="0"/>
            <a:ext cx="19050" cy="1714500"/>
          </a:xfrm>
          <a:prstGeom prst="rect">
            <a:avLst/>
          </a:prstGeom>
        </p:spPr>
      </p:pic>
      <p:pic>
        <p:nvPicPr>
          <p:cNvPr id="9" name="Image 7" descr="preencoded.png"/>
          <p:cNvPicPr>
            <a:picLocks noChangeAspect="1"/>
          </p:cNvPicPr>
          <p:nvPr/>
        </p:nvPicPr>
        <p:blipFill>
          <a:blip r:embed="rId10"/>
          <a:stretch>
            <a:fillRect/>
          </a:stretch>
        </p:blipFill>
        <p:spPr>
          <a:xfrm>
            <a:off x="1828800" y="3429000"/>
            <a:ext cx="19050" cy="3429000"/>
          </a:xfrm>
          <a:prstGeom prst="rect">
            <a:avLst/>
          </a:prstGeom>
        </p:spPr>
      </p:pic>
      <p:pic>
        <p:nvPicPr>
          <p:cNvPr id="10" name="Image 8" descr="preencoded.png"/>
          <p:cNvPicPr>
            <a:picLocks noChangeAspect="1"/>
          </p:cNvPicPr>
          <p:nvPr/>
        </p:nvPicPr>
        <p:blipFill>
          <a:blip r:embed="rId11"/>
          <a:stretch>
            <a:fillRect/>
          </a:stretch>
        </p:blipFill>
        <p:spPr>
          <a:xfrm>
            <a:off x="9124950" y="2286000"/>
            <a:ext cx="19050" cy="4572000"/>
          </a:xfrm>
          <a:prstGeom prst="rect">
            <a:avLst/>
          </a:prstGeom>
        </p:spPr>
      </p:pic>
      <p:pic>
        <p:nvPicPr>
          <p:cNvPr id="11" name="Image 9" descr="preencoded.png"/>
          <p:cNvPicPr>
            <a:picLocks noChangeAspect="1"/>
          </p:cNvPicPr>
          <p:nvPr/>
        </p:nvPicPr>
        <p:blipFill>
          <a:blip r:embed="rId12"/>
          <a:stretch>
            <a:fillRect/>
          </a:stretch>
        </p:blipFill>
        <p:spPr>
          <a:xfrm>
            <a:off x="609600" y="685800"/>
            <a:ext cx="1143000" cy="1143000"/>
          </a:xfrm>
          <a:prstGeom prst="rect">
            <a:avLst/>
          </a:prstGeom>
        </p:spPr>
      </p:pic>
      <p:pic>
        <p:nvPicPr>
          <p:cNvPr id="12" name="Image 10" descr="preencoded.png"/>
          <p:cNvPicPr>
            <a:picLocks noChangeAspect="1"/>
          </p:cNvPicPr>
          <p:nvPr/>
        </p:nvPicPr>
        <p:blipFill>
          <a:blip r:embed="rId13"/>
          <a:stretch>
            <a:fillRect/>
          </a:stretch>
        </p:blipFill>
        <p:spPr>
          <a:xfrm>
            <a:off x="9753600" y="4800600"/>
            <a:ext cx="762000" cy="762000"/>
          </a:xfrm>
          <a:prstGeom prst="rect">
            <a:avLst/>
          </a:prstGeom>
        </p:spPr>
      </p:pic>
      <p:pic>
        <p:nvPicPr>
          <p:cNvPr id="13" name="Image 11" descr="preencoded.png"/>
          <p:cNvPicPr>
            <a:picLocks noChangeAspect="1"/>
          </p:cNvPicPr>
          <p:nvPr/>
        </p:nvPicPr>
        <p:blipFill>
          <a:blip r:embed="rId14"/>
          <a:stretch>
            <a:fillRect/>
          </a:stretch>
        </p:blipFill>
        <p:spPr>
          <a:xfrm>
            <a:off x="10363200" y="1371600"/>
            <a:ext cx="952500" cy="952500"/>
          </a:xfrm>
          <a:prstGeom prst="rect">
            <a:avLst/>
          </a:prstGeom>
        </p:spPr>
      </p:pic>
      <p:pic>
        <p:nvPicPr>
          <p:cNvPr id="14" name="Image 12" descr="preencoded.png"/>
          <p:cNvPicPr>
            <a:picLocks noChangeAspect="1"/>
          </p:cNvPicPr>
          <p:nvPr/>
        </p:nvPicPr>
        <p:blipFill>
          <a:blip r:embed="rId15"/>
          <a:stretch>
            <a:fillRect/>
          </a:stretch>
        </p:blipFill>
        <p:spPr>
          <a:xfrm>
            <a:off x="2438400" y="5486400"/>
            <a:ext cx="571500" cy="571500"/>
          </a:xfrm>
          <a:prstGeom prst="rect">
            <a:avLst/>
          </a:prstGeom>
        </p:spPr>
      </p:pic>
      <p:pic>
        <p:nvPicPr>
          <p:cNvPr id="15" name="Image 13" descr="preencoded.png"/>
          <p:cNvPicPr>
            <a:picLocks noChangeAspect="1"/>
          </p:cNvPicPr>
          <p:nvPr/>
        </p:nvPicPr>
        <p:blipFill>
          <a:blip r:embed="rId16"/>
          <a:stretch>
            <a:fillRect/>
          </a:stretch>
        </p:blipFill>
        <p:spPr>
          <a:xfrm>
            <a:off x="1828800" y="4114800"/>
            <a:ext cx="857250" cy="857250"/>
          </a:xfrm>
          <a:prstGeom prst="rect">
            <a:avLst/>
          </a:prstGeom>
        </p:spPr>
      </p:pic>
      <p:pic>
        <p:nvPicPr>
          <p:cNvPr id="16" name="Image 14" descr="preencoded.png"/>
          <p:cNvPicPr>
            <a:picLocks noChangeAspect="1"/>
          </p:cNvPicPr>
          <p:nvPr/>
        </p:nvPicPr>
        <p:blipFill>
          <a:blip r:embed="rId17"/>
          <a:stretch>
            <a:fillRect/>
          </a:stretch>
        </p:blipFill>
        <p:spPr>
          <a:xfrm>
            <a:off x="1828800" y="1200150"/>
            <a:ext cx="8534400" cy="4457700"/>
          </a:xfrm>
          <a:prstGeom prst="rect">
            <a:avLst/>
          </a:prstGeom>
        </p:spPr>
      </p:pic>
      <p:pic>
        <p:nvPicPr>
          <p:cNvPr id="17" name="Image 15" descr="preencoded.png"/>
          <p:cNvPicPr>
            <a:picLocks noChangeAspect="1"/>
          </p:cNvPicPr>
          <p:nvPr/>
        </p:nvPicPr>
        <p:blipFill>
          <a:blip r:embed="rId18"/>
          <a:stretch>
            <a:fillRect/>
          </a:stretch>
        </p:blipFill>
        <p:spPr>
          <a:xfrm>
            <a:off x="3561159" y="3295650"/>
            <a:ext cx="609600" cy="609600"/>
          </a:xfrm>
          <a:prstGeom prst="rect">
            <a:avLst/>
          </a:prstGeom>
        </p:spPr>
      </p:pic>
      <p:pic>
        <p:nvPicPr>
          <p:cNvPr id="18" name="Image 16" descr="preencoded.png"/>
          <p:cNvPicPr>
            <a:picLocks noChangeAspect="1"/>
          </p:cNvPicPr>
          <p:nvPr/>
        </p:nvPicPr>
        <p:blipFill>
          <a:blip r:embed="rId19"/>
          <a:stretch>
            <a:fillRect/>
          </a:stretch>
        </p:blipFill>
        <p:spPr>
          <a:xfrm>
            <a:off x="5691783" y="3295650"/>
            <a:ext cx="609600" cy="609600"/>
          </a:xfrm>
          <a:prstGeom prst="rect">
            <a:avLst/>
          </a:prstGeom>
        </p:spPr>
      </p:pic>
      <p:pic>
        <p:nvPicPr>
          <p:cNvPr id="19" name="Image 17" descr="preencoded.png"/>
          <p:cNvPicPr>
            <a:picLocks noChangeAspect="1"/>
          </p:cNvPicPr>
          <p:nvPr/>
        </p:nvPicPr>
        <p:blipFill>
          <a:blip r:embed="rId20"/>
          <a:stretch>
            <a:fillRect/>
          </a:stretch>
        </p:blipFill>
        <p:spPr>
          <a:xfrm>
            <a:off x="7921823" y="3295650"/>
            <a:ext cx="609600" cy="609600"/>
          </a:xfrm>
          <a:prstGeom prst="rect">
            <a:avLst/>
          </a:prstGeom>
        </p:spPr>
      </p:pic>
      <p:pic>
        <p:nvPicPr>
          <p:cNvPr id="20" name="Image 18" descr="preencoded.png"/>
          <p:cNvPicPr>
            <a:picLocks noChangeAspect="1"/>
          </p:cNvPicPr>
          <p:nvPr/>
        </p:nvPicPr>
        <p:blipFill>
          <a:blip r:embed="rId21"/>
          <a:stretch>
            <a:fillRect/>
          </a:stretch>
        </p:blipFill>
        <p:spPr>
          <a:xfrm>
            <a:off x="2861667" y="4895850"/>
            <a:ext cx="381000" cy="381000"/>
          </a:xfrm>
          <a:prstGeom prst="rect">
            <a:avLst/>
          </a:prstGeom>
        </p:spPr>
      </p:pic>
      <p:pic>
        <p:nvPicPr>
          <p:cNvPr id="21" name="Image 19" descr="preencoded.png"/>
          <p:cNvPicPr>
            <a:picLocks noChangeAspect="1"/>
          </p:cNvPicPr>
          <p:nvPr/>
        </p:nvPicPr>
        <p:blipFill>
          <a:blip r:embed="rId22"/>
          <a:stretch>
            <a:fillRect/>
          </a:stretch>
        </p:blipFill>
        <p:spPr>
          <a:xfrm>
            <a:off x="5179516" y="4895850"/>
            <a:ext cx="381000" cy="381000"/>
          </a:xfrm>
          <a:prstGeom prst="rect">
            <a:avLst/>
          </a:prstGeom>
        </p:spPr>
      </p:pic>
      <p:pic>
        <p:nvPicPr>
          <p:cNvPr id="22" name="Image 20" descr="preencoded.png"/>
          <p:cNvPicPr>
            <a:picLocks noChangeAspect="1"/>
          </p:cNvPicPr>
          <p:nvPr/>
        </p:nvPicPr>
        <p:blipFill>
          <a:blip r:embed="rId23"/>
          <a:stretch>
            <a:fillRect/>
          </a:stretch>
        </p:blipFill>
        <p:spPr>
          <a:xfrm>
            <a:off x="7116961" y="4895850"/>
            <a:ext cx="381000" cy="381000"/>
          </a:xfrm>
          <a:prstGeom prst="rect">
            <a:avLst/>
          </a:prstGeom>
        </p:spPr>
      </p:pic>
      <p:sp>
        <p:nvSpPr>
          <p:cNvPr id="23" name="Text 0"/>
          <p:cNvSpPr/>
          <p:nvPr/>
        </p:nvSpPr>
        <p:spPr>
          <a:xfrm>
            <a:off x="2286000" y="1581150"/>
            <a:ext cx="7620000" cy="914400"/>
          </a:xfrm>
          <a:prstGeom prst="rect">
            <a:avLst/>
          </a:prstGeom>
          <a:noFill/>
          <a:ln/>
        </p:spPr>
        <p:txBody>
          <a:bodyPr wrap="square" lIns="0" tIns="0" rIns="0" bIns="0" rtlCol="0" anchor="t"/>
          <a:lstStyle/>
          <a:p>
            <a:pPr marL="0" indent="0" algn="ctr">
              <a:lnSpc>
                <a:spcPts val="3600"/>
              </a:lnSpc>
              <a:buNone/>
            </a:pPr>
            <a:r>
              <a:rPr lang="en-US" sz="3600" b="1" dirty="0">
                <a:solidFill>
                  <a:srgbClr val="1F2937"/>
                </a:solidFill>
                <a:latin typeface="ui-sans-serif" pitchFamily="34" charset="0"/>
                <a:ea typeface="ui-sans-serif" pitchFamily="34" charset="-122"/>
                <a:cs typeface="ui-sans-serif" pitchFamily="34" charset="-120"/>
              </a:rPr>
              <a:t>Process Management &amp; System Performance</a:t>
            </a:r>
            <a:endParaRPr lang="en-US" sz="3600" dirty="0"/>
          </a:p>
        </p:txBody>
      </p:sp>
      <p:sp>
        <p:nvSpPr>
          <p:cNvPr id="24" name="Text 1"/>
          <p:cNvSpPr/>
          <p:nvPr/>
        </p:nvSpPr>
        <p:spPr>
          <a:xfrm>
            <a:off x="1524000" y="2647950"/>
            <a:ext cx="9144000" cy="342900"/>
          </a:xfrm>
          <a:prstGeom prst="rect">
            <a:avLst/>
          </a:prstGeom>
          <a:noFill/>
          <a:ln/>
        </p:spPr>
        <p:txBody>
          <a:bodyPr wrap="square" lIns="0" tIns="0" rIns="0" bIns="0" rtlCol="0" anchor="t"/>
          <a:lstStyle/>
          <a:p>
            <a:pPr marL="0" indent="0" algn="ctr">
              <a:lnSpc>
                <a:spcPts val="2700"/>
              </a:lnSpc>
              <a:buNone/>
            </a:pPr>
            <a:r>
              <a:rPr lang="en-US" sz="2250" b="1" dirty="0">
                <a:solidFill>
                  <a:srgbClr val="374151"/>
                </a:solidFill>
                <a:latin typeface="ui-sans-serif" pitchFamily="34" charset="0"/>
                <a:ea typeface="ui-sans-serif" pitchFamily="34" charset="-122"/>
                <a:cs typeface="ui-sans-serif" pitchFamily="34" charset="-120"/>
              </a:rPr>
              <a:t>From Theory to Practice</a:t>
            </a:r>
            <a:endParaRPr lang="en-US" sz="2250" dirty="0"/>
          </a:p>
        </p:txBody>
      </p:sp>
      <p:sp>
        <p:nvSpPr>
          <p:cNvPr id="25" name="Text 2"/>
          <p:cNvSpPr/>
          <p:nvPr/>
        </p:nvSpPr>
        <p:spPr>
          <a:xfrm>
            <a:off x="2887623" y="3981450"/>
            <a:ext cx="1956673" cy="228600"/>
          </a:xfrm>
          <a:prstGeom prst="rect">
            <a:avLst/>
          </a:prstGeom>
          <a:noFill/>
          <a:ln/>
        </p:spPr>
        <p:txBody>
          <a:bodyPr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Process Management</a:t>
            </a:r>
            <a:endParaRPr lang="en-US" sz="1200" dirty="0"/>
          </a:p>
        </p:txBody>
      </p:sp>
      <p:sp>
        <p:nvSpPr>
          <p:cNvPr id="26" name="Text 3"/>
          <p:cNvSpPr/>
          <p:nvPr/>
        </p:nvSpPr>
        <p:spPr>
          <a:xfrm>
            <a:off x="4966796" y="3981450"/>
            <a:ext cx="2059722" cy="228600"/>
          </a:xfrm>
          <a:prstGeom prst="rect">
            <a:avLst/>
          </a:prstGeom>
          <a:noFill/>
          <a:ln/>
        </p:spPr>
        <p:txBody>
          <a:bodyPr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Scheduling Algorithms</a:t>
            </a:r>
            <a:endParaRPr lang="en-US" sz="1200" dirty="0"/>
          </a:p>
        </p:txBody>
      </p:sp>
      <p:sp>
        <p:nvSpPr>
          <p:cNvPr id="27" name="Text 4"/>
          <p:cNvSpPr/>
          <p:nvPr/>
        </p:nvSpPr>
        <p:spPr>
          <a:xfrm>
            <a:off x="7129150" y="3981450"/>
            <a:ext cx="2195096" cy="228600"/>
          </a:xfrm>
          <a:prstGeom prst="rect">
            <a:avLst/>
          </a:prstGeom>
          <a:noFill/>
          <a:ln/>
        </p:spPr>
        <p:txBody>
          <a:bodyPr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Performance Monitoring</a:t>
            </a:r>
            <a:endParaRPr lang="en-US" sz="1200" dirty="0"/>
          </a:p>
        </p:txBody>
      </p:sp>
      <p:sp>
        <p:nvSpPr>
          <p:cNvPr id="28" name="Text 5"/>
          <p:cNvSpPr/>
          <p:nvPr/>
        </p:nvSpPr>
        <p:spPr>
          <a:xfrm>
            <a:off x="2286000" y="4514850"/>
            <a:ext cx="7620000" cy="266700"/>
          </a:xfrm>
          <a:prstGeom prst="rect">
            <a:avLst/>
          </a:prstGeom>
          <a:noFill/>
          <a:ln/>
        </p:spPr>
        <p:txBody>
          <a:bodyPr wrap="square" lIns="0" tIns="0" rIns="0" bIns="0" rtlCol="0" anchor="t"/>
          <a:lstStyle/>
          <a:p>
            <a:pPr marL="0" indent="0" algn="ctr">
              <a:lnSpc>
                <a:spcPts val="2100"/>
              </a:lnSpc>
              <a:buNone/>
            </a:pPr>
            <a:r>
              <a:rPr lang="en-US" sz="1500" b="1" dirty="0">
                <a:solidFill>
                  <a:srgbClr val="374151"/>
                </a:solidFill>
                <a:latin typeface="ui-sans-serif" pitchFamily="34" charset="0"/>
                <a:ea typeface="ui-sans-serif" pitchFamily="34" charset="-122"/>
                <a:cs typeface="ui-sans-serif" pitchFamily="34" charset="-120"/>
              </a:rPr>
              <a:t>Learning Objectives</a:t>
            </a:r>
            <a:endParaRPr lang="en-US" sz="1500" dirty="0"/>
          </a:p>
        </p:txBody>
      </p:sp>
      <p:sp>
        <p:nvSpPr>
          <p:cNvPr id="29" name="Text 6"/>
          <p:cNvSpPr/>
          <p:nvPr/>
        </p:nvSpPr>
        <p:spPr>
          <a:xfrm>
            <a:off x="2988424" y="4972050"/>
            <a:ext cx="127337" cy="228600"/>
          </a:xfrm>
          <a:prstGeom prst="rect">
            <a:avLst/>
          </a:prstGeom>
          <a:noFill/>
          <a:ln/>
        </p:spPr>
        <p:txBody>
          <a:bodyPr wrap="square" lIns="0" tIns="0" rIns="0" bIns="0" rtlCol="0" anchor="t"/>
          <a:lstStyle/>
          <a:p>
            <a:pPr marL="0" indent="0" algn="ctr">
              <a:lnSpc>
                <a:spcPts val="1800"/>
              </a:lnSpc>
              <a:buNone/>
            </a:pPr>
            <a:r>
              <a:rPr lang="en-US" sz="1200" b="1" dirty="0">
                <a:solidFill>
                  <a:srgbClr val="FFFFFF"/>
                </a:solidFill>
                <a:latin typeface="ui-sans-serif" pitchFamily="34" charset="0"/>
                <a:ea typeface="ui-sans-serif" pitchFamily="34" charset="-122"/>
                <a:cs typeface="ui-sans-serif" pitchFamily="34" charset="-120"/>
              </a:rPr>
              <a:t>1</a:t>
            </a:r>
            <a:endParaRPr lang="en-US" sz="1200" dirty="0"/>
          </a:p>
        </p:txBody>
      </p:sp>
      <p:sp>
        <p:nvSpPr>
          <p:cNvPr id="30" name="Text 7"/>
          <p:cNvSpPr/>
          <p:nvPr/>
        </p:nvSpPr>
        <p:spPr>
          <a:xfrm>
            <a:off x="3163282" y="4972050"/>
            <a:ext cx="1867019" cy="228600"/>
          </a:xfrm>
          <a:prstGeom prst="rect">
            <a:avLst/>
          </a:prstGeom>
          <a:noFill/>
          <a:ln/>
        </p:spPr>
        <p:txBody>
          <a:bodyPr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OS design principles</a:t>
            </a:r>
            <a:endParaRPr lang="en-US" sz="1200" dirty="0"/>
          </a:p>
        </p:txBody>
      </p:sp>
      <p:sp>
        <p:nvSpPr>
          <p:cNvPr id="31" name="Text 8"/>
          <p:cNvSpPr/>
          <p:nvPr/>
        </p:nvSpPr>
        <p:spPr>
          <a:xfrm>
            <a:off x="5306273" y="4972050"/>
            <a:ext cx="127337" cy="228600"/>
          </a:xfrm>
          <a:prstGeom prst="rect">
            <a:avLst/>
          </a:prstGeom>
          <a:noFill/>
          <a:ln/>
        </p:spPr>
        <p:txBody>
          <a:bodyPr wrap="square" lIns="0" tIns="0" rIns="0" bIns="0" rtlCol="0" anchor="t"/>
          <a:lstStyle/>
          <a:p>
            <a:pPr marL="0" indent="0" algn="ctr">
              <a:lnSpc>
                <a:spcPts val="1800"/>
              </a:lnSpc>
              <a:buNone/>
            </a:pPr>
            <a:r>
              <a:rPr lang="en-US" sz="1200" b="1" dirty="0">
                <a:solidFill>
                  <a:srgbClr val="FFFFFF"/>
                </a:solidFill>
                <a:latin typeface="ui-sans-serif" pitchFamily="34" charset="0"/>
                <a:ea typeface="ui-sans-serif" pitchFamily="34" charset="-122"/>
                <a:cs typeface="ui-sans-serif" pitchFamily="34" charset="-120"/>
              </a:rPr>
              <a:t>4</a:t>
            </a:r>
            <a:endParaRPr lang="en-US" sz="1200" dirty="0"/>
          </a:p>
        </p:txBody>
      </p:sp>
      <p:sp>
        <p:nvSpPr>
          <p:cNvPr id="32" name="Text 9"/>
          <p:cNvSpPr/>
          <p:nvPr/>
        </p:nvSpPr>
        <p:spPr>
          <a:xfrm>
            <a:off x="5519172" y="4972050"/>
            <a:ext cx="1410533" cy="228600"/>
          </a:xfrm>
          <a:prstGeom prst="rect">
            <a:avLst/>
          </a:prstGeom>
          <a:noFill/>
          <a:ln/>
        </p:spPr>
        <p:txBody>
          <a:bodyPr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System utilities</a:t>
            </a:r>
            <a:endParaRPr lang="en-US" sz="1200" dirty="0"/>
          </a:p>
        </p:txBody>
      </p:sp>
      <p:sp>
        <p:nvSpPr>
          <p:cNvPr id="33" name="Text 10"/>
          <p:cNvSpPr/>
          <p:nvPr/>
        </p:nvSpPr>
        <p:spPr>
          <a:xfrm>
            <a:off x="7243718" y="4972050"/>
            <a:ext cx="127337" cy="228600"/>
          </a:xfrm>
          <a:prstGeom prst="rect">
            <a:avLst/>
          </a:prstGeom>
          <a:noFill/>
          <a:ln/>
        </p:spPr>
        <p:txBody>
          <a:bodyPr wrap="square" lIns="0" tIns="0" rIns="0" bIns="0" rtlCol="0" anchor="t"/>
          <a:lstStyle/>
          <a:p>
            <a:pPr marL="0" indent="0" algn="ctr">
              <a:lnSpc>
                <a:spcPts val="1800"/>
              </a:lnSpc>
              <a:buNone/>
            </a:pPr>
            <a:r>
              <a:rPr lang="en-US" sz="1200" b="1" dirty="0">
                <a:solidFill>
                  <a:srgbClr val="FFFFFF"/>
                </a:solidFill>
                <a:latin typeface="ui-sans-serif" pitchFamily="34" charset="0"/>
                <a:ea typeface="ui-sans-serif" pitchFamily="34" charset="-122"/>
                <a:cs typeface="ui-sans-serif" pitchFamily="34" charset="-120"/>
              </a:rPr>
              <a:t>5</a:t>
            </a:r>
            <a:endParaRPr lang="en-US" sz="1200" dirty="0"/>
          </a:p>
        </p:txBody>
      </p:sp>
      <p:sp>
        <p:nvSpPr>
          <p:cNvPr id="34" name="Text 11"/>
          <p:cNvSpPr/>
          <p:nvPr/>
        </p:nvSpPr>
        <p:spPr>
          <a:xfrm>
            <a:off x="7398559" y="4972050"/>
            <a:ext cx="2107228" cy="228600"/>
          </a:xfrm>
          <a:prstGeom prst="rect">
            <a:avLst/>
          </a:prstGeom>
          <a:noFill/>
          <a:ln/>
        </p:spPr>
        <p:txBody>
          <a:bodyPr wrap="square" lIns="0" tIns="0" rIns="0" bIns="0" rtlCol="0" anchor="t"/>
          <a:lstStyle/>
          <a:p>
            <a:pPr marL="0" indent="0" algn="ctr">
              <a:lnSpc>
                <a:spcPts val="1800"/>
              </a:lnSpc>
              <a:buNone/>
            </a:pPr>
            <a:r>
              <a:rPr lang="en-US" sz="1200" dirty="0">
                <a:solidFill>
                  <a:srgbClr val="374151"/>
                </a:solidFill>
                <a:latin typeface="ui-sans-serif" pitchFamily="34" charset="0"/>
                <a:ea typeface="ui-sans-serif" pitchFamily="34" charset="-122"/>
                <a:cs typeface="ui-sans-serif" pitchFamily="34" charset="-120"/>
              </a:rPr>
              <a:t>Performance trade-offs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343775"/>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447675" y="1038225"/>
            <a:ext cx="11296650" cy="1257300"/>
          </a:xfrm>
          <a:prstGeom prst="rect">
            <a:avLst/>
          </a:prstGeom>
        </p:spPr>
      </p:pic>
      <p:pic>
        <p:nvPicPr>
          <p:cNvPr id="5" name="Image 3" descr="preencoded.png"/>
          <p:cNvPicPr>
            <a:picLocks noChangeAspect="1"/>
          </p:cNvPicPr>
          <p:nvPr/>
        </p:nvPicPr>
        <p:blipFill>
          <a:blip r:embed="rId6"/>
          <a:stretch>
            <a:fillRect/>
          </a:stretch>
        </p:blipFill>
        <p:spPr>
          <a:xfrm>
            <a:off x="638175" y="1428750"/>
            <a:ext cx="449759" cy="476250"/>
          </a:xfrm>
          <a:prstGeom prst="rect">
            <a:avLst/>
          </a:prstGeom>
        </p:spPr>
      </p:pic>
      <p:pic>
        <p:nvPicPr>
          <p:cNvPr id="6" name="Image 4" descr="preencoded.png"/>
          <p:cNvPicPr>
            <a:picLocks noChangeAspect="1"/>
          </p:cNvPicPr>
          <p:nvPr/>
        </p:nvPicPr>
        <p:blipFill>
          <a:blip r:embed="rId7"/>
          <a:stretch>
            <a:fillRect/>
          </a:stretch>
        </p:blipFill>
        <p:spPr>
          <a:xfrm>
            <a:off x="720179" y="1514475"/>
            <a:ext cx="285750" cy="304800"/>
          </a:xfrm>
          <a:prstGeom prst="rect">
            <a:avLst/>
          </a:prstGeom>
        </p:spPr>
      </p:pic>
      <p:pic>
        <p:nvPicPr>
          <p:cNvPr id="7" name="Image 5" descr="preencoded.png"/>
          <p:cNvPicPr>
            <a:picLocks noChangeAspect="1"/>
          </p:cNvPicPr>
          <p:nvPr/>
        </p:nvPicPr>
        <p:blipFill>
          <a:blip r:embed="rId8"/>
          <a:stretch>
            <a:fillRect/>
          </a:stretch>
        </p:blipFill>
        <p:spPr>
          <a:xfrm>
            <a:off x="447675" y="2667000"/>
            <a:ext cx="11296650" cy="4229100"/>
          </a:xfrm>
          <a:prstGeom prst="rect">
            <a:avLst/>
          </a:prstGeom>
        </p:spPr>
      </p:pic>
      <p:pic>
        <p:nvPicPr>
          <p:cNvPr id="8" name="Image 6" descr="preencoded.png"/>
          <p:cNvPicPr>
            <a:picLocks noChangeAspect="1"/>
          </p:cNvPicPr>
          <p:nvPr/>
        </p:nvPicPr>
        <p:blipFill>
          <a:blip r:embed="rId9"/>
          <a:stretch>
            <a:fillRect/>
          </a:stretch>
        </p:blipFill>
        <p:spPr>
          <a:xfrm>
            <a:off x="638175" y="2857500"/>
            <a:ext cx="476250" cy="476250"/>
          </a:xfrm>
          <a:prstGeom prst="rect">
            <a:avLst/>
          </a:prstGeom>
        </p:spPr>
      </p:pic>
      <p:pic>
        <p:nvPicPr>
          <p:cNvPr id="9" name="Image 7" descr="preencoded.png"/>
          <p:cNvPicPr>
            <a:picLocks noChangeAspect="1"/>
          </p:cNvPicPr>
          <p:nvPr/>
        </p:nvPicPr>
        <p:blipFill>
          <a:blip r:embed="rId10"/>
          <a:stretch>
            <a:fillRect/>
          </a:stretch>
        </p:blipFill>
        <p:spPr>
          <a:xfrm>
            <a:off x="776288" y="2943225"/>
            <a:ext cx="200025" cy="304800"/>
          </a:xfrm>
          <a:prstGeom prst="rect">
            <a:avLst/>
          </a:prstGeom>
        </p:spPr>
      </p:pic>
      <p:pic>
        <p:nvPicPr>
          <p:cNvPr id="10" name="Image 8" descr="preencoded.png"/>
          <p:cNvPicPr>
            <a:picLocks noChangeAspect="1"/>
          </p:cNvPicPr>
          <p:nvPr/>
        </p:nvPicPr>
        <p:blipFill>
          <a:blip r:embed="rId11"/>
          <a:stretch>
            <a:fillRect/>
          </a:stretch>
        </p:blipFill>
        <p:spPr>
          <a:xfrm>
            <a:off x="638175" y="4171950"/>
            <a:ext cx="5381625" cy="647700"/>
          </a:xfrm>
          <a:prstGeom prst="rect">
            <a:avLst/>
          </a:prstGeom>
        </p:spPr>
      </p:pic>
      <p:pic>
        <p:nvPicPr>
          <p:cNvPr id="11" name="Image 9" descr="preencoded.png"/>
          <p:cNvPicPr>
            <a:picLocks noChangeAspect="1"/>
          </p:cNvPicPr>
          <p:nvPr/>
        </p:nvPicPr>
        <p:blipFill>
          <a:blip r:embed="rId12"/>
          <a:stretch>
            <a:fillRect/>
          </a:stretch>
        </p:blipFill>
        <p:spPr>
          <a:xfrm>
            <a:off x="781050" y="4305300"/>
            <a:ext cx="152400" cy="152400"/>
          </a:xfrm>
          <a:prstGeom prst="rect">
            <a:avLst/>
          </a:prstGeom>
        </p:spPr>
      </p:pic>
      <p:pic>
        <p:nvPicPr>
          <p:cNvPr id="12" name="Image 10" descr="preencoded.png"/>
          <p:cNvPicPr>
            <a:picLocks noChangeAspect="1"/>
          </p:cNvPicPr>
          <p:nvPr/>
        </p:nvPicPr>
        <p:blipFill>
          <a:blip r:embed="rId11"/>
          <a:stretch>
            <a:fillRect/>
          </a:stretch>
        </p:blipFill>
        <p:spPr>
          <a:xfrm>
            <a:off x="6172200" y="4171950"/>
            <a:ext cx="5381625" cy="647700"/>
          </a:xfrm>
          <a:prstGeom prst="rect">
            <a:avLst/>
          </a:prstGeom>
        </p:spPr>
      </p:pic>
      <p:pic>
        <p:nvPicPr>
          <p:cNvPr id="13" name="Image 11" descr="preencoded.png"/>
          <p:cNvPicPr>
            <a:picLocks noChangeAspect="1"/>
          </p:cNvPicPr>
          <p:nvPr/>
        </p:nvPicPr>
        <p:blipFill>
          <a:blip r:embed="rId13"/>
          <a:stretch>
            <a:fillRect/>
          </a:stretch>
        </p:blipFill>
        <p:spPr>
          <a:xfrm>
            <a:off x="6315075" y="4305300"/>
            <a:ext cx="152400" cy="152400"/>
          </a:xfrm>
          <a:prstGeom prst="rect">
            <a:avLst/>
          </a:prstGeom>
        </p:spPr>
      </p:pic>
      <p:pic>
        <p:nvPicPr>
          <p:cNvPr id="14" name="Image 12" descr="preencoded.png"/>
          <p:cNvPicPr>
            <a:picLocks noChangeAspect="1"/>
          </p:cNvPicPr>
          <p:nvPr/>
        </p:nvPicPr>
        <p:blipFill>
          <a:blip r:embed="rId11"/>
          <a:stretch>
            <a:fillRect/>
          </a:stretch>
        </p:blipFill>
        <p:spPr>
          <a:xfrm>
            <a:off x="638175" y="5067300"/>
            <a:ext cx="5381625" cy="647700"/>
          </a:xfrm>
          <a:prstGeom prst="rect">
            <a:avLst/>
          </a:prstGeom>
        </p:spPr>
      </p:pic>
      <p:pic>
        <p:nvPicPr>
          <p:cNvPr id="15" name="Image 13" descr="preencoded.png"/>
          <p:cNvPicPr>
            <a:picLocks noChangeAspect="1"/>
          </p:cNvPicPr>
          <p:nvPr/>
        </p:nvPicPr>
        <p:blipFill>
          <a:blip r:embed="rId14"/>
          <a:stretch>
            <a:fillRect/>
          </a:stretch>
        </p:blipFill>
        <p:spPr>
          <a:xfrm>
            <a:off x="781050" y="5200650"/>
            <a:ext cx="152400" cy="152400"/>
          </a:xfrm>
          <a:prstGeom prst="rect">
            <a:avLst/>
          </a:prstGeom>
        </p:spPr>
      </p:pic>
      <p:pic>
        <p:nvPicPr>
          <p:cNvPr id="16" name="Image 14" descr="preencoded.png"/>
          <p:cNvPicPr>
            <a:picLocks noChangeAspect="1"/>
          </p:cNvPicPr>
          <p:nvPr/>
        </p:nvPicPr>
        <p:blipFill>
          <a:blip r:embed="rId11"/>
          <a:stretch>
            <a:fillRect/>
          </a:stretch>
        </p:blipFill>
        <p:spPr>
          <a:xfrm>
            <a:off x="6172200" y="5067300"/>
            <a:ext cx="5381625" cy="647700"/>
          </a:xfrm>
          <a:prstGeom prst="rect">
            <a:avLst/>
          </a:prstGeom>
        </p:spPr>
      </p:pic>
      <p:pic>
        <p:nvPicPr>
          <p:cNvPr id="17" name="Image 15" descr="preencoded.png"/>
          <p:cNvPicPr>
            <a:picLocks noChangeAspect="1"/>
          </p:cNvPicPr>
          <p:nvPr/>
        </p:nvPicPr>
        <p:blipFill>
          <a:blip r:embed="rId15"/>
          <a:stretch>
            <a:fillRect/>
          </a:stretch>
        </p:blipFill>
        <p:spPr>
          <a:xfrm>
            <a:off x="6315075" y="5200650"/>
            <a:ext cx="171450" cy="152400"/>
          </a:xfrm>
          <a:prstGeom prst="rect">
            <a:avLst/>
          </a:prstGeom>
        </p:spPr>
      </p:pic>
      <p:pic>
        <p:nvPicPr>
          <p:cNvPr id="18" name="Image 16" descr="preencoded.png"/>
          <p:cNvPicPr>
            <a:picLocks noChangeAspect="1"/>
          </p:cNvPicPr>
          <p:nvPr/>
        </p:nvPicPr>
        <p:blipFill>
          <a:blip r:embed="rId11"/>
          <a:stretch>
            <a:fillRect/>
          </a:stretch>
        </p:blipFill>
        <p:spPr>
          <a:xfrm>
            <a:off x="638175" y="5962650"/>
            <a:ext cx="5381625" cy="647700"/>
          </a:xfrm>
          <a:prstGeom prst="rect">
            <a:avLst/>
          </a:prstGeom>
        </p:spPr>
      </p:pic>
      <p:pic>
        <p:nvPicPr>
          <p:cNvPr id="19" name="Image 17" descr="preencoded.png"/>
          <p:cNvPicPr>
            <a:picLocks noChangeAspect="1"/>
          </p:cNvPicPr>
          <p:nvPr/>
        </p:nvPicPr>
        <p:blipFill>
          <a:blip r:embed="rId16"/>
          <a:stretch>
            <a:fillRect/>
          </a:stretch>
        </p:blipFill>
        <p:spPr>
          <a:xfrm>
            <a:off x="781050" y="6096000"/>
            <a:ext cx="152400" cy="152400"/>
          </a:xfrm>
          <a:prstGeom prst="rect">
            <a:avLst/>
          </a:prstGeom>
        </p:spPr>
      </p:pic>
      <p:pic>
        <p:nvPicPr>
          <p:cNvPr id="20" name="Image 18" descr="preencoded.png"/>
          <p:cNvPicPr>
            <a:picLocks noChangeAspect="1"/>
          </p:cNvPicPr>
          <p:nvPr/>
        </p:nvPicPr>
        <p:blipFill>
          <a:blip r:embed="rId11"/>
          <a:stretch>
            <a:fillRect/>
          </a:stretch>
        </p:blipFill>
        <p:spPr>
          <a:xfrm>
            <a:off x="6172200" y="5962650"/>
            <a:ext cx="5381625" cy="647700"/>
          </a:xfrm>
          <a:prstGeom prst="rect">
            <a:avLst/>
          </a:prstGeom>
        </p:spPr>
      </p:pic>
      <p:pic>
        <p:nvPicPr>
          <p:cNvPr id="21" name="Image 19" descr="preencoded.png"/>
          <p:cNvPicPr>
            <a:picLocks noChangeAspect="1"/>
          </p:cNvPicPr>
          <p:nvPr/>
        </p:nvPicPr>
        <p:blipFill>
          <a:blip r:embed="rId17"/>
          <a:stretch>
            <a:fillRect/>
          </a:stretch>
        </p:blipFill>
        <p:spPr>
          <a:xfrm>
            <a:off x="6315075" y="6096000"/>
            <a:ext cx="152400" cy="152400"/>
          </a:xfrm>
          <a:prstGeom prst="rect">
            <a:avLst/>
          </a:prstGeom>
        </p:spPr>
      </p:pic>
      <p:sp>
        <p:nvSpPr>
          <p:cNvPr id="22" name="Text 0"/>
          <p:cNvSpPr/>
          <p:nvPr/>
        </p:nvSpPr>
        <p:spPr>
          <a:xfrm>
            <a:off x="285750" y="142875"/>
            <a:ext cx="3003411"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Process Fundamentals</a:t>
            </a:r>
            <a:endParaRPr lang="en-US" sz="1800" dirty="0"/>
          </a:p>
        </p:txBody>
      </p:sp>
      <p:sp>
        <p:nvSpPr>
          <p:cNvPr id="23" name="Text 1"/>
          <p:cNvSpPr/>
          <p:nvPr/>
        </p:nvSpPr>
        <p:spPr>
          <a:xfrm>
            <a:off x="1230809" y="1228725"/>
            <a:ext cx="10323016" cy="266700"/>
          </a:xfrm>
          <a:prstGeom prst="rect">
            <a:avLst/>
          </a:prstGeom>
          <a:noFill/>
          <a:ln/>
        </p:spPr>
        <p:txBody>
          <a:bodyPr wrap="square" lIns="0" tIns="0" rIns="0" bIns="0" rtlCol="0" anchor="t"/>
          <a:lstStyle/>
          <a:p>
            <a:pPr marL="0" indent="0">
              <a:lnSpc>
                <a:spcPts val="2100"/>
              </a:lnSpc>
              <a:buNone/>
            </a:pPr>
            <a:r>
              <a:rPr lang="en-US" sz="1500" b="1" dirty="0">
                <a:solidFill>
                  <a:srgbClr val="333333"/>
                </a:solidFill>
                <a:latin typeface="Arial" pitchFamily="34" charset="0"/>
                <a:ea typeface="Arial" pitchFamily="34" charset="-122"/>
                <a:cs typeface="Arial" pitchFamily="34" charset="-120"/>
              </a:rPr>
              <a:t>What is a Process?</a:t>
            </a:r>
            <a:endParaRPr lang="en-US" sz="1500" dirty="0"/>
          </a:p>
        </p:txBody>
      </p:sp>
      <p:sp>
        <p:nvSpPr>
          <p:cNvPr id="24" name="Text 2"/>
          <p:cNvSpPr/>
          <p:nvPr/>
        </p:nvSpPr>
        <p:spPr>
          <a:xfrm>
            <a:off x="1230809" y="1571625"/>
            <a:ext cx="10323016" cy="533400"/>
          </a:xfrm>
          <a:prstGeom prst="rect">
            <a:avLst/>
          </a:prstGeom>
          <a:noFill/>
          <a:ln/>
        </p:spPr>
        <p:txBody>
          <a:bodyPr wrap="square" lIns="0" tIns="0" rIns="0" bIns="0" rtlCol="0" anchor="t"/>
          <a:lstStyle/>
          <a:p>
            <a:pPr marL="0" indent="0">
              <a:lnSpc>
                <a:spcPts val="2100"/>
              </a:lnSpc>
              <a:buNone/>
            </a:pPr>
            <a:r>
              <a:rPr lang="en-US" sz="1350" dirty="0">
                <a:solidFill>
                  <a:srgbClr val="333333"/>
                </a:solidFill>
                <a:latin typeface="Arial" pitchFamily="34" charset="0"/>
                <a:ea typeface="Arial" pitchFamily="34" charset="-122"/>
                <a:cs typeface="Arial" pitchFamily="34" charset="-120"/>
              </a:rPr>
              <a:t>A process is a program in execution, representing an active instance of a computer program with its own set of resources and execution context.</a:t>
            </a:r>
            <a:endParaRPr lang="en-US" sz="1350" dirty="0"/>
          </a:p>
        </p:txBody>
      </p:sp>
      <p:sp>
        <p:nvSpPr>
          <p:cNvPr id="25" name="Text 3"/>
          <p:cNvSpPr/>
          <p:nvPr/>
        </p:nvSpPr>
        <p:spPr>
          <a:xfrm>
            <a:off x="1257300" y="2962275"/>
            <a:ext cx="3150215" cy="266700"/>
          </a:xfrm>
          <a:prstGeom prst="rect">
            <a:avLst/>
          </a:prstGeom>
          <a:noFill/>
          <a:ln/>
        </p:spPr>
        <p:txBody>
          <a:bodyPr wrap="square" lIns="0" tIns="0" rIns="0" bIns="0" rtlCol="0" anchor="t"/>
          <a:lstStyle/>
          <a:p>
            <a:pPr marL="0" indent="0">
              <a:lnSpc>
                <a:spcPts val="2100"/>
              </a:lnSpc>
              <a:buNone/>
            </a:pPr>
            <a:r>
              <a:rPr lang="en-US" sz="1500" b="1" dirty="0">
                <a:solidFill>
                  <a:srgbClr val="333333"/>
                </a:solidFill>
                <a:latin typeface="Arial" pitchFamily="34" charset="0"/>
                <a:ea typeface="Arial" pitchFamily="34" charset="-122"/>
                <a:cs typeface="Arial" pitchFamily="34" charset="-120"/>
              </a:rPr>
              <a:t>Process Control Block (PCB)</a:t>
            </a:r>
            <a:endParaRPr lang="en-US" sz="1500" dirty="0"/>
          </a:p>
        </p:txBody>
      </p:sp>
      <p:sp>
        <p:nvSpPr>
          <p:cNvPr id="26" name="Text 4"/>
          <p:cNvSpPr/>
          <p:nvPr/>
        </p:nvSpPr>
        <p:spPr>
          <a:xfrm>
            <a:off x="638175" y="3486150"/>
            <a:ext cx="10915650" cy="533400"/>
          </a:xfrm>
          <a:prstGeom prst="rect">
            <a:avLst/>
          </a:prstGeom>
          <a:noFill/>
          <a:ln/>
        </p:spPr>
        <p:txBody>
          <a:bodyPr wrap="square" lIns="0" tIns="0" rIns="0" bIns="0" rtlCol="0" anchor="t"/>
          <a:lstStyle/>
          <a:p>
            <a:pPr marL="0" indent="0">
              <a:lnSpc>
                <a:spcPts val="2100"/>
              </a:lnSpc>
              <a:buNone/>
            </a:pPr>
            <a:r>
              <a:rPr lang="en-US" sz="1350" dirty="0">
                <a:solidFill>
                  <a:srgbClr val="333333"/>
                </a:solidFill>
                <a:latin typeface="Arial" pitchFamily="34" charset="0"/>
                <a:ea typeface="Arial" pitchFamily="34" charset="-122"/>
                <a:cs typeface="Arial" pitchFamily="34" charset="-120"/>
              </a:rPr>
              <a:t>The operating system manages each process through a data structure known as the Process Control Block (PCB), which stores vital information about the process, enabling the OS to control and coordinate its execution.</a:t>
            </a:r>
            <a:endParaRPr lang="en-US" sz="1350" dirty="0"/>
          </a:p>
        </p:txBody>
      </p:sp>
      <p:sp>
        <p:nvSpPr>
          <p:cNvPr id="27" name="Text 5"/>
          <p:cNvSpPr/>
          <p:nvPr/>
        </p:nvSpPr>
        <p:spPr>
          <a:xfrm>
            <a:off x="1009650" y="4267200"/>
            <a:ext cx="1422856"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Process ID (PID)</a:t>
            </a:r>
            <a:endParaRPr lang="en-US" sz="1200" dirty="0"/>
          </a:p>
        </p:txBody>
      </p:sp>
      <p:sp>
        <p:nvSpPr>
          <p:cNvPr id="28" name="Text 6"/>
          <p:cNvSpPr/>
          <p:nvPr/>
        </p:nvSpPr>
        <p:spPr>
          <a:xfrm>
            <a:off x="781050" y="4533900"/>
            <a:ext cx="611505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A unique identifier for each process</a:t>
            </a:r>
            <a:endParaRPr lang="en-US" sz="1050" dirty="0"/>
          </a:p>
        </p:txBody>
      </p:sp>
      <p:sp>
        <p:nvSpPr>
          <p:cNvPr id="29" name="Text 7"/>
          <p:cNvSpPr/>
          <p:nvPr/>
        </p:nvSpPr>
        <p:spPr>
          <a:xfrm>
            <a:off x="6543675" y="4267200"/>
            <a:ext cx="1209794"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Process State</a:t>
            </a:r>
            <a:endParaRPr lang="en-US" sz="1200" dirty="0"/>
          </a:p>
        </p:txBody>
      </p:sp>
      <p:sp>
        <p:nvSpPr>
          <p:cNvPr id="30" name="Text 8"/>
          <p:cNvSpPr/>
          <p:nvPr/>
        </p:nvSpPr>
        <p:spPr>
          <a:xfrm>
            <a:off x="6315075" y="4533900"/>
            <a:ext cx="611505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Current state (New, Ready, Running, Waiting, Terminated)</a:t>
            </a:r>
            <a:endParaRPr lang="en-US" sz="1050" dirty="0"/>
          </a:p>
        </p:txBody>
      </p:sp>
      <p:sp>
        <p:nvSpPr>
          <p:cNvPr id="31" name="Text 9"/>
          <p:cNvSpPr/>
          <p:nvPr/>
        </p:nvSpPr>
        <p:spPr>
          <a:xfrm>
            <a:off x="1009650" y="5162550"/>
            <a:ext cx="1503938"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Program Counter</a:t>
            </a:r>
            <a:endParaRPr lang="en-US" sz="1200" dirty="0"/>
          </a:p>
        </p:txBody>
      </p:sp>
      <p:sp>
        <p:nvSpPr>
          <p:cNvPr id="32" name="Text 10"/>
          <p:cNvSpPr/>
          <p:nvPr/>
        </p:nvSpPr>
        <p:spPr>
          <a:xfrm>
            <a:off x="781050" y="5429250"/>
            <a:ext cx="611505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Address of the next instruction to be executed</a:t>
            </a:r>
            <a:endParaRPr lang="en-US" sz="1050" dirty="0"/>
          </a:p>
        </p:txBody>
      </p:sp>
      <p:sp>
        <p:nvSpPr>
          <p:cNvPr id="33" name="Text 11"/>
          <p:cNvSpPr/>
          <p:nvPr/>
        </p:nvSpPr>
        <p:spPr>
          <a:xfrm>
            <a:off x="6562725" y="5162550"/>
            <a:ext cx="1270516"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CPU Registers</a:t>
            </a:r>
            <a:endParaRPr lang="en-US" sz="1200" dirty="0"/>
          </a:p>
        </p:txBody>
      </p:sp>
      <p:sp>
        <p:nvSpPr>
          <p:cNvPr id="34" name="Text 12"/>
          <p:cNvSpPr/>
          <p:nvPr/>
        </p:nvSpPr>
        <p:spPr>
          <a:xfrm>
            <a:off x="6315075" y="5429250"/>
            <a:ext cx="611505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Values of CPU registers when process was last active</a:t>
            </a:r>
            <a:endParaRPr lang="en-US" sz="1050" dirty="0"/>
          </a:p>
        </p:txBody>
      </p:sp>
      <p:sp>
        <p:nvSpPr>
          <p:cNvPr id="35" name="Text 13"/>
          <p:cNvSpPr/>
          <p:nvPr/>
        </p:nvSpPr>
        <p:spPr>
          <a:xfrm>
            <a:off x="1009650" y="6057900"/>
            <a:ext cx="2926437"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Memory Management Information</a:t>
            </a:r>
            <a:endParaRPr lang="en-US" sz="1200" dirty="0"/>
          </a:p>
        </p:txBody>
      </p:sp>
      <p:sp>
        <p:nvSpPr>
          <p:cNvPr id="36" name="Text 14"/>
          <p:cNvSpPr/>
          <p:nvPr/>
        </p:nvSpPr>
        <p:spPr>
          <a:xfrm>
            <a:off x="781050" y="6324600"/>
            <a:ext cx="611505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Details about memory allocated to the process</a:t>
            </a:r>
            <a:endParaRPr lang="en-US" sz="1050" dirty="0"/>
          </a:p>
        </p:txBody>
      </p:sp>
      <p:sp>
        <p:nvSpPr>
          <p:cNvPr id="37" name="Text 15"/>
          <p:cNvSpPr/>
          <p:nvPr/>
        </p:nvSpPr>
        <p:spPr>
          <a:xfrm>
            <a:off x="6543675" y="6057900"/>
            <a:ext cx="1910239"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I/O Status Information</a:t>
            </a:r>
            <a:endParaRPr lang="en-US" sz="1200" dirty="0"/>
          </a:p>
        </p:txBody>
      </p:sp>
      <p:sp>
        <p:nvSpPr>
          <p:cNvPr id="38" name="Text 16"/>
          <p:cNvSpPr/>
          <p:nvPr/>
        </p:nvSpPr>
        <p:spPr>
          <a:xfrm>
            <a:off x="6315075" y="6324600"/>
            <a:ext cx="611505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Information regarding open files and I/O requests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9286875"/>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228600" y="962025"/>
            <a:ext cx="11734800" cy="2819400"/>
          </a:xfrm>
          <a:prstGeom prst="rect">
            <a:avLst/>
          </a:prstGeom>
        </p:spPr>
      </p:pic>
      <p:pic>
        <p:nvPicPr>
          <p:cNvPr id="5" name="Image 3" descr="preencoded.png"/>
          <p:cNvPicPr>
            <a:picLocks noChangeAspect="1"/>
          </p:cNvPicPr>
          <p:nvPr/>
        </p:nvPicPr>
        <p:blipFill>
          <a:blip r:embed="rId6"/>
          <a:stretch>
            <a:fillRect/>
          </a:stretch>
        </p:blipFill>
        <p:spPr>
          <a:xfrm>
            <a:off x="419100" y="1838325"/>
            <a:ext cx="11353800" cy="1752600"/>
          </a:xfrm>
          <a:prstGeom prst="rect">
            <a:avLst/>
          </a:prstGeom>
        </p:spPr>
      </p:pic>
      <p:pic>
        <p:nvPicPr>
          <p:cNvPr id="6" name="Image 4" descr="preencoded.png"/>
          <p:cNvPicPr>
            <a:picLocks noChangeAspect="1"/>
          </p:cNvPicPr>
          <p:nvPr/>
        </p:nvPicPr>
        <p:blipFill>
          <a:blip r:embed="rId7"/>
          <a:stretch>
            <a:fillRect/>
          </a:stretch>
        </p:blipFill>
        <p:spPr>
          <a:xfrm>
            <a:off x="180975" y="3867921"/>
            <a:ext cx="5715000" cy="499050"/>
          </a:xfrm>
          <a:prstGeom prst="rect">
            <a:avLst/>
          </a:prstGeom>
        </p:spPr>
      </p:pic>
      <p:pic>
        <p:nvPicPr>
          <p:cNvPr id="7" name="Image 5" descr="preencoded.png"/>
          <p:cNvPicPr>
            <a:picLocks noChangeAspect="1"/>
          </p:cNvPicPr>
          <p:nvPr/>
        </p:nvPicPr>
        <p:blipFill>
          <a:blip r:embed="rId8"/>
          <a:stretch>
            <a:fillRect/>
          </a:stretch>
        </p:blipFill>
        <p:spPr>
          <a:xfrm>
            <a:off x="366878" y="3893408"/>
            <a:ext cx="381000" cy="381000"/>
          </a:xfrm>
          <a:prstGeom prst="rect">
            <a:avLst/>
          </a:prstGeom>
        </p:spPr>
      </p:pic>
      <p:pic>
        <p:nvPicPr>
          <p:cNvPr id="8" name="Image 6" descr="preencoded.png"/>
          <p:cNvPicPr>
            <a:picLocks noChangeAspect="1"/>
          </p:cNvPicPr>
          <p:nvPr/>
        </p:nvPicPr>
        <p:blipFill>
          <a:blip r:embed="rId9"/>
          <a:stretch>
            <a:fillRect/>
          </a:stretch>
        </p:blipFill>
        <p:spPr>
          <a:xfrm>
            <a:off x="478602" y="3998441"/>
            <a:ext cx="152400" cy="152400"/>
          </a:xfrm>
          <a:prstGeom prst="rect">
            <a:avLst/>
          </a:prstGeom>
        </p:spPr>
      </p:pic>
      <p:pic>
        <p:nvPicPr>
          <p:cNvPr id="9" name="Image 7" descr="preencoded.png"/>
          <p:cNvPicPr>
            <a:picLocks noChangeAspect="1"/>
          </p:cNvPicPr>
          <p:nvPr/>
        </p:nvPicPr>
        <p:blipFill>
          <a:blip r:embed="rId10"/>
          <a:stretch>
            <a:fillRect/>
          </a:stretch>
        </p:blipFill>
        <p:spPr>
          <a:xfrm>
            <a:off x="186988" y="4431892"/>
            <a:ext cx="5715000" cy="450105"/>
          </a:xfrm>
          <a:prstGeom prst="rect">
            <a:avLst/>
          </a:prstGeom>
        </p:spPr>
      </p:pic>
      <p:pic>
        <p:nvPicPr>
          <p:cNvPr id="10" name="Image 8" descr="preencoded.png"/>
          <p:cNvPicPr>
            <a:picLocks noChangeAspect="1"/>
          </p:cNvPicPr>
          <p:nvPr/>
        </p:nvPicPr>
        <p:blipFill>
          <a:blip r:embed="rId11"/>
          <a:stretch>
            <a:fillRect/>
          </a:stretch>
        </p:blipFill>
        <p:spPr>
          <a:xfrm>
            <a:off x="362502" y="4478339"/>
            <a:ext cx="381000" cy="381000"/>
          </a:xfrm>
          <a:prstGeom prst="rect">
            <a:avLst/>
          </a:prstGeom>
        </p:spPr>
      </p:pic>
      <p:pic>
        <p:nvPicPr>
          <p:cNvPr id="11" name="Image 9" descr="preencoded.png"/>
          <p:cNvPicPr>
            <a:picLocks noChangeAspect="1"/>
          </p:cNvPicPr>
          <p:nvPr/>
        </p:nvPicPr>
        <p:blipFill>
          <a:blip r:embed="rId12"/>
          <a:stretch>
            <a:fillRect/>
          </a:stretch>
        </p:blipFill>
        <p:spPr>
          <a:xfrm>
            <a:off x="471660" y="4605627"/>
            <a:ext cx="152400" cy="152400"/>
          </a:xfrm>
          <a:prstGeom prst="rect">
            <a:avLst/>
          </a:prstGeom>
        </p:spPr>
      </p:pic>
      <p:pic>
        <p:nvPicPr>
          <p:cNvPr id="12" name="Image 10" descr="preencoded.png"/>
          <p:cNvPicPr>
            <a:picLocks noChangeAspect="1"/>
          </p:cNvPicPr>
          <p:nvPr/>
        </p:nvPicPr>
        <p:blipFill>
          <a:blip r:embed="rId13"/>
          <a:stretch>
            <a:fillRect/>
          </a:stretch>
        </p:blipFill>
        <p:spPr>
          <a:xfrm>
            <a:off x="191691" y="4958031"/>
            <a:ext cx="5715000" cy="462465"/>
          </a:xfrm>
          <a:prstGeom prst="rect">
            <a:avLst/>
          </a:prstGeom>
        </p:spPr>
      </p:pic>
      <p:pic>
        <p:nvPicPr>
          <p:cNvPr id="13" name="Image 11" descr="preencoded.png"/>
          <p:cNvPicPr>
            <a:picLocks noChangeAspect="1"/>
          </p:cNvPicPr>
          <p:nvPr/>
        </p:nvPicPr>
        <p:blipFill>
          <a:blip r:embed="rId14"/>
          <a:stretch>
            <a:fillRect/>
          </a:stretch>
        </p:blipFill>
        <p:spPr>
          <a:xfrm>
            <a:off x="353640" y="5019650"/>
            <a:ext cx="381000" cy="381000"/>
          </a:xfrm>
          <a:prstGeom prst="rect">
            <a:avLst/>
          </a:prstGeom>
        </p:spPr>
      </p:pic>
      <p:pic>
        <p:nvPicPr>
          <p:cNvPr id="14" name="Image 12" descr="preencoded.png"/>
          <p:cNvPicPr>
            <a:picLocks noChangeAspect="1"/>
          </p:cNvPicPr>
          <p:nvPr/>
        </p:nvPicPr>
        <p:blipFill>
          <a:blip r:embed="rId15"/>
          <a:stretch>
            <a:fillRect/>
          </a:stretch>
        </p:blipFill>
        <p:spPr>
          <a:xfrm>
            <a:off x="476543" y="5133643"/>
            <a:ext cx="152400" cy="152400"/>
          </a:xfrm>
          <a:prstGeom prst="rect">
            <a:avLst/>
          </a:prstGeom>
        </p:spPr>
      </p:pic>
      <p:pic>
        <p:nvPicPr>
          <p:cNvPr id="15" name="Image 13" descr="preencoded.png"/>
          <p:cNvPicPr>
            <a:picLocks noChangeAspect="1"/>
          </p:cNvPicPr>
          <p:nvPr/>
        </p:nvPicPr>
        <p:blipFill>
          <a:blip r:embed="rId16"/>
          <a:stretch>
            <a:fillRect/>
          </a:stretch>
        </p:blipFill>
        <p:spPr>
          <a:xfrm>
            <a:off x="191691" y="5468554"/>
            <a:ext cx="5715000" cy="633309"/>
          </a:xfrm>
          <a:prstGeom prst="rect">
            <a:avLst/>
          </a:prstGeom>
        </p:spPr>
      </p:pic>
      <p:pic>
        <p:nvPicPr>
          <p:cNvPr id="16" name="Image 14" descr="preencoded.png"/>
          <p:cNvPicPr>
            <a:picLocks noChangeAspect="1"/>
          </p:cNvPicPr>
          <p:nvPr/>
        </p:nvPicPr>
        <p:blipFill>
          <a:blip r:embed="rId17"/>
          <a:stretch>
            <a:fillRect/>
          </a:stretch>
        </p:blipFill>
        <p:spPr>
          <a:xfrm>
            <a:off x="336954" y="5553902"/>
            <a:ext cx="380554" cy="381000"/>
          </a:xfrm>
          <a:prstGeom prst="rect">
            <a:avLst/>
          </a:prstGeom>
        </p:spPr>
      </p:pic>
      <p:pic>
        <p:nvPicPr>
          <p:cNvPr id="17" name="Image 15" descr="preencoded.png"/>
          <p:cNvPicPr>
            <a:picLocks noChangeAspect="1"/>
          </p:cNvPicPr>
          <p:nvPr/>
        </p:nvPicPr>
        <p:blipFill>
          <a:blip r:embed="rId18"/>
          <a:stretch>
            <a:fillRect/>
          </a:stretch>
        </p:blipFill>
        <p:spPr>
          <a:xfrm>
            <a:off x="478602" y="5671955"/>
            <a:ext cx="114300" cy="152400"/>
          </a:xfrm>
          <a:prstGeom prst="rect">
            <a:avLst/>
          </a:prstGeom>
        </p:spPr>
      </p:pic>
      <p:pic>
        <p:nvPicPr>
          <p:cNvPr id="18" name="Image 16" descr="preencoded.png"/>
          <p:cNvPicPr>
            <a:picLocks noChangeAspect="1"/>
          </p:cNvPicPr>
          <p:nvPr/>
        </p:nvPicPr>
        <p:blipFill>
          <a:blip r:embed="rId19"/>
          <a:stretch>
            <a:fillRect/>
          </a:stretch>
        </p:blipFill>
        <p:spPr>
          <a:xfrm>
            <a:off x="180975" y="6168468"/>
            <a:ext cx="5715000" cy="546657"/>
          </a:xfrm>
          <a:prstGeom prst="rect">
            <a:avLst/>
          </a:prstGeom>
        </p:spPr>
      </p:pic>
      <p:pic>
        <p:nvPicPr>
          <p:cNvPr id="19" name="Image 17" descr="preencoded.png"/>
          <p:cNvPicPr>
            <a:picLocks noChangeAspect="1"/>
          </p:cNvPicPr>
          <p:nvPr/>
        </p:nvPicPr>
        <p:blipFill>
          <a:blip r:embed="rId20"/>
          <a:stretch>
            <a:fillRect/>
          </a:stretch>
        </p:blipFill>
        <p:spPr>
          <a:xfrm>
            <a:off x="354448" y="6227575"/>
            <a:ext cx="381000" cy="381000"/>
          </a:xfrm>
          <a:prstGeom prst="rect">
            <a:avLst/>
          </a:prstGeom>
        </p:spPr>
      </p:pic>
      <p:pic>
        <p:nvPicPr>
          <p:cNvPr id="20" name="Image 18" descr="preencoded.png"/>
          <p:cNvPicPr>
            <a:picLocks noChangeAspect="1"/>
          </p:cNvPicPr>
          <p:nvPr/>
        </p:nvPicPr>
        <p:blipFill>
          <a:blip r:embed="rId21"/>
          <a:stretch>
            <a:fillRect/>
          </a:stretch>
        </p:blipFill>
        <p:spPr>
          <a:xfrm>
            <a:off x="457200" y="6372792"/>
            <a:ext cx="152400" cy="152400"/>
          </a:xfrm>
          <a:prstGeom prst="rect">
            <a:avLst/>
          </a:prstGeom>
        </p:spPr>
      </p:pic>
      <p:pic>
        <p:nvPicPr>
          <p:cNvPr id="21" name="Image 19" descr="preencoded.png"/>
          <p:cNvPicPr>
            <a:picLocks noChangeAspect="1"/>
          </p:cNvPicPr>
          <p:nvPr/>
        </p:nvPicPr>
        <p:blipFill>
          <a:blip r:embed="rId22"/>
          <a:stretch>
            <a:fillRect/>
          </a:stretch>
        </p:blipFill>
        <p:spPr>
          <a:xfrm>
            <a:off x="6038850" y="3814763"/>
            <a:ext cx="5867400" cy="3043238"/>
          </a:xfrm>
          <a:prstGeom prst="rect">
            <a:avLst/>
          </a:prstGeom>
        </p:spPr>
      </p:pic>
      <p:pic>
        <p:nvPicPr>
          <p:cNvPr id="22" name="Image 20" descr="preencoded.png"/>
          <p:cNvPicPr>
            <a:picLocks noChangeAspect="1"/>
          </p:cNvPicPr>
          <p:nvPr/>
        </p:nvPicPr>
        <p:blipFill>
          <a:blip r:embed="rId23"/>
          <a:stretch>
            <a:fillRect/>
          </a:stretch>
        </p:blipFill>
        <p:spPr>
          <a:xfrm>
            <a:off x="6220561" y="4124325"/>
            <a:ext cx="3851189" cy="1977538"/>
          </a:xfrm>
          <a:prstGeom prst="rect">
            <a:avLst/>
          </a:prstGeom>
        </p:spPr>
      </p:pic>
      <p:sp>
        <p:nvSpPr>
          <p:cNvPr id="23" name="Text 0"/>
          <p:cNvSpPr/>
          <p:nvPr/>
        </p:nvSpPr>
        <p:spPr>
          <a:xfrm>
            <a:off x="285750" y="142875"/>
            <a:ext cx="5168503"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Process Lifecycle and State Transitions</a:t>
            </a:r>
            <a:endParaRPr lang="en-US" sz="1800" dirty="0"/>
          </a:p>
        </p:txBody>
      </p:sp>
      <p:sp>
        <p:nvSpPr>
          <p:cNvPr id="24" name="Text 1"/>
          <p:cNvSpPr/>
          <p:nvPr/>
        </p:nvSpPr>
        <p:spPr>
          <a:xfrm>
            <a:off x="419100" y="1152525"/>
            <a:ext cx="11353800" cy="533400"/>
          </a:xfrm>
          <a:prstGeom prst="rect">
            <a:avLst/>
          </a:prstGeom>
          <a:noFill/>
          <a:ln/>
        </p:spPr>
        <p:txBody>
          <a:bodyPr wrap="square" lIns="0" tIns="0" rIns="0" bIns="0" rtlCol="0" anchor="t"/>
          <a:lstStyle/>
          <a:p>
            <a:pPr marL="0" indent="0">
              <a:lnSpc>
                <a:spcPts val="2100"/>
              </a:lnSpc>
              <a:buNone/>
            </a:pPr>
            <a:r>
              <a:rPr lang="en-US" sz="1350" dirty="0">
                <a:solidFill>
                  <a:srgbClr val="333333"/>
                </a:solidFill>
                <a:latin typeface="Arial" pitchFamily="34" charset="0"/>
                <a:ea typeface="Arial" pitchFamily="34" charset="-122"/>
                <a:cs typeface="Arial" pitchFamily="34" charset="-120"/>
              </a:rPr>
              <a:t>Processes transition through various states during their lifetime, reflecting their current activity and resource needs. The five-state model is a common representation of these transitions, with the operating system managing the transitions between states.</a:t>
            </a:r>
            <a:endParaRPr lang="en-US" sz="1350" dirty="0"/>
          </a:p>
        </p:txBody>
      </p:sp>
      <p:sp>
        <p:nvSpPr>
          <p:cNvPr id="25" name="Text 2"/>
          <p:cNvSpPr/>
          <p:nvPr/>
        </p:nvSpPr>
        <p:spPr>
          <a:xfrm>
            <a:off x="533400" y="1952625"/>
            <a:ext cx="11125200"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Example: Word Processor Application</a:t>
            </a:r>
            <a:endParaRPr lang="en-US" sz="1050" dirty="0"/>
          </a:p>
        </p:txBody>
      </p:sp>
      <p:sp>
        <p:nvSpPr>
          <p:cNvPr id="26" name="Text 3"/>
          <p:cNvSpPr/>
          <p:nvPr/>
        </p:nvSpPr>
        <p:spPr>
          <a:xfrm>
            <a:off x="342900" y="2181225"/>
            <a:ext cx="11315700" cy="152400"/>
          </a:xfrm>
          <a:prstGeom prst="rect">
            <a:avLst/>
          </a:prstGeom>
          <a:noFill/>
          <a:ln/>
        </p:spPr>
        <p:txBody>
          <a:bodyPr wrap="square" lIns="0" tIns="0" rIns="0" bIns="0" rtlCol="0" anchor="t"/>
          <a:lstStyle/>
          <a:p>
            <a:pPr marL="342900" indent="-342900" algn="l">
              <a:lnSpc>
                <a:spcPts val="1200"/>
              </a:lnSpc>
              <a:buSzPct val="100000"/>
              <a:buChar char="•"/>
            </a:pPr>
            <a:r>
              <a:rPr lang="en-US" sz="900" b="1" dirty="0">
                <a:solidFill>
                  <a:srgbClr val="333333"/>
                </a:solidFill>
                <a:latin typeface="Arial" pitchFamily="34" charset="0"/>
                <a:ea typeface="Arial" pitchFamily="34" charset="-122"/>
                <a:cs typeface="Arial" pitchFamily="34" charset="-120"/>
              </a:rPr>
              <a:t>New:</a:t>
            </a:r>
            <a:r>
              <a:rPr lang="en-US" sz="900" dirty="0">
                <a:solidFill>
                  <a:srgbClr val="333333"/>
                </a:solidFill>
                <a:latin typeface="Arial" pitchFamily="34" charset="0"/>
                <a:ea typeface="Arial" pitchFamily="34" charset="-122"/>
                <a:cs typeface="Arial" pitchFamily="34" charset="-120"/>
              </a:rPr>
              <a:t> User clicks on Word Processor icon</a:t>
            </a:r>
            <a:endParaRPr lang="en-US" sz="900" dirty="0"/>
          </a:p>
        </p:txBody>
      </p:sp>
      <p:sp>
        <p:nvSpPr>
          <p:cNvPr id="27" name="Text 4"/>
          <p:cNvSpPr/>
          <p:nvPr/>
        </p:nvSpPr>
        <p:spPr>
          <a:xfrm>
            <a:off x="342900" y="2371725"/>
            <a:ext cx="11315700" cy="152400"/>
          </a:xfrm>
          <a:prstGeom prst="rect">
            <a:avLst/>
          </a:prstGeom>
          <a:noFill/>
          <a:ln/>
        </p:spPr>
        <p:txBody>
          <a:bodyPr wrap="square" lIns="0" tIns="0" rIns="0" bIns="0" rtlCol="0" anchor="t"/>
          <a:lstStyle/>
          <a:p>
            <a:pPr marL="342900" indent="-342900" algn="l">
              <a:lnSpc>
                <a:spcPts val="1200"/>
              </a:lnSpc>
              <a:buSzPct val="100000"/>
              <a:buChar char="•"/>
            </a:pPr>
            <a:r>
              <a:rPr lang="en-US" sz="900" b="1" dirty="0">
                <a:solidFill>
                  <a:srgbClr val="333333"/>
                </a:solidFill>
                <a:latin typeface="Arial" pitchFamily="34" charset="0"/>
                <a:ea typeface="Arial" pitchFamily="34" charset="-122"/>
                <a:cs typeface="Arial" pitchFamily="34" charset="-120"/>
              </a:rPr>
              <a:t>Ready:</a:t>
            </a:r>
            <a:r>
              <a:rPr lang="en-US" sz="900" dirty="0">
                <a:solidFill>
                  <a:srgbClr val="333333"/>
                </a:solidFill>
                <a:latin typeface="Arial" pitchFamily="34" charset="0"/>
                <a:ea typeface="Arial" pitchFamily="34" charset="-122"/>
                <a:cs typeface="Arial" pitchFamily="34" charset="-120"/>
              </a:rPr>
              <a:t> Application loaded into RAM, awaiting CPU time</a:t>
            </a:r>
            <a:endParaRPr lang="en-US" sz="900" dirty="0"/>
          </a:p>
        </p:txBody>
      </p:sp>
      <p:sp>
        <p:nvSpPr>
          <p:cNvPr id="28" name="Text 5"/>
          <p:cNvSpPr/>
          <p:nvPr/>
        </p:nvSpPr>
        <p:spPr>
          <a:xfrm>
            <a:off x="342900" y="2562225"/>
            <a:ext cx="11315700" cy="152400"/>
          </a:xfrm>
          <a:prstGeom prst="rect">
            <a:avLst/>
          </a:prstGeom>
          <a:noFill/>
          <a:ln/>
        </p:spPr>
        <p:txBody>
          <a:bodyPr wrap="square" lIns="0" tIns="0" rIns="0" bIns="0" rtlCol="0" anchor="t"/>
          <a:lstStyle/>
          <a:p>
            <a:pPr marL="342900" indent="-342900" algn="l">
              <a:lnSpc>
                <a:spcPts val="1200"/>
              </a:lnSpc>
              <a:buSzPct val="100000"/>
              <a:buChar char="•"/>
            </a:pPr>
            <a:r>
              <a:rPr lang="en-US" sz="900" b="1" dirty="0">
                <a:solidFill>
                  <a:srgbClr val="333333"/>
                </a:solidFill>
                <a:latin typeface="Arial" pitchFamily="34" charset="0"/>
                <a:ea typeface="Arial" pitchFamily="34" charset="-122"/>
                <a:cs typeface="Arial" pitchFamily="34" charset="-120"/>
              </a:rPr>
              <a:t>Running:</a:t>
            </a:r>
            <a:r>
              <a:rPr lang="en-US" sz="900" dirty="0">
                <a:solidFill>
                  <a:srgbClr val="333333"/>
                </a:solidFill>
                <a:latin typeface="Arial" pitchFamily="34" charset="0"/>
                <a:ea typeface="Arial" pitchFamily="34" charset="-122"/>
                <a:cs typeface="Arial" pitchFamily="34" charset="-120"/>
              </a:rPr>
              <a:t> Application actively processing user typing</a:t>
            </a:r>
            <a:endParaRPr lang="en-US" sz="900" dirty="0"/>
          </a:p>
        </p:txBody>
      </p:sp>
      <p:sp>
        <p:nvSpPr>
          <p:cNvPr id="29" name="Text 6"/>
          <p:cNvSpPr/>
          <p:nvPr/>
        </p:nvSpPr>
        <p:spPr>
          <a:xfrm>
            <a:off x="342900" y="2752725"/>
            <a:ext cx="11315700" cy="152400"/>
          </a:xfrm>
          <a:prstGeom prst="rect">
            <a:avLst/>
          </a:prstGeom>
          <a:noFill/>
          <a:ln/>
        </p:spPr>
        <p:txBody>
          <a:bodyPr wrap="square" lIns="0" tIns="0" rIns="0" bIns="0" rtlCol="0" anchor="t"/>
          <a:lstStyle/>
          <a:p>
            <a:pPr marL="342900" indent="-342900" algn="l">
              <a:lnSpc>
                <a:spcPts val="1200"/>
              </a:lnSpc>
              <a:buSzPct val="100000"/>
              <a:buChar char="•"/>
            </a:pPr>
            <a:r>
              <a:rPr lang="en-US" sz="900" b="1" dirty="0">
                <a:solidFill>
                  <a:srgbClr val="333333"/>
                </a:solidFill>
                <a:latin typeface="Arial" pitchFamily="34" charset="0"/>
                <a:ea typeface="Arial" pitchFamily="34" charset="-122"/>
                <a:cs typeface="Arial" pitchFamily="34" charset="-120"/>
              </a:rPr>
              <a:t>Waiting:</a:t>
            </a:r>
            <a:r>
              <a:rPr lang="en-US" sz="900" dirty="0">
                <a:solidFill>
                  <a:srgbClr val="333333"/>
                </a:solidFill>
                <a:latin typeface="Arial" pitchFamily="34" charset="0"/>
                <a:ea typeface="Arial" pitchFamily="34" charset="-122"/>
                <a:cs typeface="Arial" pitchFamily="34" charset="-120"/>
              </a:rPr>
              <a:t> Application paused while saving file to disk</a:t>
            </a:r>
            <a:endParaRPr lang="en-US" sz="900" dirty="0"/>
          </a:p>
        </p:txBody>
      </p:sp>
      <p:sp>
        <p:nvSpPr>
          <p:cNvPr id="30" name="Text 7"/>
          <p:cNvSpPr/>
          <p:nvPr/>
        </p:nvSpPr>
        <p:spPr>
          <a:xfrm>
            <a:off x="342900" y="2943225"/>
            <a:ext cx="11315700" cy="152400"/>
          </a:xfrm>
          <a:prstGeom prst="rect">
            <a:avLst/>
          </a:prstGeom>
          <a:noFill/>
          <a:ln/>
        </p:spPr>
        <p:txBody>
          <a:bodyPr wrap="square" lIns="0" tIns="0" rIns="0" bIns="0" rtlCol="0" anchor="t"/>
          <a:lstStyle/>
          <a:p>
            <a:pPr marL="342900" indent="-342900" algn="l">
              <a:lnSpc>
                <a:spcPts val="1200"/>
              </a:lnSpc>
              <a:buSzPct val="100000"/>
              <a:buChar char="•"/>
            </a:pPr>
            <a:r>
              <a:rPr lang="en-US" sz="900" b="1" dirty="0">
                <a:solidFill>
                  <a:srgbClr val="333333"/>
                </a:solidFill>
                <a:latin typeface="Arial" pitchFamily="34" charset="0"/>
                <a:ea typeface="Arial" pitchFamily="34" charset="-122"/>
                <a:cs typeface="Arial" pitchFamily="34" charset="-120"/>
              </a:rPr>
              <a:t>Ready:</a:t>
            </a:r>
            <a:r>
              <a:rPr lang="en-US" sz="900" dirty="0">
                <a:solidFill>
                  <a:srgbClr val="333333"/>
                </a:solidFill>
                <a:latin typeface="Arial" pitchFamily="34" charset="0"/>
                <a:ea typeface="Arial" pitchFamily="34" charset="-122"/>
                <a:cs typeface="Arial" pitchFamily="34" charset="-120"/>
              </a:rPr>
              <a:t> After save completes, application returns to ready state</a:t>
            </a:r>
            <a:endParaRPr lang="en-US" sz="900" dirty="0"/>
          </a:p>
        </p:txBody>
      </p:sp>
      <p:sp>
        <p:nvSpPr>
          <p:cNvPr id="31" name="Text 8"/>
          <p:cNvSpPr/>
          <p:nvPr/>
        </p:nvSpPr>
        <p:spPr>
          <a:xfrm>
            <a:off x="342900" y="3133725"/>
            <a:ext cx="11315700" cy="152400"/>
          </a:xfrm>
          <a:prstGeom prst="rect">
            <a:avLst/>
          </a:prstGeom>
          <a:noFill/>
          <a:ln/>
        </p:spPr>
        <p:txBody>
          <a:bodyPr wrap="square" lIns="0" tIns="0" rIns="0" bIns="0" rtlCol="0" anchor="t"/>
          <a:lstStyle/>
          <a:p>
            <a:pPr marL="342900" indent="-342900" algn="l">
              <a:lnSpc>
                <a:spcPts val="1200"/>
              </a:lnSpc>
              <a:buSzPct val="100000"/>
              <a:buChar char="•"/>
            </a:pPr>
            <a:r>
              <a:rPr lang="en-US" sz="900" b="1" dirty="0">
                <a:solidFill>
                  <a:srgbClr val="333333"/>
                </a:solidFill>
                <a:latin typeface="Arial" pitchFamily="34" charset="0"/>
                <a:ea typeface="Arial" pitchFamily="34" charset="-122"/>
                <a:cs typeface="Arial" pitchFamily="34" charset="-120"/>
              </a:rPr>
              <a:t>Running:</a:t>
            </a:r>
            <a:r>
              <a:rPr lang="en-US" sz="900" dirty="0">
                <a:solidFill>
                  <a:srgbClr val="333333"/>
                </a:solidFill>
                <a:latin typeface="Arial" pitchFamily="34" charset="0"/>
                <a:ea typeface="Arial" pitchFamily="34" charset="-122"/>
                <a:cs typeface="Arial" pitchFamily="34" charset="-120"/>
              </a:rPr>
              <a:t> Application gets CPU time again for user input</a:t>
            </a:r>
            <a:endParaRPr lang="en-US" sz="900" dirty="0"/>
          </a:p>
        </p:txBody>
      </p:sp>
      <p:sp>
        <p:nvSpPr>
          <p:cNvPr id="32" name="Text 9"/>
          <p:cNvSpPr/>
          <p:nvPr/>
        </p:nvSpPr>
        <p:spPr>
          <a:xfrm>
            <a:off x="342900" y="3324225"/>
            <a:ext cx="11315700" cy="152400"/>
          </a:xfrm>
          <a:prstGeom prst="rect">
            <a:avLst/>
          </a:prstGeom>
          <a:noFill/>
          <a:ln/>
        </p:spPr>
        <p:txBody>
          <a:bodyPr wrap="square" lIns="0" tIns="0" rIns="0" bIns="0" rtlCol="0" anchor="t"/>
          <a:lstStyle/>
          <a:p>
            <a:pPr marL="342900" indent="-342900" algn="l">
              <a:lnSpc>
                <a:spcPts val="1200"/>
              </a:lnSpc>
              <a:buSzPct val="100000"/>
              <a:buChar char="•"/>
            </a:pPr>
            <a:r>
              <a:rPr lang="en-US" sz="900" b="1" dirty="0">
                <a:solidFill>
                  <a:srgbClr val="333333"/>
                </a:solidFill>
                <a:latin typeface="Arial" pitchFamily="34" charset="0"/>
                <a:ea typeface="Arial" pitchFamily="34" charset="-122"/>
                <a:cs typeface="Arial" pitchFamily="34" charset="-120"/>
              </a:rPr>
              <a:t>Terminated:</a:t>
            </a:r>
            <a:r>
              <a:rPr lang="en-US" sz="900" dirty="0">
                <a:solidFill>
                  <a:srgbClr val="333333"/>
                </a:solidFill>
                <a:latin typeface="Arial" pitchFamily="34" charset="0"/>
                <a:ea typeface="Arial" pitchFamily="34" charset="-122"/>
                <a:cs typeface="Arial" pitchFamily="34" charset="-120"/>
              </a:rPr>
              <a:t> User closes the application</a:t>
            </a:r>
            <a:endParaRPr lang="en-US" sz="900" dirty="0"/>
          </a:p>
        </p:txBody>
      </p:sp>
      <p:sp>
        <p:nvSpPr>
          <p:cNvPr id="33" name="Text 10"/>
          <p:cNvSpPr/>
          <p:nvPr/>
        </p:nvSpPr>
        <p:spPr>
          <a:xfrm>
            <a:off x="847725" y="3886200"/>
            <a:ext cx="4091732"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New</a:t>
            </a:r>
            <a:endParaRPr lang="en-US" sz="1200" dirty="0"/>
          </a:p>
        </p:txBody>
      </p:sp>
      <p:sp>
        <p:nvSpPr>
          <p:cNvPr id="34" name="Text 11"/>
          <p:cNvSpPr/>
          <p:nvPr/>
        </p:nvSpPr>
        <p:spPr>
          <a:xfrm>
            <a:off x="843022" y="4120322"/>
            <a:ext cx="4910078"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Initial state when a process is created but not yet loaded into memory</a:t>
            </a:r>
            <a:endParaRPr lang="en-US" sz="1050" dirty="0"/>
          </a:p>
        </p:txBody>
      </p:sp>
      <p:sp>
        <p:nvSpPr>
          <p:cNvPr id="35" name="Text 12"/>
          <p:cNvSpPr/>
          <p:nvPr/>
        </p:nvSpPr>
        <p:spPr>
          <a:xfrm>
            <a:off x="843022" y="4397734"/>
            <a:ext cx="4040088"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Ready</a:t>
            </a:r>
            <a:endParaRPr lang="en-US" sz="1200" dirty="0"/>
          </a:p>
        </p:txBody>
      </p:sp>
      <p:sp>
        <p:nvSpPr>
          <p:cNvPr id="36" name="Text 13"/>
          <p:cNvSpPr/>
          <p:nvPr/>
        </p:nvSpPr>
        <p:spPr>
          <a:xfrm>
            <a:off x="843022" y="4618690"/>
            <a:ext cx="4848106"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Loaded into memory and awaiting CPU allocation to begin execution</a:t>
            </a:r>
            <a:endParaRPr lang="en-US" sz="1050" dirty="0"/>
          </a:p>
        </p:txBody>
      </p:sp>
      <p:sp>
        <p:nvSpPr>
          <p:cNvPr id="37" name="Text 14"/>
          <p:cNvSpPr/>
          <p:nvPr/>
        </p:nvSpPr>
        <p:spPr>
          <a:xfrm>
            <a:off x="843022" y="4959701"/>
            <a:ext cx="2201466"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Running</a:t>
            </a:r>
            <a:endParaRPr lang="en-US" sz="1200" dirty="0"/>
          </a:p>
        </p:txBody>
      </p:sp>
      <p:sp>
        <p:nvSpPr>
          <p:cNvPr id="38" name="Text 15"/>
          <p:cNvSpPr/>
          <p:nvPr/>
        </p:nvSpPr>
        <p:spPr>
          <a:xfrm>
            <a:off x="847725" y="5165596"/>
            <a:ext cx="2641759"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Currently being executed by the CPU</a:t>
            </a:r>
            <a:endParaRPr lang="en-US" sz="1050" dirty="0"/>
          </a:p>
        </p:txBody>
      </p:sp>
      <p:sp>
        <p:nvSpPr>
          <p:cNvPr id="39" name="Text 16"/>
          <p:cNvSpPr/>
          <p:nvPr/>
        </p:nvSpPr>
        <p:spPr>
          <a:xfrm>
            <a:off x="843022" y="5527418"/>
            <a:ext cx="4953446"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Waiting/Blocked</a:t>
            </a:r>
            <a:endParaRPr lang="en-US" sz="1200" dirty="0"/>
          </a:p>
        </p:txBody>
      </p:sp>
      <p:sp>
        <p:nvSpPr>
          <p:cNvPr id="40" name="Text 17"/>
          <p:cNvSpPr/>
          <p:nvPr/>
        </p:nvSpPr>
        <p:spPr>
          <a:xfrm>
            <a:off x="843022" y="5756124"/>
            <a:ext cx="4953446"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Temporarily halted, awaiting an event such as I/O completion or resource availability</a:t>
            </a:r>
            <a:endParaRPr lang="en-US" sz="1050" dirty="0"/>
          </a:p>
        </p:txBody>
      </p:sp>
      <p:sp>
        <p:nvSpPr>
          <p:cNvPr id="41" name="Text 18"/>
          <p:cNvSpPr/>
          <p:nvPr/>
        </p:nvSpPr>
        <p:spPr>
          <a:xfrm>
            <a:off x="843022" y="6227575"/>
            <a:ext cx="4447729"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Terminated/Exit</a:t>
            </a:r>
            <a:endParaRPr lang="en-US" sz="1200" dirty="0"/>
          </a:p>
        </p:txBody>
      </p:sp>
      <p:sp>
        <p:nvSpPr>
          <p:cNvPr id="42" name="Text 19"/>
          <p:cNvSpPr/>
          <p:nvPr/>
        </p:nvSpPr>
        <p:spPr>
          <a:xfrm>
            <a:off x="843022" y="6475675"/>
            <a:ext cx="5337274"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Process has completed execution or been stopped by the operating system</a:t>
            </a:r>
            <a:endParaRPr lang="en-US" sz="1050" dirty="0"/>
          </a:p>
        </p:txBody>
      </p:sp>
      <p:sp>
        <p:nvSpPr>
          <p:cNvPr id="43" name="Text 20"/>
          <p:cNvSpPr/>
          <p:nvPr/>
        </p:nvSpPr>
        <p:spPr>
          <a:xfrm>
            <a:off x="6238545" y="3871386"/>
            <a:ext cx="5524500" cy="266700"/>
          </a:xfrm>
          <a:prstGeom prst="rect">
            <a:avLst/>
          </a:prstGeom>
          <a:noFill/>
          <a:ln/>
        </p:spPr>
        <p:txBody>
          <a:bodyPr wrap="square" lIns="0" tIns="0" rIns="0" bIns="0" rtlCol="0" anchor="t"/>
          <a:lstStyle/>
          <a:p>
            <a:pPr marL="0" indent="0" algn="ctr">
              <a:lnSpc>
                <a:spcPts val="2100"/>
              </a:lnSpc>
              <a:buNone/>
            </a:pPr>
            <a:r>
              <a:rPr lang="en-US" sz="1500" b="1" dirty="0">
                <a:solidFill>
                  <a:srgbClr val="333333"/>
                </a:solidFill>
                <a:latin typeface="Arial" pitchFamily="34" charset="0"/>
                <a:ea typeface="Arial" pitchFamily="34" charset="-122"/>
                <a:cs typeface="Arial" pitchFamily="34" charset="-120"/>
              </a:rPr>
              <a:t>State Transition Diagram</a:t>
            </a:r>
            <a:endParaRPr lang="en-US" sz="1500" dirty="0"/>
          </a:p>
        </p:txBody>
      </p:sp>
      <p:sp>
        <p:nvSpPr>
          <p:cNvPr id="44" name="Text 21"/>
          <p:cNvSpPr/>
          <p:nvPr/>
        </p:nvSpPr>
        <p:spPr>
          <a:xfrm>
            <a:off x="6134100" y="5414895"/>
            <a:ext cx="552450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Key Transitions:</a:t>
            </a:r>
            <a:endParaRPr lang="en-US" sz="1200" dirty="0"/>
          </a:p>
        </p:txBody>
      </p:sp>
      <p:sp>
        <p:nvSpPr>
          <p:cNvPr id="45" name="Text 22"/>
          <p:cNvSpPr/>
          <p:nvPr/>
        </p:nvSpPr>
        <p:spPr>
          <a:xfrm>
            <a:off x="6134100" y="5721013"/>
            <a:ext cx="68580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33333"/>
                </a:solidFill>
                <a:latin typeface="Arial" pitchFamily="34" charset="0"/>
                <a:ea typeface="Arial" pitchFamily="34" charset="-122"/>
                <a:cs typeface="Arial" pitchFamily="34" charset="-120"/>
              </a:rPr>
              <a:t>New to Ready:</a:t>
            </a:r>
            <a:r>
              <a:rPr lang="en-US" sz="1050" dirty="0">
                <a:solidFill>
                  <a:srgbClr val="333333"/>
                </a:solidFill>
                <a:latin typeface="Arial" pitchFamily="34" charset="0"/>
                <a:ea typeface="Arial" pitchFamily="34" charset="-122"/>
                <a:cs typeface="Arial" pitchFamily="34" charset="-120"/>
              </a:rPr>
              <a:t> When OS admits a new process</a:t>
            </a:r>
            <a:endParaRPr lang="en-US" sz="1050" dirty="0"/>
          </a:p>
        </p:txBody>
      </p:sp>
      <p:sp>
        <p:nvSpPr>
          <p:cNvPr id="46" name="Text 23"/>
          <p:cNvSpPr/>
          <p:nvPr/>
        </p:nvSpPr>
        <p:spPr>
          <a:xfrm>
            <a:off x="6134100" y="5949087"/>
            <a:ext cx="68580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33333"/>
                </a:solidFill>
                <a:latin typeface="Arial" pitchFamily="34" charset="0"/>
                <a:ea typeface="Arial" pitchFamily="34" charset="-122"/>
                <a:cs typeface="Arial" pitchFamily="34" charset="-120"/>
              </a:rPr>
              <a:t>Ready to Running:</a:t>
            </a:r>
            <a:r>
              <a:rPr lang="en-US" sz="1050" dirty="0">
                <a:solidFill>
                  <a:srgbClr val="333333"/>
                </a:solidFill>
                <a:latin typeface="Arial" pitchFamily="34" charset="0"/>
                <a:ea typeface="Arial" pitchFamily="34" charset="-122"/>
                <a:cs typeface="Arial" pitchFamily="34" charset="-120"/>
              </a:rPr>
              <a:t> CPU scheduler dispatches process</a:t>
            </a:r>
            <a:endParaRPr lang="en-US" sz="1050" dirty="0"/>
          </a:p>
        </p:txBody>
      </p:sp>
      <p:sp>
        <p:nvSpPr>
          <p:cNvPr id="47" name="Text 24"/>
          <p:cNvSpPr/>
          <p:nvPr/>
        </p:nvSpPr>
        <p:spPr>
          <a:xfrm>
            <a:off x="6134100" y="6140544"/>
            <a:ext cx="68580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33333"/>
                </a:solidFill>
                <a:latin typeface="Arial" pitchFamily="34" charset="0"/>
                <a:ea typeface="Arial" pitchFamily="34" charset="-122"/>
                <a:cs typeface="Arial" pitchFamily="34" charset="-120"/>
              </a:rPr>
              <a:t>Running to Waiting:</a:t>
            </a:r>
            <a:r>
              <a:rPr lang="en-US" sz="1050" dirty="0">
                <a:solidFill>
                  <a:srgbClr val="333333"/>
                </a:solidFill>
                <a:latin typeface="Arial" pitchFamily="34" charset="0"/>
                <a:ea typeface="Arial" pitchFamily="34" charset="-122"/>
                <a:cs typeface="Arial" pitchFamily="34" charset="-120"/>
              </a:rPr>
              <a:t> Process requests I/O operation</a:t>
            </a:r>
            <a:endParaRPr lang="en-US" sz="1050" dirty="0"/>
          </a:p>
        </p:txBody>
      </p:sp>
      <p:sp>
        <p:nvSpPr>
          <p:cNvPr id="48" name="Text 25"/>
          <p:cNvSpPr/>
          <p:nvPr/>
        </p:nvSpPr>
        <p:spPr>
          <a:xfrm>
            <a:off x="6134100" y="6338065"/>
            <a:ext cx="68580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33333"/>
                </a:solidFill>
                <a:latin typeface="Arial" pitchFamily="34" charset="0"/>
                <a:ea typeface="Arial" pitchFamily="34" charset="-122"/>
                <a:cs typeface="Arial" pitchFamily="34" charset="-120"/>
              </a:rPr>
              <a:t>Running to Ready:</a:t>
            </a:r>
            <a:r>
              <a:rPr lang="en-US" sz="1050" dirty="0">
                <a:solidFill>
                  <a:srgbClr val="333333"/>
                </a:solidFill>
                <a:latin typeface="Arial" pitchFamily="34" charset="0"/>
                <a:ea typeface="Arial" pitchFamily="34" charset="-122"/>
                <a:cs typeface="Arial" pitchFamily="34" charset="-120"/>
              </a:rPr>
              <a:t> Process is preempted</a:t>
            </a:r>
            <a:endParaRPr lang="en-US" sz="1050" dirty="0"/>
          </a:p>
        </p:txBody>
      </p:sp>
      <p:sp>
        <p:nvSpPr>
          <p:cNvPr id="49" name="Text 26"/>
          <p:cNvSpPr/>
          <p:nvPr/>
        </p:nvSpPr>
        <p:spPr>
          <a:xfrm>
            <a:off x="6134100" y="6567076"/>
            <a:ext cx="6858000" cy="190500"/>
          </a:xfrm>
          <a:prstGeom prst="rect">
            <a:avLst/>
          </a:prstGeom>
          <a:noFill/>
          <a:ln/>
        </p:spPr>
        <p:txBody>
          <a:bodyPr wrap="square" lIns="0" tIns="0" rIns="0" bIns="0" rtlCol="0" anchor="t"/>
          <a:lstStyle/>
          <a:p>
            <a:pPr marL="342900" indent="-342900" algn="l">
              <a:lnSpc>
                <a:spcPts val="1500"/>
              </a:lnSpc>
              <a:buSzPct val="100000"/>
              <a:buChar char="•"/>
            </a:pPr>
            <a:r>
              <a:rPr lang="en-US" sz="1050" b="1" dirty="0">
                <a:solidFill>
                  <a:srgbClr val="333333"/>
                </a:solidFill>
                <a:latin typeface="Arial" pitchFamily="34" charset="0"/>
                <a:ea typeface="Arial" pitchFamily="34" charset="-122"/>
                <a:cs typeface="Arial" pitchFamily="34" charset="-120"/>
              </a:rPr>
              <a:t>Waiting to Ready:</a:t>
            </a:r>
            <a:r>
              <a:rPr lang="en-US" sz="1050" dirty="0">
                <a:solidFill>
                  <a:srgbClr val="333333"/>
                </a:solidFill>
                <a:latin typeface="Arial" pitchFamily="34" charset="0"/>
                <a:ea typeface="Arial" pitchFamily="34" charset="-122"/>
                <a:cs typeface="Arial" pitchFamily="34" charset="-120"/>
              </a:rPr>
              <a:t> I/O operation completes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924800"/>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304800" y="1038225"/>
            <a:ext cx="11582400" cy="3314700"/>
          </a:xfrm>
          <a:prstGeom prst="rect">
            <a:avLst/>
          </a:prstGeom>
        </p:spPr>
      </p:pic>
      <p:pic>
        <p:nvPicPr>
          <p:cNvPr id="5" name="Image 3" descr="preencoded.png"/>
          <p:cNvPicPr>
            <a:picLocks noChangeAspect="1"/>
          </p:cNvPicPr>
          <p:nvPr/>
        </p:nvPicPr>
        <p:blipFill>
          <a:blip r:embed="rId6"/>
          <a:stretch>
            <a:fillRect/>
          </a:stretch>
        </p:blipFill>
        <p:spPr>
          <a:xfrm>
            <a:off x="495300" y="1228725"/>
            <a:ext cx="476250" cy="476250"/>
          </a:xfrm>
          <a:prstGeom prst="rect">
            <a:avLst/>
          </a:prstGeom>
        </p:spPr>
      </p:pic>
      <p:pic>
        <p:nvPicPr>
          <p:cNvPr id="6" name="Image 4" descr="preencoded.png"/>
          <p:cNvPicPr>
            <a:picLocks noChangeAspect="1"/>
          </p:cNvPicPr>
          <p:nvPr/>
        </p:nvPicPr>
        <p:blipFill>
          <a:blip r:embed="rId7"/>
          <a:stretch>
            <a:fillRect/>
          </a:stretch>
        </p:blipFill>
        <p:spPr>
          <a:xfrm>
            <a:off x="619125" y="1314450"/>
            <a:ext cx="228600" cy="304800"/>
          </a:xfrm>
          <a:prstGeom prst="rect">
            <a:avLst/>
          </a:prstGeom>
        </p:spPr>
      </p:pic>
      <p:pic>
        <p:nvPicPr>
          <p:cNvPr id="7" name="Image 5" descr="preencoded.png"/>
          <p:cNvPicPr>
            <a:picLocks noChangeAspect="1"/>
          </p:cNvPicPr>
          <p:nvPr/>
        </p:nvPicPr>
        <p:blipFill>
          <a:blip r:embed="rId8"/>
          <a:stretch>
            <a:fillRect/>
          </a:stretch>
        </p:blipFill>
        <p:spPr>
          <a:xfrm>
            <a:off x="495300" y="2733675"/>
            <a:ext cx="11201400" cy="1428750"/>
          </a:xfrm>
          <a:prstGeom prst="rect">
            <a:avLst/>
          </a:prstGeom>
        </p:spPr>
      </p:pic>
      <p:pic>
        <p:nvPicPr>
          <p:cNvPr id="8" name="Image 6" descr="preencoded.png"/>
          <p:cNvPicPr>
            <a:picLocks noChangeAspect="1"/>
          </p:cNvPicPr>
          <p:nvPr/>
        </p:nvPicPr>
        <p:blipFill>
          <a:blip r:embed="rId9"/>
          <a:stretch>
            <a:fillRect/>
          </a:stretch>
        </p:blipFill>
        <p:spPr>
          <a:xfrm>
            <a:off x="317450" y="4429125"/>
            <a:ext cx="11582400" cy="2177621"/>
          </a:xfrm>
          <a:prstGeom prst="rect">
            <a:avLst/>
          </a:prstGeom>
        </p:spPr>
      </p:pic>
      <p:pic>
        <p:nvPicPr>
          <p:cNvPr id="9" name="Image 7" descr="preencoded.png"/>
          <p:cNvPicPr>
            <a:picLocks noChangeAspect="1"/>
          </p:cNvPicPr>
          <p:nvPr/>
        </p:nvPicPr>
        <p:blipFill>
          <a:blip r:embed="rId10"/>
          <a:stretch>
            <a:fillRect/>
          </a:stretch>
        </p:blipFill>
        <p:spPr>
          <a:xfrm>
            <a:off x="495300" y="4476750"/>
            <a:ext cx="476250" cy="476250"/>
          </a:xfrm>
          <a:prstGeom prst="rect">
            <a:avLst/>
          </a:prstGeom>
        </p:spPr>
      </p:pic>
      <p:pic>
        <p:nvPicPr>
          <p:cNvPr id="10" name="Image 8" descr="preencoded.png"/>
          <p:cNvPicPr>
            <a:picLocks noChangeAspect="1"/>
          </p:cNvPicPr>
          <p:nvPr/>
        </p:nvPicPr>
        <p:blipFill>
          <a:blip r:embed="rId11"/>
          <a:stretch>
            <a:fillRect/>
          </a:stretch>
        </p:blipFill>
        <p:spPr>
          <a:xfrm>
            <a:off x="612800" y="4545999"/>
            <a:ext cx="228600" cy="304800"/>
          </a:xfrm>
          <a:prstGeom prst="rect">
            <a:avLst/>
          </a:prstGeom>
        </p:spPr>
      </p:pic>
      <p:pic>
        <p:nvPicPr>
          <p:cNvPr id="11" name="Image 9" descr="preencoded.png"/>
          <p:cNvPicPr>
            <a:picLocks noChangeAspect="1"/>
          </p:cNvPicPr>
          <p:nvPr/>
        </p:nvPicPr>
        <p:blipFill>
          <a:blip r:embed="rId12"/>
          <a:stretch>
            <a:fillRect/>
          </a:stretch>
        </p:blipFill>
        <p:spPr>
          <a:xfrm>
            <a:off x="549756" y="5128826"/>
            <a:ext cx="3632150" cy="520786"/>
          </a:xfrm>
          <a:prstGeom prst="rect">
            <a:avLst/>
          </a:prstGeom>
        </p:spPr>
      </p:pic>
      <p:pic>
        <p:nvPicPr>
          <p:cNvPr id="12" name="Image 10" descr="preencoded.png"/>
          <p:cNvPicPr>
            <a:picLocks noChangeAspect="1"/>
          </p:cNvPicPr>
          <p:nvPr/>
        </p:nvPicPr>
        <p:blipFill>
          <a:blip r:embed="rId13"/>
          <a:stretch>
            <a:fillRect/>
          </a:stretch>
        </p:blipFill>
        <p:spPr>
          <a:xfrm>
            <a:off x="650900" y="5172075"/>
            <a:ext cx="152400" cy="152400"/>
          </a:xfrm>
          <a:prstGeom prst="rect">
            <a:avLst/>
          </a:prstGeom>
        </p:spPr>
      </p:pic>
      <p:pic>
        <p:nvPicPr>
          <p:cNvPr id="13" name="Image 11" descr="preencoded.png"/>
          <p:cNvPicPr>
            <a:picLocks noChangeAspect="1"/>
          </p:cNvPicPr>
          <p:nvPr/>
        </p:nvPicPr>
        <p:blipFill>
          <a:blip r:embed="rId14"/>
          <a:stretch>
            <a:fillRect/>
          </a:stretch>
        </p:blipFill>
        <p:spPr>
          <a:xfrm>
            <a:off x="4292575" y="5133975"/>
            <a:ext cx="3632150" cy="515637"/>
          </a:xfrm>
          <a:prstGeom prst="rect">
            <a:avLst/>
          </a:prstGeom>
        </p:spPr>
      </p:pic>
      <p:pic>
        <p:nvPicPr>
          <p:cNvPr id="14" name="Image 12" descr="preencoded.png"/>
          <p:cNvPicPr>
            <a:picLocks noChangeAspect="1"/>
          </p:cNvPicPr>
          <p:nvPr/>
        </p:nvPicPr>
        <p:blipFill>
          <a:blip r:embed="rId15"/>
          <a:stretch>
            <a:fillRect/>
          </a:stretch>
        </p:blipFill>
        <p:spPr>
          <a:xfrm>
            <a:off x="4403675" y="5172075"/>
            <a:ext cx="152400" cy="152400"/>
          </a:xfrm>
          <a:prstGeom prst="rect">
            <a:avLst/>
          </a:prstGeom>
        </p:spPr>
      </p:pic>
      <p:pic>
        <p:nvPicPr>
          <p:cNvPr id="15" name="Image 13" descr="preencoded.png"/>
          <p:cNvPicPr>
            <a:picLocks noChangeAspect="1"/>
          </p:cNvPicPr>
          <p:nvPr/>
        </p:nvPicPr>
        <p:blipFill>
          <a:blip r:embed="rId16"/>
          <a:stretch>
            <a:fillRect/>
          </a:stretch>
        </p:blipFill>
        <p:spPr>
          <a:xfrm>
            <a:off x="8068419" y="5133975"/>
            <a:ext cx="3632299" cy="515637"/>
          </a:xfrm>
          <a:prstGeom prst="rect">
            <a:avLst/>
          </a:prstGeom>
        </p:spPr>
      </p:pic>
      <p:pic>
        <p:nvPicPr>
          <p:cNvPr id="16" name="Image 14" descr="preencoded.png"/>
          <p:cNvPicPr>
            <a:picLocks noChangeAspect="1"/>
          </p:cNvPicPr>
          <p:nvPr/>
        </p:nvPicPr>
        <p:blipFill>
          <a:blip r:embed="rId17"/>
          <a:stretch>
            <a:fillRect/>
          </a:stretch>
        </p:blipFill>
        <p:spPr>
          <a:xfrm>
            <a:off x="8198643" y="5157144"/>
            <a:ext cx="114300" cy="152400"/>
          </a:xfrm>
          <a:prstGeom prst="rect">
            <a:avLst/>
          </a:prstGeom>
        </p:spPr>
      </p:pic>
      <p:pic>
        <p:nvPicPr>
          <p:cNvPr id="17" name="Image 15" descr="preencoded.png"/>
          <p:cNvPicPr>
            <a:picLocks noChangeAspect="1"/>
          </p:cNvPicPr>
          <p:nvPr/>
        </p:nvPicPr>
        <p:blipFill>
          <a:blip r:embed="rId18"/>
          <a:stretch>
            <a:fillRect/>
          </a:stretch>
        </p:blipFill>
        <p:spPr>
          <a:xfrm>
            <a:off x="549756" y="5825953"/>
            <a:ext cx="3632150" cy="630709"/>
          </a:xfrm>
          <a:prstGeom prst="rect">
            <a:avLst/>
          </a:prstGeom>
        </p:spPr>
      </p:pic>
      <p:pic>
        <p:nvPicPr>
          <p:cNvPr id="18" name="Image 16" descr="preencoded.png"/>
          <p:cNvPicPr>
            <a:picLocks noChangeAspect="1"/>
          </p:cNvPicPr>
          <p:nvPr/>
        </p:nvPicPr>
        <p:blipFill>
          <a:blip r:embed="rId19"/>
          <a:stretch>
            <a:fillRect/>
          </a:stretch>
        </p:blipFill>
        <p:spPr>
          <a:xfrm>
            <a:off x="673916" y="5910262"/>
            <a:ext cx="152400" cy="152400"/>
          </a:xfrm>
          <a:prstGeom prst="rect">
            <a:avLst/>
          </a:prstGeom>
        </p:spPr>
      </p:pic>
      <p:pic>
        <p:nvPicPr>
          <p:cNvPr id="19" name="Image 17" descr="preencoded.png"/>
          <p:cNvPicPr>
            <a:picLocks noChangeAspect="1"/>
          </p:cNvPicPr>
          <p:nvPr/>
        </p:nvPicPr>
        <p:blipFill>
          <a:blip r:embed="rId20"/>
          <a:stretch>
            <a:fillRect/>
          </a:stretch>
        </p:blipFill>
        <p:spPr>
          <a:xfrm>
            <a:off x="4292575" y="5884390"/>
            <a:ext cx="3632150" cy="630709"/>
          </a:xfrm>
          <a:prstGeom prst="rect">
            <a:avLst/>
          </a:prstGeom>
        </p:spPr>
      </p:pic>
      <p:pic>
        <p:nvPicPr>
          <p:cNvPr id="20" name="Image 18" descr="preencoded.png"/>
          <p:cNvPicPr>
            <a:picLocks noChangeAspect="1"/>
          </p:cNvPicPr>
          <p:nvPr/>
        </p:nvPicPr>
        <p:blipFill>
          <a:blip r:embed="rId21"/>
          <a:stretch>
            <a:fillRect/>
          </a:stretch>
        </p:blipFill>
        <p:spPr>
          <a:xfrm>
            <a:off x="4404741" y="5926093"/>
            <a:ext cx="114300" cy="152400"/>
          </a:xfrm>
          <a:prstGeom prst="rect">
            <a:avLst/>
          </a:prstGeom>
        </p:spPr>
      </p:pic>
      <p:sp>
        <p:nvSpPr>
          <p:cNvPr id="21" name="Text 0"/>
          <p:cNvSpPr/>
          <p:nvPr/>
        </p:nvSpPr>
        <p:spPr>
          <a:xfrm>
            <a:off x="285750" y="142875"/>
            <a:ext cx="3459897"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CPU Scheduling Concepts</a:t>
            </a:r>
            <a:endParaRPr lang="en-US" sz="1800" dirty="0"/>
          </a:p>
        </p:txBody>
      </p:sp>
      <p:sp>
        <p:nvSpPr>
          <p:cNvPr id="22" name="Text 1"/>
          <p:cNvSpPr/>
          <p:nvPr/>
        </p:nvSpPr>
        <p:spPr>
          <a:xfrm>
            <a:off x="1114425" y="1333500"/>
            <a:ext cx="3454182" cy="266700"/>
          </a:xfrm>
          <a:prstGeom prst="rect">
            <a:avLst/>
          </a:prstGeom>
          <a:noFill/>
          <a:ln/>
        </p:spPr>
        <p:txBody>
          <a:bodyPr wrap="square" lIns="0" tIns="0" rIns="0" bIns="0" rtlCol="0" anchor="t"/>
          <a:lstStyle/>
          <a:p>
            <a:pPr marL="0" indent="0">
              <a:lnSpc>
                <a:spcPts val="2100"/>
              </a:lnSpc>
              <a:buNone/>
            </a:pPr>
            <a:r>
              <a:rPr lang="en-US" sz="1500" b="1" dirty="0">
                <a:solidFill>
                  <a:srgbClr val="333333"/>
                </a:solidFill>
                <a:latin typeface="Arial" pitchFamily="34" charset="0"/>
                <a:ea typeface="Arial" pitchFamily="34" charset="-122"/>
                <a:cs typeface="Arial" pitchFamily="34" charset="-120"/>
              </a:rPr>
              <a:t>Introduction to CPU Scheduling</a:t>
            </a:r>
            <a:endParaRPr lang="en-US" sz="1500" dirty="0"/>
          </a:p>
        </p:txBody>
      </p:sp>
      <p:sp>
        <p:nvSpPr>
          <p:cNvPr id="23" name="Text 2"/>
          <p:cNvSpPr/>
          <p:nvPr/>
        </p:nvSpPr>
        <p:spPr>
          <a:xfrm>
            <a:off x="495300" y="1857375"/>
            <a:ext cx="11201400" cy="533400"/>
          </a:xfrm>
          <a:prstGeom prst="rect">
            <a:avLst/>
          </a:prstGeom>
          <a:noFill/>
          <a:ln/>
        </p:spPr>
        <p:txBody>
          <a:bodyPr wrap="square" lIns="0" tIns="0" rIns="0" bIns="0" rtlCol="0" anchor="t"/>
          <a:lstStyle/>
          <a:p>
            <a:pPr marL="0" indent="0">
              <a:lnSpc>
                <a:spcPts val="2100"/>
              </a:lnSpc>
              <a:buNone/>
            </a:pPr>
            <a:r>
              <a:rPr lang="en-US" sz="1350" dirty="0">
                <a:solidFill>
                  <a:srgbClr val="333333"/>
                </a:solidFill>
                <a:latin typeface="Arial" pitchFamily="34" charset="0"/>
                <a:ea typeface="Arial" pitchFamily="34" charset="-122"/>
                <a:cs typeface="Arial" pitchFamily="34" charset="-120"/>
              </a:rPr>
              <a:t>CPU scheduling is a fundamental operating system function in multiprogramming environments, aiming to maximize CPU utilization by efficiently allocating the CPU among multiple competing processes.</a:t>
            </a:r>
            <a:endParaRPr lang="en-US" sz="1350" dirty="0"/>
          </a:p>
        </p:txBody>
      </p:sp>
      <p:sp>
        <p:nvSpPr>
          <p:cNvPr id="24" name="Text 3"/>
          <p:cNvSpPr/>
          <p:nvPr/>
        </p:nvSpPr>
        <p:spPr>
          <a:xfrm>
            <a:off x="495300" y="2466975"/>
            <a:ext cx="13441680" cy="266700"/>
          </a:xfrm>
          <a:prstGeom prst="rect">
            <a:avLst/>
          </a:prstGeom>
          <a:noFill/>
          <a:ln/>
        </p:spPr>
        <p:txBody>
          <a:bodyPr wrap="square" lIns="0" tIns="0" rIns="0" bIns="0" rtlCol="0" anchor="t"/>
          <a:lstStyle/>
          <a:p>
            <a:pPr marL="0" indent="0">
              <a:lnSpc>
                <a:spcPts val="2100"/>
              </a:lnSpc>
              <a:buNone/>
            </a:pPr>
            <a:r>
              <a:rPr lang="en-US" sz="1350" dirty="0">
                <a:solidFill>
                  <a:srgbClr val="333333"/>
                </a:solidFill>
                <a:latin typeface="Arial" pitchFamily="34" charset="0"/>
                <a:ea typeface="Arial" pitchFamily="34" charset="-122"/>
                <a:cs typeface="Arial" pitchFamily="34" charset="-120"/>
              </a:rPr>
              <a:t>The primary goal is to ensure smooth and efficient execution of these processes while maintaining system responsiveness and resource efficiency.</a:t>
            </a:r>
            <a:endParaRPr lang="en-US" sz="1350" dirty="0"/>
          </a:p>
        </p:txBody>
      </p:sp>
      <p:sp>
        <p:nvSpPr>
          <p:cNvPr id="25" name="Text 4"/>
          <p:cNvSpPr/>
          <p:nvPr/>
        </p:nvSpPr>
        <p:spPr>
          <a:xfrm>
            <a:off x="1114425" y="4629150"/>
            <a:ext cx="2502813" cy="266700"/>
          </a:xfrm>
          <a:prstGeom prst="rect">
            <a:avLst/>
          </a:prstGeom>
          <a:noFill/>
          <a:ln/>
        </p:spPr>
        <p:txBody>
          <a:bodyPr wrap="square" lIns="0" tIns="0" rIns="0" bIns="0" rtlCol="0" anchor="t"/>
          <a:lstStyle/>
          <a:p>
            <a:pPr marL="0" indent="0">
              <a:lnSpc>
                <a:spcPts val="2100"/>
              </a:lnSpc>
              <a:buNone/>
            </a:pPr>
            <a:r>
              <a:rPr lang="en-US" sz="1500" b="1" dirty="0">
                <a:solidFill>
                  <a:srgbClr val="333333"/>
                </a:solidFill>
                <a:latin typeface="Arial" pitchFamily="34" charset="0"/>
                <a:ea typeface="Arial" pitchFamily="34" charset="-122"/>
                <a:cs typeface="Arial" pitchFamily="34" charset="-120"/>
              </a:rPr>
              <a:t>Key Evaluation Criteria</a:t>
            </a:r>
            <a:endParaRPr lang="en-US" sz="1500" dirty="0"/>
          </a:p>
        </p:txBody>
      </p:sp>
      <p:sp>
        <p:nvSpPr>
          <p:cNvPr id="26" name="Text 5"/>
          <p:cNvSpPr/>
          <p:nvPr/>
        </p:nvSpPr>
        <p:spPr>
          <a:xfrm>
            <a:off x="985041" y="5157916"/>
            <a:ext cx="131070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CPU Utilization</a:t>
            </a:r>
            <a:endParaRPr lang="en-US" sz="1200" dirty="0"/>
          </a:p>
        </p:txBody>
      </p:sp>
      <p:sp>
        <p:nvSpPr>
          <p:cNvPr id="27" name="Text 6"/>
          <p:cNvSpPr/>
          <p:nvPr/>
        </p:nvSpPr>
        <p:spPr>
          <a:xfrm>
            <a:off x="650900" y="5408140"/>
            <a:ext cx="401568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Keeping the CPU as busy as possible</a:t>
            </a:r>
            <a:endParaRPr lang="en-US" sz="1050" dirty="0"/>
          </a:p>
        </p:txBody>
      </p:sp>
      <p:sp>
        <p:nvSpPr>
          <p:cNvPr id="28" name="Text 7"/>
          <p:cNvSpPr/>
          <p:nvPr/>
        </p:nvSpPr>
        <p:spPr>
          <a:xfrm>
            <a:off x="4651325" y="5151223"/>
            <a:ext cx="1025843"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Throughput</a:t>
            </a:r>
            <a:endParaRPr lang="en-US" sz="1200" dirty="0"/>
          </a:p>
        </p:txBody>
      </p:sp>
      <p:sp>
        <p:nvSpPr>
          <p:cNvPr id="29" name="Text 8"/>
          <p:cNvSpPr/>
          <p:nvPr/>
        </p:nvSpPr>
        <p:spPr>
          <a:xfrm>
            <a:off x="4393911" y="5441349"/>
            <a:ext cx="401568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Number of processes completed per unit of time</a:t>
            </a:r>
            <a:endParaRPr lang="en-US" sz="1050" dirty="0"/>
          </a:p>
        </p:txBody>
      </p:sp>
      <p:sp>
        <p:nvSpPr>
          <p:cNvPr id="30" name="Text 9"/>
          <p:cNvSpPr/>
          <p:nvPr/>
        </p:nvSpPr>
        <p:spPr>
          <a:xfrm>
            <a:off x="8397775" y="5128826"/>
            <a:ext cx="1486793"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Turnaround Time</a:t>
            </a:r>
            <a:endParaRPr lang="en-US" sz="1200" dirty="0"/>
          </a:p>
        </p:txBody>
      </p:sp>
      <p:sp>
        <p:nvSpPr>
          <p:cNvPr id="31" name="Text 10"/>
          <p:cNvSpPr/>
          <p:nvPr/>
        </p:nvSpPr>
        <p:spPr>
          <a:xfrm>
            <a:off x="8198643" y="5459112"/>
            <a:ext cx="4015859"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Total time from process arrival to completion</a:t>
            </a:r>
            <a:endParaRPr lang="en-US" sz="1050" dirty="0"/>
          </a:p>
        </p:txBody>
      </p:sp>
      <p:sp>
        <p:nvSpPr>
          <p:cNvPr id="32" name="Text 11"/>
          <p:cNvSpPr/>
          <p:nvPr/>
        </p:nvSpPr>
        <p:spPr>
          <a:xfrm>
            <a:off x="985041" y="5863152"/>
            <a:ext cx="112782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Waiting Time</a:t>
            </a:r>
            <a:endParaRPr lang="en-US" sz="1200" dirty="0"/>
          </a:p>
        </p:txBody>
      </p:sp>
      <p:sp>
        <p:nvSpPr>
          <p:cNvPr id="33" name="Text 12"/>
          <p:cNvSpPr/>
          <p:nvPr/>
        </p:nvSpPr>
        <p:spPr>
          <a:xfrm>
            <a:off x="654113" y="6172200"/>
            <a:ext cx="401568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Total time a process spends waiting in the ready queue</a:t>
            </a:r>
            <a:endParaRPr lang="en-US" sz="1050" dirty="0"/>
          </a:p>
        </p:txBody>
      </p:sp>
      <p:sp>
        <p:nvSpPr>
          <p:cNvPr id="34" name="Text 13"/>
          <p:cNvSpPr/>
          <p:nvPr/>
        </p:nvSpPr>
        <p:spPr>
          <a:xfrm>
            <a:off x="4556075" y="5887736"/>
            <a:ext cx="1348383"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Response Time</a:t>
            </a:r>
            <a:endParaRPr lang="en-US" sz="1200" dirty="0"/>
          </a:p>
        </p:txBody>
      </p:sp>
      <p:sp>
        <p:nvSpPr>
          <p:cNvPr id="35" name="Text 14"/>
          <p:cNvSpPr/>
          <p:nvPr/>
        </p:nvSpPr>
        <p:spPr>
          <a:xfrm>
            <a:off x="4393911" y="6134099"/>
            <a:ext cx="334640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Time from request submission until first response is produced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787978"/>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304800" y="895350"/>
            <a:ext cx="5676900" cy="4419600"/>
          </a:xfrm>
          <a:prstGeom prst="rect">
            <a:avLst/>
          </a:prstGeom>
        </p:spPr>
      </p:pic>
      <p:pic>
        <p:nvPicPr>
          <p:cNvPr id="5" name="Image 3" descr="preencoded.png"/>
          <p:cNvPicPr>
            <a:picLocks noChangeAspect="1"/>
          </p:cNvPicPr>
          <p:nvPr/>
        </p:nvPicPr>
        <p:blipFill>
          <a:blip r:embed="rId6"/>
          <a:stretch>
            <a:fillRect/>
          </a:stretch>
        </p:blipFill>
        <p:spPr>
          <a:xfrm>
            <a:off x="495300" y="1085850"/>
            <a:ext cx="381000" cy="381000"/>
          </a:xfrm>
          <a:prstGeom prst="rect">
            <a:avLst/>
          </a:prstGeom>
        </p:spPr>
      </p:pic>
      <p:pic>
        <p:nvPicPr>
          <p:cNvPr id="6" name="Image 4" descr="preencoded.png"/>
          <p:cNvPicPr>
            <a:picLocks noChangeAspect="1"/>
          </p:cNvPicPr>
          <p:nvPr/>
        </p:nvPicPr>
        <p:blipFill>
          <a:blip r:embed="rId7"/>
          <a:stretch>
            <a:fillRect/>
          </a:stretch>
        </p:blipFill>
        <p:spPr>
          <a:xfrm>
            <a:off x="600075" y="1200150"/>
            <a:ext cx="171450" cy="152400"/>
          </a:xfrm>
          <a:prstGeom prst="rect">
            <a:avLst/>
          </a:prstGeom>
        </p:spPr>
      </p:pic>
      <p:pic>
        <p:nvPicPr>
          <p:cNvPr id="7" name="Image 5" descr="preencoded.png"/>
          <p:cNvPicPr>
            <a:picLocks noChangeAspect="1"/>
          </p:cNvPicPr>
          <p:nvPr/>
        </p:nvPicPr>
        <p:blipFill>
          <a:blip r:embed="rId8"/>
          <a:stretch>
            <a:fillRect/>
          </a:stretch>
        </p:blipFill>
        <p:spPr>
          <a:xfrm>
            <a:off x="495300" y="1962150"/>
            <a:ext cx="266700" cy="266700"/>
          </a:xfrm>
          <a:prstGeom prst="rect">
            <a:avLst/>
          </a:prstGeom>
        </p:spPr>
      </p:pic>
      <p:pic>
        <p:nvPicPr>
          <p:cNvPr id="8" name="Image 6" descr="preencoded.png"/>
          <p:cNvPicPr>
            <a:picLocks noChangeAspect="1"/>
          </p:cNvPicPr>
          <p:nvPr/>
        </p:nvPicPr>
        <p:blipFill>
          <a:blip r:embed="rId9"/>
          <a:stretch>
            <a:fillRect/>
          </a:stretch>
        </p:blipFill>
        <p:spPr>
          <a:xfrm>
            <a:off x="552450" y="2019300"/>
            <a:ext cx="152400" cy="152400"/>
          </a:xfrm>
          <a:prstGeom prst="rect">
            <a:avLst/>
          </a:prstGeom>
        </p:spPr>
      </p:pic>
      <p:pic>
        <p:nvPicPr>
          <p:cNvPr id="9" name="Image 7" descr="preencoded.png"/>
          <p:cNvPicPr>
            <a:picLocks noChangeAspect="1"/>
          </p:cNvPicPr>
          <p:nvPr/>
        </p:nvPicPr>
        <p:blipFill>
          <a:blip r:embed="rId10"/>
          <a:stretch>
            <a:fillRect/>
          </a:stretch>
        </p:blipFill>
        <p:spPr>
          <a:xfrm>
            <a:off x="495300" y="2343150"/>
            <a:ext cx="266700" cy="266700"/>
          </a:xfrm>
          <a:prstGeom prst="rect">
            <a:avLst/>
          </a:prstGeom>
        </p:spPr>
      </p:pic>
      <p:pic>
        <p:nvPicPr>
          <p:cNvPr id="10" name="Image 8" descr="preencoded.png"/>
          <p:cNvPicPr>
            <a:picLocks noChangeAspect="1"/>
          </p:cNvPicPr>
          <p:nvPr/>
        </p:nvPicPr>
        <p:blipFill>
          <a:blip r:embed="rId11"/>
          <a:stretch>
            <a:fillRect/>
          </a:stretch>
        </p:blipFill>
        <p:spPr>
          <a:xfrm>
            <a:off x="581025" y="2400300"/>
            <a:ext cx="95250" cy="152400"/>
          </a:xfrm>
          <a:prstGeom prst="rect">
            <a:avLst/>
          </a:prstGeom>
        </p:spPr>
      </p:pic>
      <p:pic>
        <p:nvPicPr>
          <p:cNvPr id="11" name="Image 9" descr="preencoded.png"/>
          <p:cNvPicPr>
            <a:picLocks noChangeAspect="1"/>
          </p:cNvPicPr>
          <p:nvPr/>
        </p:nvPicPr>
        <p:blipFill>
          <a:blip r:embed="rId12"/>
          <a:stretch>
            <a:fillRect/>
          </a:stretch>
        </p:blipFill>
        <p:spPr>
          <a:xfrm>
            <a:off x="495300" y="2724150"/>
            <a:ext cx="266700" cy="266700"/>
          </a:xfrm>
          <a:prstGeom prst="rect">
            <a:avLst/>
          </a:prstGeom>
        </p:spPr>
      </p:pic>
      <p:pic>
        <p:nvPicPr>
          <p:cNvPr id="12" name="Image 10" descr="preencoded.png"/>
          <p:cNvPicPr>
            <a:picLocks noChangeAspect="1"/>
          </p:cNvPicPr>
          <p:nvPr/>
        </p:nvPicPr>
        <p:blipFill>
          <a:blip r:embed="rId13"/>
          <a:stretch>
            <a:fillRect/>
          </a:stretch>
        </p:blipFill>
        <p:spPr>
          <a:xfrm>
            <a:off x="552450" y="2781300"/>
            <a:ext cx="152400" cy="152400"/>
          </a:xfrm>
          <a:prstGeom prst="rect">
            <a:avLst/>
          </a:prstGeom>
        </p:spPr>
      </p:pic>
      <p:pic>
        <p:nvPicPr>
          <p:cNvPr id="13" name="Image 11" descr="preencoded.png"/>
          <p:cNvPicPr>
            <a:picLocks noChangeAspect="1"/>
          </p:cNvPicPr>
          <p:nvPr/>
        </p:nvPicPr>
        <p:blipFill>
          <a:blip r:embed="rId14"/>
          <a:stretch>
            <a:fillRect/>
          </a:stretch>
        </p:blipFill>
        <p:spPr>
          <a:xfrm>
            <a:off x="495300" y="3105150"/>
            <a:ext cx="266700" cy="266700"/>
          </a:xfrm>
          <a:prstGeom prst="rect">
            <a:avLst/>
          </a:prstGeom>
        </p:spPr>
      </p:pic>
      <p:pic>
        <p:nvPicPr>
          <p:cNvPr id="14" name="Image 12" descr="preencoded.png"/>
          <p:cNvPicPr>
            <a:picLocks noChangeAspect="1"/>
          </p:cNvPicPr>
          <p:nvPr/>
        </p:nvPicPr>
        <p:blipFill>
          <a:blip r:embed="rId15"/>
          <a:stretch>
            <a:fillRect/>
          </a:stretch>
        </p:blipFill>
        <p:spPr>
          <a:xfrm>
            <a:off x="552450" y="3162300"/>
            <a:ext cx="152400" cy="152400"/>
          </a:xfrm>
          <a:prstGeom prst="rect">
            <a:avLst/>
          </a:prstGeom>
        </p:spPr>
      </p:pic>
      <p:pic>
        <p:nvPicPr>
          <p:cNvPr id="15" name="Image 13" descr="preencoded.png"/>
          <p:cNvPicPr>
            <a:picLocks noChangeAspect="1"/>
          </p:cNvPicPr>
          <p:nvPr/>
        </p:nvPicPr>
        <p:blipFill>
          <a:blip r:embed="rId16"/>
          <a:stretch>
            <a:fillRect/>
          </a:stretch>
        </p:blipFill>
        <p:spPr>
          <a:xfrm>
            <a:off x="495300" y="3524250"/>
            <a:ext cx="5295900" cy="1600200"/>
          </a:xfrm>
          <a:prstGeom prst="rect">
            <a:avLst/>
          </a:prstGeom>
        </p:spPr>
      </p:pic>
      <p:pic>
        <p:nvPicPr>
          <p:cNvPr id="16" name="Image 14" descr="preencoded.png"/>
          <p:cNvPicPr>
            <a:picLocks noChangeAspect="1"/>
          </p:cNvPicPr>
          <p:nvPr/>
        </p:nvPicPr>
        <p:blipFill>
          <a:blip r:embed="rId17"/>
          <a:stretch>
            <a:fillRect/>
          </a:stretch>
        </p:blipFill>
        <p:spPr>
          <a:xfrm>
            <a:off x="609600" y="3657600"/>
            <a:ext cx="152400" cy="152400"/>
          </a:xfrm>
          <a:prstGeom prst="rect">
            <a:avLst/>
          </a:prstGeom>
        </p:spPr>
      </p:pic>
      <p:pic>
        <p:nvPicPr>
          <p:cNvPr id="17" name="Image 15" descr="preencoded.png"/>
          <p:cNvPicPr>
            <a:picLocks noChangeAspect="1"/>
          </p:cNvPicPr>
          <p:nvPr/>
        </p:nvPicPr>
        <p:blipFill>
          <a:blip r:embed="rId18"/>
          <a:stretch>
            <a:fillRect/>
          </a:stretch>
        </p:blipFill>
        <p:spPr>
          <a:xfrm>
            <a:off x="800100" y="4095750"/>
            <a:ext cx="2286000" cy="152400"/>
          </a:xfrm>
          <a:prstGeom prst="rect">
            <a:avLst/>
          </a:prstGeom>
        </p:spPr>
      </p:pic>
      <p:pic>
        <p:nvPicPr>
          <p:cNvPr id="18" name="Image 16" descr="preencoded.png"/>
          <p:cNvPicPr>
            <a:picLocks noChangeAspect="1"/>
          </p:cNvPicPr>
          <p:nvPr/>
        </p:nvPicPr>
        <p:blipFill>
          <a:blip r:embed="rId19"/>
          <a:stretch>
            <a:fillRect/>
          </a:stretch>
        </p:blipFill>
        <p:spPr>
          <a:xfrm>
            <a:off x="3086100" y="4286250"/>
            <a:ext cx="285750" cy="152400"/>
          </a:xfrm>
          <a:prstGeom prst="rect">
            <a:avLst/>
          </a:prstGeom>
        </p:spPr>
      </p:pic>
      <p:pic>
        <p:nvPicPr>
          <p:cNvPr id="19" name="Image 17" descr="preencoded.png"/>
          <p:cNvPicPr>
            <a:picLocks noChangeAspect="1"/>
          </p:cNvPicPr>
          <p:nvPr/>
        </p:nvPicPr>
        <p:blipFill>
          <a:blip r:embed="rId20"/>
          <a:stretch>
            <a:fillRect/>
          </a:stretch>
        </p:blipFill>
        <p:spPr>
          <a:xfrm>
            <a:off x="3371850" y="4476750"/>
            <a:ext cx="1143000" cy="152400"/>
          </a:xfrm>
          <a:prstGeom prst="rect">
            <a:avLst/>
          </a:prstGeom>
        </p:spPr>
      </p:pic>
      <p:pic>
        <p:nvPicPr>
          <p:cNvPr id="20" name="Image 18" descr="preencoded.png"/>
          <p:cNvPicPr>
            <a:picLocks noChangeAspect="1"/>
          </p:cNvPicPr>
          <p:nvPr/>
        </p:nvPicPr>
        <p:blipFill>
          <a:blip r:embed="rId21"/>
          <a:stretch>
            <a:fillRect/>
          </a:stretch>
        </p:blipFill>
        <p:spPr>
          <a:xfrm>
            <a:off x="6210300" y="895350"/>
            <a:ext cx="5676900" cy="4419600"/>
          </a:xfrm>
          <a:prstGeom prst="rect">
            <a:avLst/>
          </a:prstGeom>
        </p:spPr>
      </p:pic>
      <p:pic>
        <p:nvPicPr>
          <p:cNvPr id="21" name="Image 19" descr="preencoded.png"/>
          <p:cNvPicPr>
            <a:picLocks noChangeAspect="1"/>
          </p:cNvPicPr>
          <p:nvPr/>
        </p:nvPicPr>
        <p:blipFill>
          <a:blip r:embed="rId22"/>
          <a:stretch>
            <a:fillRect/>
          </a:stretch>
        </p:blipFill>
        <p:spPr>
          <a:xfrm>
            <a:off x="6400800" y="1085850"/>
            <a:ext cx="381000" cy="381000"/>
          </a:xfrm>
          <a:prstGeom prst="rect">
            <a:avLst/>
          </a:prstGeom>
        </p:spPr>
      </p:pic>
      <p:pic>
        <p:nvPicPr>
          <p:cNvPr id="22" name="Image 20" descr="preencoded.png"/>
          <p:cNvPicPr>
            <a:picLocks noChangeAspect="1"/>
          </p:cNvPicPr>
          <p:nvPr/>
        </p:nvPicPr>
        <p:blipFill>
          <a:blip r:embed="rId23"/>
          <a:stretch>
            <a:fillRect/>
          </a:stretch>
        </p:blipFill>
        <p:spPr>
          <a:xfrm>
            <a:off x="6505575" y="1200150"/>
            <a:ext cx="171450" cy="152400"/>
          </a:xfrm>
          <a:prstGeom prst="rect">
            <a:avLst/>
          </a:prstGeom>
        </p:spPr>
      </p:pic>
      <p:pic>
        <p:nvPicPr>
          <p:cNvPr id="23" name="Image 21" descr="preencoded.png"/>
          <p:cNvPicPr>
            <a:picLocks noChangeAspect="1"/>
          </p:cNvPicPr>
          <p:nvPr/>
        </p:nvPicPr>
        <p:blipFill>
          <a:blip r:embed="rId24"/>
          <a:stretch>
            <a:fillRect/>
          </a:stretch>
        </p:blipFill>
        <p:spPr>
          <a:xfrm>
            <a:off x="6400800" y="1962150"/>
            <a:ext cx="266700" cy="266700"/>
          </a:xfrm>
          <a:prstGeom prst="rect">
            <a:avLst/>
          </a:prstGeom>
        </p:spPr>
      </p:pic>
      <p:pic>
        <p:nvPicPr>
          <p:cNvPr id="24" name="Image 22" descr="preencoded.png"/>
          <p:cNvPicPr>
            <a:picLocks noChangeAspect="1"/>
          </p:cNvPicPr>
          <p:nvPr/>
        </p:nvPicPr>
        <p:blipFill>
          <a:blip r:embed="rId25"/>
          <a:stretch>
            <a:fillRect/>
          </a:stretch>
        </p:blipFill>
        <p:spPr>
          <a:xfrm>
            <a:off x="6457950" y="2019300"/>
            <a:ext cx="152400" cy="152400"/>
          </a:xfrm>
          <a:prstGeom prst="rect">
            <a:avLst/>
          </a:prstGeom>
        </p:spPr>
      </p:pic>
      <p:pic>
        <p:nvPicPr>
          <p:cNvPr id="25" name="Image 23" descr="preencoded.png"/>
          <p:cNvPicPr>
            <a:picLocks noChangeAspect="1"/>
          </p:cNvPicPr>
          <p:nvPr/>
        </p:nvPicPr>
        <p:blipFill>
          <a:blip r:embed="rId26"/>
          <a:stretch>
            <a:fillRect/>
          </a:stretch>
        </p:blipFill>
        <p:spPr>
          <a:xfrm>
            <a:off x="6400800" y="2343150"/>
            <a:ext cx="266700" cy="266700"/>
          </a:xfrm>
          <a:prstGeom prst="rect">
            <a:avLst/>
          </a:prstGeom>
        </p:spPr>
      </p:pic>
      <p:pic>
        <p:nvPicPr>
          <p:cNvPr id="26" name="Image 24" descr="preencoded.png"/>
          <p:cNvPicPr>
            <a:picLocks noChangeAspect="1"/>
          </p:cNvPicPr>
          <p:nvPr/>
        </p:nvPicPr>
        <p:blipFill>
          <a:blip r:embed="rId27"/>
          <a:stretch>
            <a:fillRect/>
          </a:stretch>
        </p:blipFill>
        <p:spPr>
          <a:xfrm>
            <a:off x="6486525" y="2400300"/>
            <a:ext cx="95250" cy="152400"/>
          </a:xfrm>
          <a:prstGeom prst="rect">
            <a:avLst/>
          </a:prstGeom>
        </p:spPr>
      </p:pic>
      <p:pic>
        <p:nvPicPr>
          <p:cNvPr id="27" name="Image 25" descr="preencoded.png"/>
          <p:cNvPicPr>
            <a:picLocks noChangeAspect="1"/>
          </p:cNvPicPr>
          <p:nvPr/>
        </p:nvPicPr>
        <p:blipFill>
          <a:blip r:embed="rId28"/>
          <a:stretch>
            <a:fillRect/>
          </a:stretch>
        </p:blipFill>
        <p:spPr>
          <a:xfrm>
            <a:off x="6400800" y="2724150"/>
            <a:ext cx="266700" cy="266700"/>
          </a:xfrm>
          <a:prstGeom prst="rect">
            <a:avLst/>
          </a:prstGeom>
        </p:spPr>
      </p:pic>
      <p:pic>
        <p:nvPicPr>
          <p:cNvPr id="28" name="Image 26" descr="preencoded.png"/>
          <p:cNvPicPr>
            <a:picLocks noChangeAspect="1"/>
          </p:cNvPicPr>
          <p:nvPr/>
        </p:nvPicPr>
        <p:blipFill>
          <a:blip r:embed="rId29"/>
          <a:stretch>
            <a:fillRect/>
          </a:stretch>
        </p:blipFill>
        <p:spPr>
          <a:xfrm>
            <a:off x="6457950" y="2781300"/>
            <a:ext cx="152400" cy="152400"/>
          </a:xfrm>
          <a:prstGeom prst="rect">
            <a:avLst/>
          </a:prstGeom>
        </p:spPr>
      </p:pic>
      <p:pic>
        <p:nvPicPr>
          <p:cNvPr id="29" name="Image 27" descr="preencoded.png"/>
          <p:cNvPicPr>
            <a:picLocks noChangeAspect="1"/>
          </p:cNvPicPr>
          <p:nvPr/>
        </p:nvPicPr>
        <p:blipFill>
          <a:blip r:embed="rId30"/>
          <a:stretch>
            <a:fillRect/>
          </a:stretch>
        </p:blipFill>
        <p:spPr>
          <a:xfrm>
            <a:off x="6400800" y="3105150"/>
            <a:ext cx="266700" cy="266700"/>
          </a:xfrm>
          <a:prstGeom prst="rect">
            <a:avLst/>
          </a:prstGeom>
        </p:spPr>
      </p:pic>
      <p:pic>
        <p:nvPicPr>
          <p:cNvPr id="30" name="Image 28" descr="preencoded.png"/>
          <p:cNvPicPr>
            <a:picLocks noChangeAspect="1"/>
          </p:cNvPicPr>
          <p:nvPr/>
        </p:nvPicPr>
        <p:blipFill>
          <a:blip r:embed="rId31"/>
          <a:stretch>
            <a:fillRect/>
          </a:stretch>
        </p:blipFill>
        <p:spPr>
          <a:xfrm>
            <a:off x="6457950" y="3162300"/>
            <a:ext cx="152400" cy="152400"/>
          </a:xfrm>
          <a:prstGeom prst="rect">
            <a:avLst/>
          </a:prstGeom>
        </p:spPr>
      </p:pic>
      <p:pic>
        <p:nvPicPr>
          <p:cNvPr id="31" name="Image 29" descr="preencoded.png"/>
          <p:cNvPicPr>
            <a:picLocks noChangeAspect="1"/>
          </p:cNvPicPr>
          <p:nvPr/>
        </p:nvPicPr>
        <p:blipFill>
          <a:blip r:embed="rId32"/>
          <a:stretch>
            <a:fillRect/>
          </a:stretch>
        </p:blipFill>
        <p:spPr>
          <a:xfrm>
            <a:off x="6400800" y="3524250"/>
            <a:ext cx="5295900" cy="1600200"/>
          </a:xfrm>
          <a:prstGeom prst="rect">
            <a:avLst/>
          </a:prstGeom>
        </p:spPr>
      </p:pic>
      <p:pic>
        <p:nvPicPr>
          <p:cNvPr id="32" name="Image 30" descr="preencoded.png"/>
          <p:cNvPicPr>
            <a:picLocks noChangeAspect="1"/>
          </p:cNvPicPr>
          <p:nvPr/>
        </p:nvPicPr>
        <p:blipFill>
          <a:blip r:embed="rId33"/>
          <a:stretch>
            <a:fillRect/>
          </a:stretch>
        </p:blipFill>
        <p:spPr>
          <a:xfrm>
            <a:off x="6515100" y="3657600"/>
            <a:ext cx="152400" cy="152400"/>
          </a:xfrm>
          <a:prstGeom prst="rect">
            <a:avLst/>
          </a:prstGeom>
        </p:spPr>
      </p:pic>
      <p:pic>
        <p:nvPicPr>
          <p:cNvPr id="33" name="Image 31" descr="preencoded.png"/>
          <p:cNvPicPr>
            <a:picLocks noChangeAspect="1"/>
          </p:cNvPicPr>
          <p:nvPr/>
        </p:nvPicPr>
        <p:blipFill>
          <a:blip r:embed="rId34"/>
          <a:stretch>
            <a:fillRect/>
          </a:stretch>
        </p:blipFill>
        <p:spPr>
          <a:xfrm>
            <a:off x="6705600" y="4095750"/>
            <a:ext cx="285750" cy="152400"/>
          </a:xfrm>
          <a:prstGeom prst="rect">
            <a:avLst/>
          </a:prstGeom>
        </p:spPr>
      </p:pic>
      <p:pic>
        <p:nvPicPr>
          <p:cNvPr id="34" name="Image 32" descr="preencoded.png"/>
          <p:cNvPicPr>
            <a:picLocks noChangeAspect="1"/>
          </p:cNvPicPr>
          <p:nvPr/>
        </p:nvPicPr>
        <p:blipFill>
          <a:blip r:embed="rId35"/>
          <a:stretch>
            <a:fillRect/>
          </a:stretch>
        </p:blipFill>
        <p:spPr>
          <a:xfrm>
            <a:off x="6991350" y="4286250"/>
            <a:ext cx="1143000" cy="152400"/>
          </a:xfrm>
          <a:prstGeom prst="rect">
            <a:avLst/>
          </a:prstGeom>
        </p:spPr>
      </p:pic>
      <p:pic>
        <p:nvPicPr>
          <p:cNvPr id="35" name="Image 33" descr="preencoded.png"/>
          <p:cNvPicPr>
            <a:picLocks noChangeAspect="1"/>
          </p:cNvPicPr>
          <p:nvPr/>
        </p:nvPicPr>
        <p:blipFill>
          <a:blip r:embed="rId36"/>
          <a:stretch>
            <a:fillRect/>
          </a:stretch>
        </p:blipFill>
        <p:spPr>
          <a:xfrm>
            <a:off x="8134350" y="4476750"/>
            <a:ext cx="2286000" cy="152400"/>
          </a:xfrm>
          <a:prstGeom prst="rect">
            <a:avLst/>
          </a:prstGeom>
        </p:spPr>
      </p:pic>
      <p:pic>
        <p:nvPicPr>
          <p:cNvPr id="36" name="Image 34" descr="preencoded.png"/>
          <p:cNvPicPr>
            <a:picLocks noChangeAspect="1"/>
          </p:cNvPicPr>
          <p:nvPr/>
        </p:nvPicPr>
        <p:blipFill>
          <a:blip r:embed="rId37"/>
          <a:stretch>
            <a:fillRect/>
          </a:stretch>
        </p:blipFill>
        <p:spPr>
          <a:xfrm>
            <a:off x="304800" y="5543550"/>
            <a:ext cx="2895600" cy="419100"/>
          </a:xfrm>
          <a:prstGeom prst="rect">
            <a:avLst/>
          </a:prstGeom>
        </p:spPr>
      </p:pic>
      <p:pic>
        <p:nvPicPr>
          <p:cNvPr id="37" name="Image 35" descr="preencoded.png"/>
          <p:cNvPicPr>
            <a:picLocks noChangeAspect="1"/>
          </p:cNvPicPr>
          <p:nvPr/>
        </p:nvPicPr>
        <p:blipFill>
          <a:blip r:embed="rId37"/>
          <a:stretch>
            <a:fillRect/>
          </a:stretch>
        </p:blipFill>
        <p:spPr>
          <a:xfrm>
            <a:off x="3200400" y="5543550"/>
            <a:ext cx="2895600" cy="419100"/>
          </a:xfrm>
          <a:prstGeom prst="rect">
            <a:avLst/>
          </a:prstGeom>
        </p:spPr>
      </p:pic>
      <p:pic>
        <p:nvPicPr>
          <p:cNvPr id="38" name="Image 36" descr="preencoded.png"/>
          <p:cNvPicPr>
            <a:picLocks noChangeAspect="1"/>
          </p:cNvPicPr>
          <p:nvPr/>
        </p:nvPicPr>
        <p:blipFill>
          <a:blip r:embed="rId37"/>
          <a:stretch>
            <a:fillRect/>
          </a:stretch>
        </p:blipFill>
        <p:spPr>
          <a:xfrm>
            <a:off x="6096000" y="5543550"/>
            <a:ext cx="2895600" cy="419100"/>
          </a:xfrm>
          <a:prstGeom prst="rect">
            <a:avLst/>
          </a:prstGeom>
        </p:spPr>
      </p:pic>
      <p:pic>
        <p:nvPicPr>
          <p:cNvPr id="39" name="Image 37" descr="preencoded.png"/>
          <p:cNvPicPr>
            <a:picLocks noChangeAspect="1"/>
          </p:cNvPicPr>
          <p:nvPr/>
        </p:nvPicPr>
        <p:blipFill>
          <a:blip r:embed="rId37"/>
          <a:stretch>
            <a:fillRect/>
          </a:stretch>
        </p:blipFill>
        <p:spPr>
          <a:xfrm>
            <a:off x="8991600" y="5543550"/>
            <a:ext cx="2895600" cy="419100"/>
          </a:xfrm>
          <a:prstGeom prst="rect">
            <a:avLst/>
          </a:prstGeom>
        </p:spPr>
      </p:pic>
      <p:pic>
        <p:nvPicPr>
          <p:cNvPr id="40" name="Image 38" descr="preencoded.png"/>
          <p:cNvPicPr>
            <a:picLocks noChangeAspect="1"/>
          </p:cNvPicPr>
          <p:nvPr/>
        </p:nvPicPr>
        <p:blipFill>
          <a:blip r:embed="rId38"/>
          <a:stretch>
            <a:fillRect/>
          </a:stretch>
        </p:blipFill>
        <p:spPr>
          <a:xfrm>
            <a:off x="304800" y="6038850"/>
            <a:ext cx="2895600" cy="419100"/>
          </a:xfrm>
          <a:prstGeom prst="rect">
            <a:avLst/>
          </a:prstGeom>
        </p:spPr>
      </p:pic>
      <p:pic>
        <p:nvPicPr>
          <p:cNvPr id="41" name="Image 39" descr="preencoded.png"/>
          <p:cNvPicPr>
            <a:picLocks noChangeAspect="1"/>
          </p:cNvPicPr>
          <p:nvPr/>
        </p:nvPicPr>
        <p:blipFill>
          <a:blip r:embed="rId38"/>
          <a:stretch>
            <a:fillRect/>
          </a:stretch>
        </p:blipFill>
        <p:spPr>
          <a:xfrm>
            <a:off x="3200400" y="6038850"/>
            <a:ext cx="2895600" cy="419100"/>
          </a:xfrm>
          <a:prstGeom prst="rect">
            <a:avLst/>
          </a:prstGeom>
        </p:spPr>
      </p:pic>
      <p:pic>
        <p:nvPicPr>
          <p:cNvPr id="42" name="Image 40" descr="preencoded.png"/>
          <p:cNvPicPr>
            <a:picLocks noChangeAspect="1"/>
          </p:cNvPicPr>
          <p:nvPr/>
        </p:nvPicPr>
        <p:blipFill>
          <a:blip r:embed="rId38"/>
          <a:stretch>
            <a:fillRect/>
          </a:stretch>
        </p:blipFill>
        <p:spPr>
          <a:xfrm>
            <a:off x="6096000" y="6038850"/>
            <a:ext cx="2895600" cy="419100"/>
          </a:xfrm>
          <a:prstGeom prst="rect">
            <a:avLst/>
          </a:prstGeom>
        </p:spPr>
      </p:pic>
      <p:pic>
        <p:nvPicPr>
          <p:cNvPr id="43" name="Image 41" descr="preencoded.png"/>
          <p:cNvPicPr>
            <a:picLocks noChangeAspect="1"/>
          </p:cNvPicPr>
          <p:nvPr/>
        </p:nvPicPr>
        <p:blipFill>
          <a:blip r:embed="rId38"/>
          <a:stretch>
            <a:fillRect/>
          </a:stretch>
        </p:blipFill>
        <p:spPr>
          <a:xfrm>
            <a:off x="8991600" y="6038850"/>
            <a:ext cx="2895600" cy="419100"/>
          </a:xfrm>
          <a:prstGeom prst="rect">
            <a:avLst/>
          </a:prstGeom>
        </p:spPr>
      </p:pic>
      <p:pic>
        <p:nvPicPr>
          <p:cNvPr id="44" name="Image 42" descr="preencoded.png"/>
          <p:cNvPicPr>
            <a:picLocks noChangeAspect="1"/>
          </p:cNvPicPr>
          <p:nvPr/>
        </p:nvPicPr>
        <p:blipFill>
          <a:blip r:embed="rId38"/>
          <a:stretch>
            <a:fillRect/>
          </a:stretch>
        </p:blipFill>
        <p:spPr>
          <a:xfrm>
            <a:off x="304800" y="6534150"/>
            <a:ext cx="2895600" cy="419100"/>
          </a:xfrm>
          <a:prstGeom prst="rect">
            <a:avLst/>
          </a:prstGeom>
        </p:spPr>
      </p:pic>
      <p:pic>
        <p:nvPicPr>
          <p:cNvPr id="45" name="Image 43" descr="preencoded.png"/>
          <p:cNvPicPr>
            <a:picLocks noChangeAspect="1"/>
          </p:cNvPicPr>
          <p:nvPr/>
        </p:nvPicPr>
        <p:blipFill>
          <a:blip r:embed="rId38"/>
          <a:stretch>
            <a:fillRect/>
          </a:stretch>
        </p:blipFill>
        <p:spPr>
          <a:xfrm>
            <a:off x="3200400" y="6534150"/>
            <a:ext cx="2895600" cy="419100"/>
          </a:xfrm>
          <a:prstGeom prst="rect">
            <a:avLst/>
          </a:prstGeom>
        </p:spPr>
      </p:pic>
      <p:pic>
        <p:nvPicPr>
          <p:cNvPr id="46" name="Image 44" descr="preencoded.png"/>
          <p:cNvPicPr>
            <a:picLocks noChangeAspect="1"/>
          </p:cNvPicPr>
          <p:nvPr/>
        </p:nvPicPr>
        <p:blipFill>
          <a:blip r:embed="rId38"/>
          <a:stretch>
            <a:fillRect/>
          </a:stretch>
        </p:blipFill>
        <p:spPr>
          <a:xfrm>
            <a:off x="6096000" y="6534150"/>
            <a:ext cx="2895600" cy="419100"/>
          </a:xfrm>
          <a:prstGeom prst="rect">
            <a:avLst/>
          </a:prstGeom>
        </p:spPr>
      </p:pic>
      <p:pic>
        <p:nvPicPr>
          <p:cNvPr id="47" name="Image 45" descr="preencoded.png"/>
          <p:cNvPicPr>
            <a:picLocks noChangeAspect="1"/>
          </p:cNvPicPr>
          <p:nvPr/>
        </p:nvPicPr>
        <p:blipFill>
          <a:blip r:embed="rId38"/>
          <a:stretch>
            <a:fillRect/>
          </a:stretch>
        </p:blipFill>
        <p:spPr>
          <a:xfrm>
            <a:off x="8991600" y="6534150"/>
            <a:ext cx="2895600" cy="419100"/>
          </a:xfrm>
          <a:prstGeom prst="rect">
            <a:avLst/>
          </a:prstGeom>
        </p:spPr>
      </p:pic>
      <p:sp>
        <p:nvSpPr>
          <p:cNvPr id="48" name="Text 0"/>
          <p:cNvSpPr/>
          <p:nvPr/>
        </p:nvSpPr>
        <p:spPr>
          <a:xfrm>
            <a:off x="285750" y="142875"/>
            <a:ext cx="5019199"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Scheduling Algorithms: FCFS and SJF</a:t>
            </a:r>
            <a:endParaRPr lang="en-US" sz="1800" dirty="0"/>
          </a:p>
        </p:txBody>
      </p:sp>
      <p:sp>
        <p:nvSpPr>
          <p:cNvPr id="49" name="Text 1"/>
          <p:cNvSpPr/>
          <p:nvPr/>
        </p:nvSpPr>
        <p:spPr>
          <a:xfrm>
            <a:off x="990600" y="1143000"/>
            <a:ext cx="3480256" cy="266700"/>
          </a:xfrm>
          <a:prstGeom prst="rect">
            <a:avLst/>
          </a:prstGeom>
          <a:noFill/>
          <a:ln/>
        </p:spPr>
        <p:txBody>
          <a:bodyPr wrap="square" lIns="0" tIns="0" rIns="0" bIns="0" rtlCol="0" anchor="t"/>
          <a:lstStyle/>
          <a:p>
            <a:pPr marL="0" indent="0">
              <a:lnSpc>
                <a:spcPts val="2100"/>
              </a:lnSpc>
              <a:buNone/>
            </a:pPr>
            <a:r>
              <a:rPr lang="en-US" sz="1500" b="1" dirty="0">
                <a:solidFill>
                  <a:srgbClr val="EA580C"/>
                </a:solidFill>
                <a:latin typeface="Arial" pitchFamily="34" charset="0"/>
                <a:ea typeface="Arial" pitchFamily="34" charset="-122"/>
                <a:cs typeface="Arial" pitchFamily="34" charset="-120"/>
              </a:rPr>
              <a:t>First-Come, First-Served (FCFS)</a:t>
            </a:r>
            <a:endParaRPr lang="en-US" sz="1500" dirty="0"/>
          </a:p>
        </p:txBody>
      </p:sp>
      <p:sp>
        <p:nvSpPr>
          <p:cNvPr id="50" name="Text 2"/>
          <p:cNvSpPr/>
          <p:nvPr/>
        </p:nvSpPr>
        <p:spPr>
          <a:xfrm>
            <a:off x="495300" y="1619250"/>
            <a:ext cx="635508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The simplest scheduling algorithm that dispatches processes based on their arrival time.</a:t>
            </a:r>
            <a:endParaRPr lang="en-US" sz="1050" dirty="0"/>
          </a:p>
        </p:txBody>
      </p:sp>
      <p:sp>
        <p:nvSpPr>
          <p:cNvPr id="51" name="Text 3"/>
          <p:cNvSpPr/>
          <p:nvPr/>
        </p:nvSpPr>
        <p:spPr>
          <a:xfrm>
            <a:off x="857250" y="1981200"/>
            <a:ext cx="2520494"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Allocation Basis:</a:t>
            </a:r>
            <a:r>
              <a:rPr lang="en-US" sz="1200" dirty="0">
                <a:solidFill>
                  <a:srgbClr val="333333"/>
                </a:solidFill>
                <a:latin typeface="Arial" pitchFamily="34" charset="0"/>
                <a:ea typeface="Arial" pitchFamily="34" charset="-122"/>
                <a:cs typeface="Arial" pitchFamily="34" charset="-120"/>
              </a:rPr>
              <a:t> Arrival order</a:t>
            </a:r>
            <a:endParaRPr lang="en-US" sz="1200" dirty="0"/>
          </a:p>
        </p:txBody>
      </p:sp>
      <p:sp>
        <p:nvSpPr>
          <p:cNvPr id="52" name="Text 4"/>
          <p:cNvSpPr/>
          <p:nvPr/>
        </p:nvSpPr>
        <p:spPr>
          <a:xfrm>
            <a:off x="857250" y="2362200"/>
            <a:ext cx="1351598"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Preemption:</a:t>
            </a:r>
            <a:r>
              <a:rPr lang="en-US" sz="1200" dirty="0">
                <a:solidFill>
                  <a:srgbClr val="333333"/>
                </a:solidFill>
                <a:latin typeface="Arial" pitchFamily="34" charset="0"/>
                <a:ea typeface="Arial" pitchFamily="34" charset="-122"/>
                <a:cs typeface="Arial" pitchFamily="34" charset="-120"/>
              </a:rPr>
              <a:t> No</a:t>
            </a:r>
            <a:endParaRPr lang="en-US" sz="1200" dirty="0"/>
          </a:p>
        </p:txBody>
      </p:sp>
      <p:sp>
        <p:nvSpPr>
          <p:cNvPr id="53" name="Text 5"/>
          <p:cNvSpPr/>
          <p:nvPr/>
        </p:nvSpPr>
        <p:spPr>
          <a:xfrm>
            <a:off x="857250" y="2743200"/>
            <a:ext cx="2063115"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Advantages:</a:t>
            </a:r>
            <a:r>
              <a:rPr lang="en-US" sz="1200" dirty="0">
                <a:solidFill>
                  <a:srgbClr val="333333"/>
                </a:solidFill>
                <a:latin typeface="Arial" pitchFamily="34" charset="0"/>
                <a:ea typeface="Arial" pitchFamily="34" charset="-122"/>
                <a:cs typeface="Arial" pitchFamily="34" charset="-120"/>
              </a:rPr>
              <a:t> Simple, fair</a:t>
            </a:r>
            <a:endParaRPr lang="en-US" sz="1200" dirty="0"/>
          </a:p>
        </p:txBody>
      </p:sp>
      <p:sp>
        <p:nvSpPr>
          <p:cNvPr id="54" name="Text 6"/>
          <p:cNvSpPr/>
          <p:nvPr/>
        </p:nvSpPr>
        <p:spPr>
          <a:xfrm>
            <a:off x="857250" y="3124200"/>
            <a:ext cx="4106406"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Disadvantages:</a:t>
            </a:r>
            <a:r>
              <a:rPr lang="en-US" sz="1200" dirty="0">
                <a:solidFill>
                  <a:srgbClr val="333333"/>
                </a:solidFill>
                <a:latin typeface="Arial" pitchFamily="34" charset="0"/>
                <a:ea typeface="Arial" pitchFamily="34" charset="-122"/>
                <a:cs typeface="Arial" pitchFamily="34" charset="-120"/>
              </a:rPr>
              <a:t> Longer wait times for shorter jobs</a:t>
            </a:r>
            <a:endParaRPr lang="en-US" sz="1200" dirty="0"/>
          </a:p>
        </p:txBody>
      </p:sp>
      <p:sp>
        <p:nvSpPr>
          <p:cNvPr id="55" name="Text 7"/>
          <p:cNvSpPr/>
          <p:nvPr/>
        </p:nvSpPr>
        <p:spPr>
          <a:xfrm>
            <a:off x="838200" y="3638550"/>
            <a:ext cx="2926080"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Example: Process execution time (ms)</a:t>
            </a:r>
            <a:endParaRPr lang="en-US" sz="1050" dirty="0"/>
          </a:p>
        </p:txBody>
      </p:sp>
      <p:sp>
        <p:nvSpPr>
          <p:cNvPr id="56" name="Text 8"/>
          <p:cNvSpPr/>
          <p:nvPr/>
        </p:nvSpPr>
        <p:spPr>
          <a:xfrm>
            <a:off x="609600" y="3905250"/>
            <a:ext cx="608076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P1: 24ms, P2: 3ms, P3: 12ms (arrival order: P1, P2, P3)</a:t>
            </a:r>
            <a:endParaRPr lang="en-US" sz="900" dirty="0"/>
          </a:p>
        </p:txBody>
      </p:sp>
      <p:sp>
        <p:nvSpPr>
          <p:cNvPr id="57" name="Text 9"/>
          <p:cNvSpPr/>
          <p:nvPr/>
        </p:nvSpPr>
        <p:spPr>
          <a:xfrm>
            <a:off x="609600" y="4095750"/>
            <a:ext cx="22860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P1</a:t>
            </a:r>
            <a:endParaRPr lang="en-US" sz="900" dirty="0"/>
          </a:p>
        </p:txBody>
      </p:sp>
      <p:sp>
        <p:nvSpPr>
          <p:cNvPr id="58" name="Text 10"/>
          <p:cNvSpPr/>
          <p:nvPr/>
        </p:nvSpPr>
        <p:spPr>
          <a:xfrm>
            <a:off x="609600" y="4286250"/>
            <a:ext cx="22860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P2</a:t>
            </a:r>
            <a:endParaRPr lang="en-US" sz="900" dirty="0"/>
          </a:p>
        </p:txBody>
      </p:sp>
      <p:sp>
        <p:nvSpPr>
          <p:cNvPr id="59" name="Text 11"/>
          <p:cNvSpPr/>
          <p:nvPr/>
        </p:nvSpPr>
        <p:spPr>
          <a:xfrm>
            <a:off x="609600" y="4476750"/>
            <a:ext cx="22860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P3</a:t>
            </a:r>
            <a:endParaRPr lang="en-US" sz="900" dirty="0"/>
          </a:p>
        </p:txBody>
      </p:sp>
      <p:sp>
        <p:nvSpPr>
          <p:cNvPr id="60" name="Text 12"/>
          <p:cNvSpPr/>
          <p:nvPr/>
        </p:nvSpPr>
        <p:spPr>
          <a:xfrm>
            <a:off x="800100" y="4667250"/>
            <a:ext cx="7643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0</a:t>
            </a:r>
            <a:endParaRPr lang="en-US" sz="900" dirty="0"/>
          </a:p>
        </p:txBody>
      </p:sp>
      <p:sp>
        <p:nvSpPr>
          <p:cNvPr id="61" name="Text 13"/>
          <p:cNvSpPr/>
          <p:nvPr/>
        </p:nvSpPr>
        <p:spPr>
          <a:xfrm>
            <a:off x="1953518" y="4667250"/>
            <a:ext cx="15269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24</a:t>
            </a:r>
            <a:endParaRPr lang="en-US" sz="900" dirty="0"/>
          </a:p>
        </p:txBody>
      </p:sp>
      <p:sp>
        <p:nvSpPr>
          <p:cNvPr id="62" name="Text 14"/>
          <p:cNvSpPr/>
          <p:nvPr/>
        </p:nvSpPr>
        <p:spPr>
          <a:xfrm>
            <a:off x="3170486" y="4667250"/>
            <a:ext cx="15269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27</a:t>
            </a:r>
            <a:endParaRPr lang="en-US" sz="900" dirty="0"/>
          </a:p>
        </p:txBody>
      </p:sp>
      <p:sp>
        <p:nvSpPr>
          <p:cNvPr id="63" name="Text 15"/>
          <p:cNvSpPr/>
          <p:nvPr/>
        </p:nvSpPr>
        <p:spPr>
          <a:xfrm>
            <a:off x="4387453" y="4667250"/>
            <a:ext cx="15269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39</a:t>
            </a:r>
            <a:endParaRPr lang="en-US" sz="900" dirty="0"/>
          </a:p>
        </p:txBody>
      </p:sp>
      <p:sp>
        <p:nvSpPr>
          <p:cNvPr id="64" name="Text 16"/>
          <p:cNvSpPr/>
          <p:nvPr/>
        </p:nvSpPr>
        <p:spPr>
          <a:xfrm>
            <a:off x="609600" y="4857750"/>
            <a:ext cx="608076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Waiting times: P1=0ms, P2=24ms, P3=27ms (Average: 17ms)</a:t>
            </a:r>
            <a:endParaRPr lang="en-US" sz="900" dirty="0"/>
          </a:p>
        </p:txBody>
      </p:sp>
      <p:sp>
        <p:nvSpPr>
          <p:cNvPr id="65" name="Text 17"/>
          <p:cNvSpPr/>
          <p:nvPr/>
        </p:nvSpPr>
        <p:spPr>
          <a:xfrm>
            <a:off x="6896100" y="1143000"/>
            <a:ext cx="2616398" cy="266700"/>
          </a:xfrm>
          <a:prstGeom prst="rect">
            <a:avLst/>
          </a:prstGeom>
          <a:noFill/>
          <a:ln/>
        </p:spPr>
        <p:txBody>
          <a:bodyPr wrap="square" lIns="0" tIns="0" rIns="0" bIns="0" rtlCol="0" anchor="t"/>
          <a:lstStyle/>
          <a:p>
            <a:pPr marL="0" indent="0">
              <a:lnSpc>
                <a:spcPts val="2100"/>
              </a:lnSpc>
              <a:buNone/>
            </a:pPr>
            <a:r>
              <a:rPr lang="en-US" sz="1500" b="1" dirty="0">
                <a:solidFill>
                  <a:srgbClr val="9333EA"/>
                </a:solidFill>
                <a:latin typeface="Arial" pitchFamily="34" charset="0"/>
                <a:ea typeface="Arial" pitchFamily="34" charset="-122"/>
                <a:cs typeface="Arial" pitchFamily="34" charset="-120"/>
              </a:rPr>
              <a:t>Shortest-Job-First (SJF)</a:t>
            </a:r>
            <a:endParaRPr lang="en-US" sz="1500" dirty="0"/>
          </a:p>
        </p:txBody>
      </p:sp>
      <p:sp>
        <p:nvSpPr>
          <p:cNvPr id="66" name="Text 18"/>
          <p:cNvSpPr/>
          <p:nvPr/>
        </p:nvSpPr>
        <p:spPr>
          <a:xfrm>
            <a:off x="6400800" y="1619250"/>
            <a:ext cx="635508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Dispatches processes based on job size, executing shortest jobs first.</a:t>
            </a:r>
            <a:endParaRPr lang="en-US" sz="1050" dirty="0"/>
          </a:p>
        </p:txBody>
      </p:sp>
      <p:sp>
        <p:nvSpPr>
          <p:cNvPr id="67" name="Text 19"/>
          <p:cNvSpPr/>
          <p:nvPr/>
        </p:nvSpPr>
        <p:spPr>
          <a:xfrm>
            <a:off x="6762750" y="1981200"/>
            <a:ext cx="3373993"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Allocation Basis:</a:t>
            </a:r>
            <a:r>
              <a:rPr lang="en-US" sz="1200" dirty="0">
                <a:solidFill>
                  <a:srgbClr val="333333"/>
                </a:solidFill>
                <a:latin typeface="Arial" pitchFamily="34" charset="0"/>
                <a:ea typeface="Arial" pitchFamily="34" charset="-122"/>
                <a:cs typeface="Arial" pitchFamily="34" charset="-120"/>
              </a:rPr>
              <a:t> Job size (shortest first)</a:t>
            </a:r>
            <a:endParaRPr lang="en-US" sz="1200" dirty="0"/>
          </a:p>
        </p:txBody>
      </p:sp>
      <p:sp>
        <p:nvSpPr>
          <p:cNvPr id="68" name="Text 20"/>
          <p:cNvSpPr/>
          <p:nvPr/>
        </p:nvSpPr>
        <p:spPr>
          <a:xfrm>
            <a:off x="6762750" y="2362200"/>
            <a:ext cx="1351598"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Preemption:</a:t>
            </a:r>
            <a:r>
              <a:rPr lang="en-US" sz="1200" dirty="0">
                <a:solidFill>
                  <a:srgbClr val="333333"/>
                </a:solidFill>
                <a:latin typeface="Arial" pitchFamily="34" charset="0"/>
                <a:ea typeface="Arial" pitchFamily="34" charset="-122"/>
                <a:cs typeface="Arial" pitchFamily="34" charset="-120"/>
              </a:rPr>
              <a:t> No</a:t>
            </a:r>
            <a:endParaRPr lang="en-US" sz="1200" dirty="0"/>
          </a:p>
        </p:txBody>
      </p:sp>
      <p:sp>
        <p:nvSpPr>
          <p:cNvPr id="69" name="Text 21"/>
          <p:cNvSpPr/>
          <p:nvPr/>
        </p:nvSpPr>
        <p:spPr>
          <a:xfrm>
            <a:off x="6762750" y="2743200"/>
            <a:ext cx="3608665"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Advantages:</a:t>
            </a:r>
            <a:r>
              <a:rPr lang="en-US" sz="1200" dirty="0">
                <a:solidFill>
                  <a:srgbClr val="333333"/>
                </a:solidFill>
                <a:latin typeface="Arial" pitchFamily="34" charset="0"/>
                <a:ea typeface="Arial" pitchFamily="34" charset="-122"/>
                <a:cs typeface="Arial" pitchFamily="34" charset="-120"/>
              </a:rPr>
              <a:t> Reduced average waiting time</a:t>
            </a:r>
            <a:endParaRPr lang="en-US" sz="1200" dirty="0"/>
          </a:p>
        </p:txBody>
      </p:sp>
      <p:sp>
        <p:nvSpPr>
          <p:cNvPr id="70" name="Text 22"/>
          <p:cNvSpPr/>
          <p:nvPr/>
        </p:nvSpPr>
        <p:spPr>
          <a:xfrm>
            <a:off x="6762750" y="3124200"/>
            <a:ext cx="3435787"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Disadvantages:</a:t>
            </a:r>
            <a:r>
              <a:rPr lang="en-US" sz="1200" dirty="0">
                <a:solidFill>
                  <a:srgbClr val="333333"/>
                </a:solidFill>
                <a:latin typeface="Arial" pitchFamily="34" charset="0"/>
                <a:ea typeface="Arial" pitchFamily="34" charset="-122"/>
                <a:cs typeface="Arial" pitchFamily="34" charset="-120"/>
              </a:rPr>
              <a:t> Starvation for longer jobs</a:t>
            </a:r>
            <a:endParaRPr lang="en-US" sz="1200" dirty="0"/>
          </a:p>
        </p:txBody>
      </p:sp>
      <p:sp>
        <p:nvSpPr>
          <p:cNvPr id="71" name="Text 23"/>
          <p:cNvSpPr/>
          <p:nvPr/>
        </p:nvSpPr>
        <p:spPr>
          <a:xfrm>
            <a:off x="6743700" y="3638550"/>
            <a:ext cx="2926080"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Example: Process execution time (ms)</a:t>
            </a:r>
            <a:endParaRPr lang="en-US" sz="1050" dirty="0"/>
          </a:p>
        </p:txBody>
      </p:sp>
      <p:sp>
        <p:nvSpPr>
          <p:cNvPr id="72" name="Text 24"/>
          <p:cNvSpPr/>
          <p:nvPr/>
        </p:nvSpPr>
        <p:spPr>
          <a:xfrm>
            <a:off x="6515100" y="3905250"/>
            <a:ext cx="608076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P1: 24ms, P2: 3ms, P3: 12ms (same as FCFS, but sorted by length)</a:t>
            </a:r>
            <a:endParaRPr lang="en-US" sz="900" dirty="0"/>
          </a:p>
        </p:txBody>
      </p:sp>
      <p:sp>
        <p:nvSpPr>
          <p:cNvPr id="73" name="Text 25"/>
          <p:cNvSpPr/>
          <p:nvPr/>
        </p:nvSpPr>
        <p:spPr>
          <a:xfrm>
            <a:off x="6515100" y="4095750"/>
            <a:ext cx="22860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P2</a:t>
            </a:r>
            <a:endParaRPr lang="en-US" sz="900" dirty="0"/>
          </a:p>
        </p:txBody>
      </p:sp>
      <p:sp>
        <p:nvSpPr>
          <p:cNvPr id="74" name="Text 26"/>
          <p:cNvSpPr/>
          <p:nvPr/>
        </p:nvSpPr>
        <p:spPr>
          <a:xfrm>
            <a:off x="6515100" y="4286250"/>
            <a:ext cx="22860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P3</a:t>
            </a:r>
            <a:endParaRPr lang="en-US" sz="900" dirty="0"/>
          </a:p>
        </p:txBody>
      </p:sp>
      <p:sp>
        <p:nvSpPr>
          <p:cNvPr id="75" name="Text 27"/>
          <p:cNvSpPr/>
          <p:nvPr/>
        </p:nvSpPr>
        <p:spPr>
          <a:xfrm>
            <a:off x="6515100" y="4476750"/>
            <a:ext cx="22860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P1</a:t>
            </a:r>
            <a:endParaRPr lang="en-US" sz="900" dirty="0"/>
          </a:p>
        </p:txBody>
      </p:sp>
      <p:sp>
        <p:nvSpPr>
          <p:cNvPr id="76" name="Text 28"/>
          <p:cNvSpPr/>
          <p:nvPr/>
        </p:nvSpPr>
        <p:spPr>
          <a:xfrm>
            <a:off x="6705600" y="4667250"/>
            <a:ext cx="7643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0</a:t>
            </a:r>
            <a:endParaRPr lang="en-US" sz="900" dirty="0"/>
          </a:p>
        </p:txBody>
      </p:sp>
      <p:sp>
        <p:nvSpPr>
          <p:cNvPr id="77" name="Text 29"/>
          <p:cNvSpPr/>
          <p:nvPr/>
        </p:nvSpPr>
        <p:spPr>
          <a:xfrm>
            <a:off x="7880152" y="4667250"/>
            <a:ext cx="7643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3</a:t>
            </a:r>
            <a:endParaRPr lang="en-US" sz="900" dirty="0"/>
          </a:p>
        </p:txBody>
      </p:sp>
      <p:sp>
        <p:nvSpPr>
          <p:cNvPr id="78" name="Text 30"/>
          <p:cNvSpPr/>
          <p:nvPr/>
        </p:nvSpPr>
        <p:spPr>
          <a:xfrm>
            <a:off x="9054703" y="4667250"/>
            <a:ext cx="15269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15</a:t>
            </a:r>
            <a:endParaRPr lang="en-US" sz="900" dirty="0"/>
          </a:p>
        </p:txBody>
      </p:sp>
      <p:sp>
        <p:nvSpPr>
          <p:cNvPr id="79" name="Text 31"/>
          <p:cNvSpPr/>
          <p:nvPr/>
        </p:nvSpPr>
        <p:spPr>
          <a:xfrm>
            <a:off x="10292804" y="4667250"/>
            <a:ext cx="152698"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39</a:t>
            </a:r>
            <a:endParaRPr lang="en-US" sz="900" dirty="0"/>
          </a:p>
        </p:txBody>
      </p:sp>
      <p:sp>
        <p:nvSpPr>
          <p:cNvPr id="80" name="Text 32"/>
          <p:cNvSpPr/>
          <p:nvPr/>
        </p:nvSpPr>
        <p:spPr>
          <a:xfrm>
            <a:off x="6515100" y="4857750"/>
            <a:ext cx="608076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Waiting times: P2=0ms, P3=3ms, P1=15ms (Average: 6ms)</a:t>
            </a:r>
            <a:endParaRPr lang="en-US" sz="900" dirty="0"/>
          </a:p>
        </p:txBody>
      </p:sp>
      <p:sp>
        <p:nvSpPr>
          <p:cNvPr id="81" name="Text 33"/>
          <p:cNvSpPr/>
          <p:nvPr/>
        </p:nvSpPr>
        <p:spPr>
          <a:xfrm>
            <a:off x="400050" y="5543550"/>
            <a:ext cx="2895600" cy="419100"/>
          </a:xfrm>
          <a:prstGeom prst="rect">
            <a:avLst/>
          </a:prstGeom>
          <a:noFill/>
          <a:ln/>
        </p:spPr>
        <p:txBody>
          <a:bodyPr wrap="square" lIns="0" tIns="0" rIns="0" bIns="0" rtlCol="0" anchor="t"/>
          <a:lstStyle/>
          <a:p>
            <a:pPr marL="0" indent="0" algn="l">
              <a:lnSpc>
                <a:spcPts val="1800"/>
              </a:lnSpc>
              <a:buNone/>
            </a:pPr>
            <a:r>
              <a:rPr lang="en-US" sz="1200" b="1" dirty="0">
                <a:solidFill>
                  <a:srgbClr val="333333"/>
                </a:solidFill>
                <a:latin typeface="Arial" pitchFamily="34" charset="0"/>
                <a:ea typeface="Arial" pitchFamily="34" charset="-122"/>
                <a:cs typeface="Arial" pitchFamily="34" charset="-120"/>
              </a:rPr>
              <a:t>Algorithm</a:t>
            </a:r>
            <a:endParaRPr lang="en-US" sz="1200" dirty="0"/>
          </a:p>
        </p:txBody>
      </p:sp>
      <p:sp>
        <p:nvSpPr>
          <p:cNvPr id="82" name="Text 34"/>
          <p:cNvSpPr/>
          <p:nvPr/>
        </p:nvSpPr>
        <p:spPr>
          <a:xfrm>
            <a:off x="3295650" y="5543550"/>
            <a:ext cx="3474720" cy="419100"/>
          </a:xfrm>
          <a:prstGeom prst="rect">
            <a:avLst/>
          </a:prstGeom>
          <a:noFill/>
          <a:ln/>
        </p:spPr>
        <p:txBody>
          <a:bodyPr wrap="square" lIns="0" tIns="0" rIns="0" bIns="0" rtlCol="0" anchor="t"/>
          <a:lstStyle/>
          <a:p>
            <a:pPr marL="0" indent="0" algn="l">
              <a:lnSpc>
                <a:spcPts val="1800"/>
              </a:lnSpc>
              <a:buNone/>
            </a:pPr>
            <a:r>
              <a:rPr lang="en-US" sz="1200" b="1" dirty="0">
                <a:solidFill>
                  <a:srgbClr val="333333"/>
                </a:solidFill>
                <a:latin typeface="Arial" pitchFamily="34" charset="0"/>
                <a:ea typeface="Arial" pitchFamily="34" charset="-122"/>
                <a:cs typeface="Arial" pitchFamily="34" charset="-120"/>
              </a:rPr>
              <a:t>Allocation Basis</a:t>
            </a:r>
            <a:endParaRPr lang="en-US" sz="1200" dirty="0"/>
          </a:p>
        </p:txBody>
      </p:sp>
      <p:sp>
        <p:nvSpPr>
          <p:cNvPr id="83" name="Text 35"/>
          <p:cNvSpPr/>
          <p:nvPr/>
        </p:nvSpPr>
        <p:spPr>
          <a:xfrm>
            <a:off x="6191250" y="5543550"/>
            <a:ext cx="2895600" cy="419100"/>
          </a:xfrm>
          <a:prstGeom prst="rect">
            <a:avLst/>
          </a:prstGeom>
          <a:noFill/>
          <a:ln/>
        </p:spPr>
        <p:txBody>
          <a:bodyPr wrap="square" lIns="0" tIns="0" rIns="0" bIns="0" rtlCol="0" anchor="t"/>
          <a:lstStyle/>
          <a:p>
            <a:pPr marL="0" indent="0" algn="l">
              <a:lnSpc>
                <a:spcPts val="1800"/>
              </a:lnSpc>
              <a:buNone/>
            </a:pPr>
            <a:r>
              <a:rPr lang="en-US" sz="1200" b="1" dirty="0">
                <a:solidFill>
                  <a:srgbClr val="333333"/>
                </a:solidFill>
                <a:latin typeface="Arial" pitchFamily="34" charset="0"/>
                <a:ea typeface="Arial" pitchFamily="34" charset="-122"/>
                <a:cs typeface="Arial" pitchFamily="34" charset="-120"/>
              </a:rPr>
              <a:t>Preemption</a:t>
            </a:r>
            <a:endParaRPr lang="en-US" sz="1200" dirty="0"/>
          </a:p>
        </p:txBody>
      </p:sp>
      <p:sp>
        <p:nvSpPr>
          <p:cNvPr id="84" name="Text 36"/>
          <p:cNvSpPr/>
          <p:nvPr/>
        </p:nvSpPr>
        <p:spPr>
          <a:xfrm>
            <a:off x="9086850" y="5543550"/>
            <a:ext cx="2895600" cy="419100"/>
          </a:xfrm>
          <a:prstGeom prst="rect">
            <a:avLst/>
          </a:prstGeom>
          <a:noFill/>
          <a:ln/>
        </p:spPr>
        <p:txBody>
          <a:bodyPr wrap="square" lIns="0" tIns="0" rIns="0" bIns="0" rtlCol="0" anchor="t"/>
          <a:lstStyle/>
          <a:p>
            <a:pPr marL="0" indent="0" algn="l">
              <a:lnSpc>
                <a:spcPts val="1800"/>
              </a:lnSpc>
              <a:buNone/>
            </a:pPr>
            <a:r>
              <a:rPr lang="en-US" sz="1200" b="1" dirty="0">
                <a:solidFill>
                  <a:srgbClr val="333333"/>
                </a:solidFill>
                <a:latin typeface="Arial" pitchFamily="34" charset="0"/>
                <a:ea typeface="Arial" pitchFamily="34" charset="-122"/>
                <a:cs typeface="Arial" pitchFamily="34" charset="-120"/>
              </a:rPr>
              <a:t>Key Advantage</a:t>
            </a:r>
            <a:endParaRPr lang="en-US" sz="1200" dirty="0"/>
          </a:p>
        </p:txBody>
      </p:sp>
      <p:sp>
        <p:nvSpPr>
          <p:cNvPr id="85" name="Text 37"/>
          <p:cNvSpPr/>
          <p:nvPr/>
        </p:nvSpPr>
        <p:spPr>
          <a:xfrm>
            <a:off x="400050" y="60388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FCFS</a:t>
            </a:r>
            <a:endParaRPr lang="en-US" sz="1200" dirty="0"/>
          </a:p>
        </p:txBody>
      </p:sp>
      <p:sp>
        <p:nvSpPr>
          <p:cNvPr id="86" name="Text 38"/>
          <p:cNvSpPr/>
          <p:nvPr/>
        </p:nvSpPr>
        <p:spPr>
          <a:xfrm>
            <a:off x="3295650" y="60388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First arrival</a:t>
            </a:r>
            <a:endParaRPr lang="en-US" sz="1200" dirty="0"/>
          </a:p>
        </p:txBody>
      </p:sp>
      <p:sp>
        <p:nvSpPr>
          <p:cNvPr id="87" name="Text 39"/>
          <p:cNvSpPr/>
          <p:nvPr/>
        </p:nvSpPr>
        <p:spPr>
          <a:xfrm>
            <a:off x="6191250" y="60388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No</a:t>
            </a:r>
            <a:endParaRPr lang="en-US" sz="1200" dirty="0"/>
          </a:p>
        </p:txBody>
      </p:sp>
      <p:sp>
        <p:nvSpPr>
          <p:cNvPr id="88" name="Text 40"/>
          <p:cNvSpPr/>
          <p:nvPr/>
        </p:nvSpPr>
        <p:spPr>
          <a:xfrm>
            <a:off x="9086850" y="60388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Simple</a:t>
            </a:r>
            <a:endParaRPr lang="en-US" sz="1200" dirty="0"/>
          </a:p>
        </p:txBody>
      </p:sp>
      <p:sp>
        <p:nvSpPr>
          <p:cNvPr id="89" name="Text 41"/>
          <p:cNvSpPr/>
          <p:nvPr/>
        </p:nvSpPr>
        <p:spPr>
          <a:xfrm>
            <a:off x="400050" y="65341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SJF</a:t>
            </a:r>
            <a:endParaRPr lang="en-US" sz="1200" dirty="0"/>
          </a:p>
        </p:txBody>
      </p:sp>
      <p:sp>
        <p:nvSpPr>
          <p:cNvPr id="90" name="Text 42"/>
          <p:cNvSpPr/>
          <p:nvPr/>
        </p:nvSpPr>
        <p:spPr>
          <a:xfrm>
            <a:off x="3295650" y="65341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Shortest job</a:t>
            </a:r>
            <a:endParaRPr lang="en-US" sz="1200" dirty="0"/>
          </a:p>
        </p:txBody>
      </p:sp>
      <p:sp>
        <p:nvSpPr>
          <p:cNvPr id="91" name="Text 43"/>
          <p:cNvSpPr/>
          <p:nvPr/>
        </p:nvSpPr>
        <p:spPr>
          <a:xfrm>
            <a:off x="6191250" y="65341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No</a:t>
            </a:r>
            <a:endParaRPr lang="en-US" sz="1200" dirty="0"/>
          </a:p>
        </p:txBody>
      </p:sp>
      <p:sp>
        <p:nvSpPr>
          <p:cNvPr id="92" name="Text 44"/>
          <p:cNvSpPr/>
          <p:nvPr/>
        </p:nvSpPr>
        <p:spPr>
          <a:xfrm>
            <a:off x="9086850" y="6534150"/>
            <a:ext cx="2895600" cy="4191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Optimal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10258425"/>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190500" y="781050"/>
            <a:ext cx="5791200" cy="6534150"/>
          </a:xfrm>
          <a:prstGeom prst="rect">
            <a:avLst/>
          </a:prstGeom>
        </p:spPr>
      </p:pic>
      <p:pic>
        <p:nvPicPr>
          <p:cNvPr id="5" name="Image 3" descr="preencoded.png"/>
          <p:cNvPicPr>
            <a:picLocks noChangeAspect="1"/>
          </p:cNvPicPr>
          <p:nvPr/>
        </p:nvPicPr>
        <p:blipFill>
          <a:blip r:embed="rId6"/>
          <a:stretch>
            <a:fillRect/>
          </a:stretch>
        </p:blipFill>
        <p:spPr>
          <a:xfrm>
            <a:off x="190500" y="781050"/>
            <a:ext cx="5791200" cy="666750"/>
          </a:xfrm>
          <a:prstGeom prst="rect">
            <a:avLst/>
          </a:prstGeom>
        </p:spPr>
      </p:pic>
      <p:pic>
        <p:nvPicPr>
          <p:cNvPr id="6" name="Image 4" descr="preencoded.png"/>
          <p:cNvPicPr>
            <a:picLocks noChangeAspect="1"/>
          </p:cNvPicPr>
          <p:nvPr/>
        </p:nvPicPr>
        <p:blipFill>
          <a:blip r:embed="rId7"/>
          <a:stretch>
            <a:fillRect/>
          </a:stretch>
        </p:blipFill>
        <p:spPr>
          <a:xfrm>
            <a:off x="381000" y="923925"/>
            <a:ext cx="381000" cy="381000"/>
          </a:xfrm>
          <a:prstGeom prst="rect">
            <a:avLst/>
          </a:prstGeom>
        </p:spPr>
      </p:pic>
      <p:pic>
        <p:nvPicPr>
          <p:cNvPr id="7" name="Image 5" descr="preencoded.png"/>
          <p:cNvPicPr>
            <a:picLocks noChangeAspect="1"/>
          </p:cNvPicPr>
          <p:nvPr/>
        </p:nvPicPr>
        <p:blipFill>
          <a:blip r:embed="rId8"/>
          <a:stretch>
            <a:fillRect/>
          </a:stretch>
        </p:blipFill>
        <p:spPr>
          <a:xfrm>
            <a:off x="485775" y="1038225"/>
            <a:ext cx="171450" cy="152400"/>
          </a:xfrm>
          <a:prstGeom prst="rect">
            <a:avLst/>
          </a:prstGeom>
        </p:spPr>
      </p:pic>
      <p:pic>
        <p:nvPicPr>
          <p:cNvPr id="8" name="Image 6" descr="preencoded.png"/>
          <p:cNvPicPr>
            <a:picLocks noChangeAspect="1"/>
          </p:cNvPicPr>
          <p:nvPr/>
        </p:nvPicPr>
        <p:blipFill>
          <a:blip r:embed="rId9"/>
          <a:stretch>
            <a:fillRect/>
          </a:stretch>
        </p:blipFill>
        <p:spPr>
          <a:xfrm>
            <a:off x="342900" y="2095500"/>
            <a:ext cx="5486400" cy="952500"/>
          </a:xfrm>
          <a:prstGeom prst="rect">
            <a:avLst/>
          </a:prstGeom>
        </p:spPr>
      </p:pic>
      <p:pic>
        <p:nvPicPr>
          <p:cNvPr id="9" name="Image 7" descr="preencoded.png"/>
          <p:cNvPicPr>
            <a:picLocks noChangeAspect="1"/>
          </p:cNvPicPr>
          <p:nvPr/>
        </p:nvPicPr>
        <p:blipFill>
          <a:blip r:embed="rId10"/>
          <a:stretch>
            <a:fillRect/>
          </a:stretch>
        </p:blipFill>
        <p:spPr>
          <a:xfrm>
            <a:off x="342900" y="3038475"/>
            <a:ext cx="5486400" cy="9525"/>
          </a:xfrm>
          <a:prstGeom prst="rect">
            <a:avLst/>
          </a:prstGeom>
        </p:spPr>
      </p:pic>
      <p:pic>
        <p:nvPicPr>
          <p:cNvPr id="10" name="Image 8" descr="preencoded.png"/>
          <p:cNvPicPr>
            <a:picLocks noChangeAspect="1"/>
          </p:cNvPicPr>
          <p:nvPr/>
        </p:nvPicPr>
        <p:blipFill>
          <a:blip r:embed="rId11"/>
          <a:stretch>
            <a:fillRect/>
          </a:stretch>
        </p:blipFill>
        <p:spPr>
          <a:xfrm>
            <a:off x="438150" y="2190750"/>
            <a:ext cx="952500" cy="285750"/>
          </a:xfrm>
          <a:prstGeom prst="rect">
            <a:avLst/>
          </a:prstGeom>
        </p:spPr>
      </p:pic>
      <p:pic>
        <p:nvPicPr>
          <p:cNvPr id="11" name="Image 9" descr="preencoded.png"/>
          <p:cNvPicPr>
            <a:picLocks noChangeAspect="1"/>
          </p:cNvPicPr>
          <p:nvPr/>
        </p:nvPicPr>
        <p:blipFill>
          <a:blip r:embed="rId12"/>
          <a:stretch>
            <a:fillRect/>
          </a:stretch>
        </p:blipFill>
        <p:spPr>
          <a:xfrm>
            <a:off x="1485900" y="2190750"/>
            <a:ext cx="1428750" cy="285750"/>
          </a:xfrm>
          <a:prstGeom prst="rect">
            <a:avLst/>
          </a:prstGeom>
        </p:spPr>
      </p:pic>
      <p:pic>
        <p:nvPicPr>
          <p:cNvPr id="12" name="Image 10" descr="preencoded.png"/>
          <p:cNvPicPr>
            <a:picLocks noChangeAspect="1"/>
          </p:cNvPicPr>
          <p:nvPr/>
        </p:nvPicPr>
        <p:blipFill>
          <a:blip r:embed="rId13"/>
          <a:stretch>
            <a:fillRect/>
          </a:stretch>
        </p:blipFill>
        <p:spPr>
          <a:xfrm>
            <a:off x="3009900" y="2190750"/>
            <a:ext cx="1905000" cy="285750"/>
          </a:xfrm>
          <a:prstGeom prst="rect">
            <a:avLst/>
          </a:prstGeom>
        </p:spPr>
      </p:pic>
      <p:pic>
        <p:nvPicPr>
          <p:cNvPr id="13" name="Image 11" descr="preencoded.png"/>
          <p:cNvPicPr>
            <a:picLocks noChangeAspect="1"/>
          </p:cNvPicPr>
          <p:nvPr/>
        </p:nvPicPr>
        <p:blipFill>
          <a:blip r:embed="rId14"/>
          <a:stretch>
            <a:fillRect/>
          </a:stretch>
        </p:blipFill>
        <p:spPr>
          <a:xfrm>
            <a:off x="342900" y="3390900"/>
            <a:ext cx="2705100" cy="495300"/>
          </a:xfrm>
          <a:prstGeom prst="rect">
            <a:avLst/>
          </a:prstGeom>
        </p:spPr>
      </p:pic>
      <p:pic>
        <p:nvPicPr>
          <p:cNvPr id="14" name="Image 12" descr="preencoded.png"/>
          <p:cNvPicPr>
            <a:picLocks noChangeAspect="1"/>
          </p:cNvPicPr>
          <p:nvPr/>
        </p:nvPicPr>
        <p:blipFill>
          <a:blip r:embed="rId14"/>
          <a:stretch>
            <a:fillRect/>
          </a:stretch>
        </p:blipFill>
        <p:spPr>
          <a:xfrm>
            <a:off x="3124200" y="3390900"/>
            <a:ext cx="2705100" cy="495300"/>
          </a:xfrm>
          <a:prstGeom prst="rect">
            <a:avLst/>
          </a:prstGeom>
        </p:spPr>
      </p:pic>
      <p:pic>
        <p:nvPicPr>
          <p:cNvPr id="15" name="Image 13" descr="preencoded.png"/>
          <p:cNvPicPr>
            <a:picLocks noChangeAspect="1"/>
          </p:cNvPicPr>
          <p:nvPr/>
        </p:nvPicPr>
        <p:blipFill>
          <a:blip r:embed="rId15"/>
          <a:stretch>
            <a:fillRect/>
          </a:stretch>
        </p:blipFill>
        <p:spPr>
          <a:xfrm>
            <a:off x="342900" y="4914900"/>
            <a:ext cx="5486400" cy="952500"/>
          </a:xfrm>
          <a:prstGeom prst="rect">
            <a:avLst/>
          </a:prstGeom>
        </p:spPr>
      </p:pic>
      <p:pic>
        <p:nvPicPr>
          <p:cNvPr id="16" name="Image 14" descr="preencoded.png"/>
          <p:cNvPicPr>
            <a:picLocks noChangeAspect="1"/>
          </p:cNvPicPr>
          <p:nvPr/>
        </p:nvPicPr>
        <p:blipFill>
          <a:blip r:embed="rId5"/>
          <a:stretch>
            <a:fillRect/>
          </a:stretch>
        </p:blipFill>
        <p:spPr>
          <a:xfrm>
            <a:off x="6210300" y="781050"/>
            <a:ext cx="5791200" cy="6534150"/>
          </a:xfrm>
          <a:prstGeom prst="rect">
            <a:avLst/>
          </a:prstGeom>
        </p:spPr>
      </p:pic>
      <p:pic>
        <p:nvPicPr>
          <p:cNvPr id="17" name="Image 15" descr="preencoded.png"/>
          <p:cNvPicPr>
            <a:picLocks noChangeAspect="1"/>
          </p:cNvPicPr>
          <p:nvPr/>
        </p:nvPicPr>
        <p:blipFill>
          <a:blip r:embed="rId16"/>
          <a:stretch>
            <a:fillRect/>
          </a:stretch>
        </p:blipFill>
        <p:spPr>
          <a:xfrm>
            <a:off x="6210300" y="781050"/>
            <a:ext cx="5791200" cy="666750"/>
          </a:xfrm>
          <a:prstGeom prst="rect">
            <a:avLst/>
          </a:prstGeom>
        </p:spPr>
      </p:pic>
      <p:pic>
        <p:nvPicPr>
          <p:cNvPr id="18" name="Image 16" descr="preencoded.png"/>
          <p:cNvPicPr>
            <a:picLocks noChangeAspect="1"/>
          </p:cNvPicPr>
          <p:nvPr/>
        </p:nvPicPr>
        <p:blipFill>
          <a:blip r:embed="rId17"/>
          <a:stretch>
            <a:fillRect/>
          </a:stretch>
        </p:blipFill>
        <p:spPr>
          <a:xfrm>
            <a:off x="6400800" y="923925"/>
            <a:ext cx="381000" cy="381000"/>
          </a:xfrm>
          <a:prstGeom prst="rect">
            <a:avLst/>
          </a:prstGeom>
        </p:spPr>
      </p:pic>
      <p:pic>
        <p:nvPicPr>
          <p:cNvPr id="19" name="Image 17" descr="preencoded.png"/>
          <p:cNvPicPr>
            <a:picLocks noChangeAspect="1"/>
          </p:cNvPicPr>
          <p:nvPr/>
        </p:nvPicPr>
        <p:blipFill>
          <a:blip r:embed="rId18"/>
          <a:stretch>
            <a:fillRect/>
          </a:stretch>
        </p:blipFill>
        <p:spPr>
          <a:xfrm>
            <a:off x="6515100" y="1038225"/>
            <a:ext cx="152400" cy="152400"/>
          </a:xfrm>
          <a:prstGeom prst="rect">
            <a:avLst/>
          </a:prstGeom>
        </p:spPr>
      </p:pic>
      <p:pic>
        <p:nvPicPr>
          <p:cNvPr id="20" name="Image 18" descr="preencoded.png"/>
          <p:cNvPicPr>
            <a:picLocks noChangeAspect="1"/>
          </p:cNvPicPr>
          <p:nvPr/>
        </p:nvPicPr>
        <p:blipFill>
          <a:blip r:embed="rId19"/>
          <a:stretch>
            <a:fillRect/>
          </a:stretch>
        </p:blipFill>
        <p:spPr>
          <a:xfrm>
            <a:off x="6362700" y="2286000"/>
            <a:ext cx="5486400" cy="952500"/>
          </a:xfrm>
          <a:prstGeom prst="rect">
            <a:avLst/>
          </a:prstGeom>
        </p:spPr>
      </p:pic>
      <p:pic>
        <p:nvPicPr>
          <p:cNvPr id="21" name="Image 19" descr="preencoded.png"/>
          <p:cNvPicPr>
            <a:picLocks noChangeAspect="1"/>
          </p:cNvPicPr>
          <p:nvPr/>
        </p:nvPicPr>
        <p:blipFill>
          <a:blip r:embed="rId10"/>
          <a:stretch>
            <a:fillRect/>
          </a:stretch>
        </p:blipFill>
        <p:spPr>
          <a:xfrm>
            <a:off x="6362700" y="3228975"/>
            <a:ext cx="5486400" cy="9525"/>
          </a:xfrm>
          <a:prstGeom prst="rect">
            <a:avLst/>
          </a:prstGeom>
        </p:spPr>
      </p:pic>
      <p:pic>
        <p:nvPicPr>
          <p:cNvPr id="22" name="Image 20" descr="preencoded.png"/>
          <p:cNvPicPr>
            <a:picLocks noChangeAspect="1"/>
          </p:cNvPicPr>
          <p:nvPr/>
        </p:nvPicPr>
        <p:blipFill>
          <a:blip r:embed="rId20"/>
          <a:stretch>
            <a:fillRect/>
          </a:stretch>
        </p:blipFill>
        <p:spPr>
          <a:xfrm>
            <a:off x="6457950" y="2381250"/>
            <a:ext cx="381000" cy="285750"/>
          </a:xfrm>
          <a:prstGeom prst="rect">
            <a:avLst/>
          </a:prstGeom>
        </p:spPr>
      </p:pic>
      <p:pic>
        <p:nvPicPr>
          <p:cNvPr id="23" name="Image 21" descr="preencoded.png"/>
          <p:cNvPicPr>
            <a:picLocks noChangeAspect="1"/>
          </p:cNvPicPr>
          <p:nvPr/>
        </p:nvPicPr>
        <p:blipFill>
          <a:blip r:embed="rId21"/>
          <a:stretch>
            <a:fillRect/>
          </a:stretch>
        </p:blipFill>
        <p:spPr>
          <a:xfrm>
            <a:off x="6934200" y="2381250"/>
            <a:ext cx="381000" cy="285750"/>
          </a:xfrm>
          <a:prstGeom prst="rect">
            <a:avLst/>
          </a:prstGeom>
        </p:spPr>
      </p:pic>
      <p:pic>
        <p:nvPicPr>
          <p:cNvPr id="24" name="Image 22" descr="preencoded.png"/>
          <p:cNvPicPr>
            <a:picLocks noChangeAspect="1"/>
          </p:cNvPicPr>
          <p:nvPr/>
        </p:nvPicPr>
        <p:blipFill>
          <a:blip r:embed="rId22"/>
          <a:stretch>
            <a:fillRect/>
          </a:stretch>
        </p:blipFill>
        <p:spPr>
          <a:xfrm>
            <a:off x="7410450" y="2381250"/>
            <a:ext cx="381000" cy="285750"/>
          </a:xfrm>
          <a:prstGeom prst="rect">
            <a:avLst/>
          </a:prstGeom>
        </p:spPr>
      </p:pic>
      <p:pic>
        <p:nvPicPr>
          <p:cNvPr id="25" name="Image 23" descr="preencoded.png"/>
          <p:cNvPicPr>
            <a:picLocks noChangeAspect="1"/>
          </p:cNvPicPr>
          <p:nvPr/>
        </p:nvPicPr>
        <p:blipFill>
          <a:blip r:embed="rId23"/>
          <a:stretch>
            <a:fillRect/>
          </a:stretch>
        </p:blipFill>
        <p:spPr>
          <a:xfrm>
            <a:off x="7886700" y="2381250"/>
            <a:ext cx="381000" cy="285750"/>
          </a:xfrm>
          <a:prstGeom prst="rect">
            <a:avLst/>
          </a:prstGeom>
        </p:spPr>
      </p:pic>
      <p:pic>
        <p:nvPicPr>
          <p:cNvPr id="26" name="Image 24" descr="preencoded.png"/>
          <p:cNvPicPr>
            <a:picLocks noChangeAspect="1"/>
          </p:cNvPicPr>
          <p:nvPr/>
        </p:nvPicPr>
        <p:blipFill>
          <a:blip r:embed="rId24"/>
          <a:stretch>
            <a:fillRect/>
          </a:stretch>
        </p:blipFill>
        <p:spPr>
          <a:xfrm>
            <a:off x="8362950" y="2381250"/>
            <a:ext cx="381000" cy="285750"/>
          </a:xfrm>
          <a:prstGeom prst="rect">
            <a:avLst/>
          </a:prstGeom>
        </p:spPr>
      </p:pic>
      <p:pic>
        <p:nvPicPr>
          <p:cNvPr id="27" name="Image 25" descr="preencoded.png"/>
          <p:cNvPicPr>
            <a:picLocks noChangeAspect="1"/>
          </p:cNvPicPr>
          <p:nvPr/>
        </p:nvPicPr>
        <p:blipFill>
          <a:blip r:embed="rId25"/>
          <a:stretch>
            <a:fillRect/>
          </a:stretch>
        </p:blipFill>
        <p:spPr>
          <a:xfrm>
            <a:off x="8839200" y="2381250"/>
            <a:ext cx="381000" cy="285750"/>
          </a:xfrm>
          <a:prstGeom prst="rect">
            <a:avLst/>
          </a:prstGeom>
        </p:spPr>
      </p:pic>
      <p:pic>
        <p:nvPicPr>
          <p:cNvPr id="28" name="Image 26" descr="preencoded.png"/>
          <p:cNvPicPr>
            <a:picLocks noChangeAspect="1"/>
          </p:cNvPicPr>
          <p:nvPr/>
        </p:nvPicPr>
        <p:blipFill>
          <a:blip r:embed="rId26"/>
          <a:stretch>
            <a:fillRect/>
          </a:stretch>
        </p:blipFill>
        <p:spPr>
          <a:xfrm>
            <a:off x="9315450" y="2381250"/>
            <a:ext cx="381000" cy="285750"/>
          </a:xfrm>
          <a:prstGeom prst="rect">
            <a:avLst/>
          </a:prstGeom>
        </p:spPr>
      </p:pic>
      <p:pic>
        <p:nvPicPr>
          <p:cNvPr id="29" name="Image 27" descr="preencoded.png"/>
          <p:cNvPicPr>
            <a:picLocks noChangeAspect="1"/>
          </p:cNvPicPr>
          <p:nvPr/>
        </p:nvPicPr>
        <p:blipFill>
          <a:blip r:embed="rId27"/>
          <a:stretch>
            <a:fillRect/>
          </a:stretch>
        </p:blipFill>
        <p:spPr>
          <a:xfrm>
            <a:off x="9791700" y="2381250"/>
            <a:ext cx="190500" cy="285750"/>
          </a:xfrm>
          <a:prstGeom prst="rect">
            <a:avLst/>
          </a:prstGeom>
        </p:spPr>
      </p:pic>
      <p:pic>
        <p:nvPicPr>
          <p:cNvPr id="30" name="Image 28" descr="preencoded.png"/>
          <p:cNvPicPr>
            <a:picLocks noChangeAspect="1"/>
          </p:cNvPicPr>
          <p:nvPr/>
        </p:nvPicPr>
        <p:blipFill>
          <a:blip r:embed="rId28"/>
          <a:stretch>
            <a:fillRect/>
          </a:stretch>
        </p:blipFill>
        <p:spPr>
          <a:xfrm>
            <a:off x="6362700" y="3581400"/>
            <a:ext cx="5486400" cy="685800"/>
          </a:xfrm>
          <a:prstGeom prst="rect">
            <a:avLst/>
          </a:prstGeom>
        </p:spPr>
      </p:pic>
      <p:pic>
        <p:nvPicPr>
          <p:cNvPr id="31" name="Image 29" descr="preencoded.png"/>
          <p:cNvPicPr>
            <a:picLocks noChangeAspect="1"/>
          </p:cNvPicPr>
          <p:nvPr/>
        </p:nvPicPr>
        <p:blipFill>
          <a:blip r:embed="rId29"/>
          <a:stretch>
            <a:fillRect/>
          </a:stretch>
        </p:blipFill>
        <p:spPr>
          <a:xfrm>
            <a:off x="6477000" y="3714750"/>
            <a:ext cx="152400" cy="152400"/>
          </a:xfrm>
          <a:prstGeom prst="rect">
            <a:avLst/>
          </a:prstGeom>
        </p:spPr>
      </p:pic>
      <p:pic>
        <p:nvPicPr>
          <p:cNvPr id="32" name="Image 30" descr="preencoded.png"/>
          <p:cNvPicPr>
            <a:picLocks noChangeAspect="1"/>
          </p:cNvPicPr>
          <p:nvPr/>
        </p:nvPicPr>
        <p:blipFill>
          <a:blip r:embed="rId30"/>
          <a:stretch>
            <a:fillRect/>
          </a:stretch>
        </p:blipFill>
        <p:spPr>
          <a:xfrm>
            <a:off x="6477000" y="3924300"/>
            <a:ext cx="2590800" cy="228600"/>
          </a:xfrm>
          <a:prstGeom prst="rect">
            <a:avLst/>
          </a:prstGeom>
        </p:spPr>
      </p:pic>
      <p:pic>
        <p:nvPicPr>
          <p:cNvPr id="33" name="Image 31" descr="preencoded.png"/>
          <p:cNvPicPr>
            <a:picLocks noChangeAspect="1"/>
          </p:cNvPicPr>
          <p:nvPr/>
        </p:nvPicPr>
        <p:blipFill>
          <a:blip r:embed="rId30"/>
          <a:stretch>
            <a:fillRect/>
          </a:stretch>
        </p:blipFill>
        <p:spPr>
          <a:xfrm>
            <a:off x="9144000" y="3924300"/>
            <a:ext cx="2590800" cy="228600"/>
          </a:xfrm>
          <a:prstGeom prst="rect">
            <a:avLst/>
          </a:prstGeom>
        </p:spPr>
      </p:pic>
      <p:pic>
        <p:nvPicPr>
          <p:cNvPr id="36" name="Image 34" descr="preencoded.png"/>
          <p:cNvPicPr>
            <a:picLocks noChangeAspect="1"/>
          </p:cNvPicPr>
          <p:nvPr/>
        </p:nvPicPr>
        <p:blipFill>
          <a:blip r:embed="rId31"/>
          <a:stretch>
            <a:fillRect/>
          </a:stretch>
        </p:blipFill>
        <p:spPr>
          <a:xfrm>
            <a:off x="190500" y="7467600"/>
            <a:ext cx="11811000" cy="2600325"/>
          </a:xfrm>
          <a:prstGeom prst="rect">
            <a:avLst/>
          </a:prstGeom>
        </p:spPr>
      </p:pic>
      <p:pic>
        <p:nvPicPr>
          <p:cNvPr id="37" name="Image 35" descr="preencoded.png"/>
          <p:cNvPicPr>
            <a:picLocks noChangeAspect="1"/>
          </p:cNvPicPr>
          <p:nvPr/>
        </p:nvPicPr>
        <p:blipFill>
          <a:blip r:embed="rId32"/>
          <a:stretch>
            <a:fillRect/>
          </a:stretch>
        </p:blipFill>
        <p:spPr>
          <a:xfrm>
            <a:off x="304800" y="7610475"/>
            <a:ext cx="133350" cy="133350"/>
          </a:xfrm>
          <a:prstGeom prst="rect">
            <a:avLst/>
          </a:prstGeom>
        </p:spPr>
      </p:pic>
      <p:pic>
        <p:nvPicPr>
          <p:cNvPr id="38" name="Image 36" descr="preencoded.png"/>
          <p:cNvPicPr>
            <a:picLocks noChangeAspect="1"/>
          </p:cNvPicPr>
          <p:nvPr/>
        </p:nvPicPr>
        <p:blipFill>
          <a:blip r:embed="rId33"/>
          <a:stretch>
            <a:fillRect/>
          </a:stretch>
        </p:blipFill>
        <p:spPr>
          <a:xfrm>
            <a:off x="304800" y="7848600"/>
            <a:ext cx="2548086" cy="419100"/>
          </a:xfrm>
          <a:prstGeom prst="rect">
            <a:avLst/>
          </a:prstGeom>
        </p:spPr>
      </p:pic>
      <p:pic>
        <p:nvPicPr>
          <p:cNvPr id="39" name="Image 37" descr="preencoded.png"/>
          <p:cNvPicPr>
            <a:picLocks noChangeAspect="1"/>
          </p:cNvPicPr>
          <p:nvPr/>
        </p:nvPicPr>
        <p:blipFill>
          <a:blip r:embed="rId34"/>
          <a:stretch>
            <a:fillRect/>
          </a:stretch>
        </p:blipFill>
        <p:spPr>
          <a:xfrm>
            <a:off x="2852886" y="7848600"/>
            <a:ext cx="4517082" cy="419100"/>
          </a:xfrm>
          <a:prstGeom prst="rect">
            <a:avLst/>
          </a:prstGeom>
        </p:spPr>
      </p:pic>
      <p:pic>
        <p:nvPicPr>
          <p:cNvPr id="40" name="Image 38" descr="preencoded.png"/>
          <p:cNvPicPr>
            <a:picLocks noChangeAspect="1"/>
          </p:cNvPicPr>
          <p:nvPr/>
        </p:nvPicPr>
        <p:blipFill>
          <a:blip r:embed="rId34"/>
          <a:stretch>
            <a:fillRect/>
          </a:stretch>
        </p:blipFill>
        <p:spPr>
          <a:xfrm>
            <a:off x="7369969" y="7848600"/>
            <a:ext cx="4517231" cy="419100"/>
          </a:xfrm>
          <a:prstGeom prst="rect">
            <a:avLst/>
          </a:prstGeom>
        </p:spPr>
      </p:pic>
      <p:pic>
        <p:nvPicPr>
          <p:cNvPr id="41" name="Image 39" descr="preencoded.png"/>
          <p:cNvPicPr>
            <a:picLocks noChangeAspect="1"/>
          </p:cNvPicPr>
          <p:nvPr/>
        </p:nvPicPr>
        <p:blipFill>
          <a:blip r:embed="rId35"/>
          <a:stretch>
            <a:fillRect/>
          </a:stretch>
        </p:blipFill>
        <p:spPr>
          <a:xfrm>
            <a:off x="304800" y="8267700"/>
            <a:ext cx="2548086" cy="419100"/>
          </a:xfrm>
          <a:prstGeom prst="rect">
            <a:avLst/>
          </a:prstGeom>
        </p:spPr>
      </p:pic>
      <p:pic>
        <p:nvPicPr>
          <p:cNvPr id="42" name="Image 40" descr="preencoded.png"/>
          <p:cNvPicPr>
            <a:picLocks noChangeAspect="1"/>
          </p:cNvPicPr>
          <p:nvPr/>
        </p:nvPicPr>
        <p:blipFill>
          <a:blip r:embed="rId36"/>
          <a:stretch>
            <a:fillRect/>
          </a:stretch>
        </p:blipFill>
        <p:spPr>
          <a:xfrm>
            <a:off x="2852886" y="8267700"/>
            <a:ext cx="4517082" cy="419100"/>
          </a:xfrm>
          <a:prstGeom prst="rect">
            <a:avLst/>
          </a:prstGeom>
        </p:spPr>
      </p:pic>
      <p:pic>
        <p:nvPicPr>
          <p:cNvPr id="43" name="Image 41" descr="preencoded.png"/>
          <p:cNvPicPr>
            <a:picLocks noChangeAspect="1"/>
          </p:cNvPicPr>
          <p:nvPr/>
        </p:nvPicPr>
        <p:blipFill>
          <a:blip r:embed="rId36"/>
          <a:stretch>
            <a:fillRect/>
          </a:stretch>
        </p:blipFill>
        <p:spPr>
          <a:xfrm>
            <a:off x="7369969" y="8267700"/>
            <a:ext cx="4517231" cy="419100"/>
          </a:xfrm>
          <a:prstGeom prst="rect">
            <a:avLst/>
          </a:prstGeom>
        </p:spPr>
      </p:pic>
      <p:pic>
        <p:nvPicPr>
          <p:cNvPr id="44" name="Image 42" descr="preencoded.png"/>
          <p:cNvPicPr>
            <a:picLocks noChangeAspect="1"/>
          </p:cNvPicPr>
          <p:nvPr/>
        </p:nvPicPr>
        <p:blipFill>
          <a:blip r:embed="rId35"/>
          <a:stretch>
            <a:fillRect/>
          </a:stretch>
        </p:blipFill>
        <p:spPr>
          <a:xfrm>
            <a:off x="304800" y="8686800"/>
            <a:ext cx="2548086" cy="419100"/>
          </a:xfrm>
          <a:prstGeom prst="rect">
            <a:avLst/>
          </a:prstGeom>
        </p:spPr>
      </p:pic>
      <p:pic>
        <p:nvPicPr>
          <p:cNvPr id="45" name="Image 43" descr="preencoded.png"/>
          <p:cNvPicPr>
            <a:picLocks noChangeAspect="1"/>
          </p:cNvPicPr>
          <p:nvPr/>
        </p:nvPicPr>
        <p:blipFill>
          <a:blip r:embed="rId36"/>
          <a:stretch>
            <a:fillRect/>
          </a:stretch>
        </p:blipFill>
        <p:spPr>
          <a:xfrm>
            <a:off x="2852886" y="8686800"/>
            <a:ext cx="4517082" cy="419100"/>
          </a:xfrm>
          <a:prstGeom prst="rect">
            <a:avLst/>
          </a:prstGeom>
        </p:spPr>
      </p:pic>
      <p:pic>
        <p:nvPicPr>
          <p:cNvPr id="46" name="Image 44" descr="preencoded.png"/>
          <p:cNvPicPr>
            <a:picLocks noChangeAspect="1"/>
          </p:cNvPicPr>
          <p:nvPr/>
        </p:nvPicPr>
        <p:blipFill>
          <a:blip r:embed="rId36"/>
          <a:stretch>
            <a:fillRect/>
          </a:stretch>
        </p:blipFill>
        <p:spPr>
          <a:xfrm>
            <a:off x="7369969" y="8686800"/>
            <a:ext cx="4517231" cy="419100"/>
          </a:xfrm>
          <a:prstGeom prst="rect">
            <a:avLst/>
          </a:prstGeom>
        </p:spPr>
      </p:pic>
      <p:pic>
        <p:nvPicPr>
          <p:cNvPr id="47" name="Image 45" descr="preencoded.png"/>
          <p:cNvPicPr>
            <a:picLocks noChangeAspect="1"/>
          </p:cNvPicPr>
          <p:nvPr/>
        </p:nvPicPr>
        <p:blipFill>
          <a:blip r:embed="rId37"/>
          <a:stretch>
            <a:fillRect/>
          </a:stretch>
        </p:blipFill>
        <p:spPr>
          <a:xfrm>
            <a:off x="304800" y="9105900"/>
            <a:ext cx="2548086" cy="428625"/>
          </a:xfrm>
          <a:prstGeom prst="rect">
            <a:avLst/>
          </a:prstGeom>
        </p:spPr>
      </p:pic>
      <p:pic>
        <p:nvPicPr>
          <p:cNvPr id="48" name="Image 46" descr="preencoded.png"/>
          <p:cNvPicPr>
            <a:picLocks noChangeAspect="1"/>
          </p:cNvPicPr>
          <p:nvPr/>
        </p:nvPicPr>
        <p:blipFill>
          <a:blip r:embed="rId38"/>
          <a:stretch>
            <a:fillRect/>
          </a:stretch>
        </p:blipFill>
        <p:spPr>
          <a:xfrm>
            <a:off x="2852886" y="9105900"/>
            <a:ext cx="4517082" cy="428625"/>
          </a:xfrm>
          <a:prstGeom prst="rect">
            <a:avLst/>
          </a:prstGeom>
        </p:spPr>
      </p:pic>
      <p:pic>
        <p:nvPicPr>
          <p:cNvPr id="49" name="Image 47" descr="preencoded.png"/>
          <p:cNvPicPr>
            <a:picLocks noChangeAspect="1"/>
          </p:cNvPicPr>
          <p:nvPr/>
        </p:nvPicPr>
        <p:blipFill>
          <a:blip r:embed="rId38"/>
          <a:stretch>
            <a:fillRect/>
          </a:stretch>
        </p:blipFill>
        <p:spPr>
          <a:xfrm>
            <a:off x="7369969" y="9105900"/>
            <a:ext cx="4517231" cy="428625"/>
          </a:xfrm>
          <a:prstGeom prst="rect">
            <a:avLst/>
          </a:prstGeom>
        </p:spPr>
      </p:pic>
      <p:pic>
        <p:nvPicPr>
          <p:cNvPr id="50" name="Image 48" descr="preencoded.png"/>
          <p:cNvPicPr>
            <a:picLocks noChangeAspect="1"/>
          </p:cNvPicPr>
          <p:nvPr/>
        </p:nvPicPr>
        <p:blipFill>
          <a:blip r:embed="rId35"/>
          <a:stretch>
            <a:fillRect/>
          </a:stretch>
        </p:blipFill>
        <p:spPr>
          <a:xfrm>
            <a:off x="304800" y="9534525"/>
            <a:ext cx="2548086" cy="419100"/>
          </a:xfrm>
          <a:prstGeom prst="rect">
            <a:avLst/>
          </a:prstGeom>
        </p:spPr>
      </p:pic>
      <p:pic>
        <p:nvPicPr>
          <p:cNvPr id="51" name="Image 49" descr="preencoded.png"/>
          <p:cNvPicPr>
            <a:picLocks noChangeAspect="1"/>
          </p:cNvPicPr>
          <p:nvPr/>
        </p:nvPicPr>
        <p:blipFill>
          <a:blip r:embed="rId36"/>
          <a:stretch>
            <a:fillRect/>
          </a:stretch>
        </p:blipFill>
        <p:spPr>
          <a:xfrm>
            <a:off x="2852886" y="9534525"/>
            <a:ext cx="4517082" cy="419100"/>
          </a:xfrm>
          <a:prstGeom prst="rect">
            <a:avLst/>
          </a:prstGeom>
        </p:spPr>
      </p:pic>
      <p:pic>
        <p:nvPicPr>
          <p:cNvPr id="52" name="Image 50" descr="preencoded.png"/>
          <p:cNvPicPr>
            <a:picLocks noChangeAspect="1"/>
          </p:cNvPicPr>
          <p:nvPr/>
        </p:nvPicPr>
        <p:blipFill>
          <a:blip r:embed="rId36"/>
          <a:stretch>
            <a:fillRect/>
          </a:stretch>
        </p:blipFill>
        <p:spPr>
          <a:xfrm>
            <a:off x="7369969" y="9534525"/>
            <a:ext cx="4517231" cy="419100"/>
          </a:xfrm>
          <a:prstGeom prst="rect">
            <a:avLst/>
          </a:prstGeom>
        </p:spPr>
      </p:pic>
      <p:sp>
        <p:nvSpPr>
          <p:cNvPr id="53" name="Text 0"/>
          <p:cNvSpPr/>
          <p:nvPr/>
        </p:nvSpPr>
        <p:spPr>
          <a:xfrm>
            <a:off x="285750" y="142875"/>
            <a:ext cx="6481882"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Scheduling Algorithms: Priority and Round Robin</a:t>
            </a:r>
            <a:endParaRPr lang="en-US" sz="1800" dirty="0"/>
          </a:p>
        </p:txBody>
      </p:sp>
      <p:sp>
        <p:nvSpPr>
          <p:cNvPr id="54" name="Text 1"/>
          <p:cNvSpPr/>
          <p:nvPr/>
        </p:nvSpPr>
        <p:spPr>
          <a:xfrm>
            <a:off x="11646694" y="200025"/>
            <a:ext cx="311468" cy="190500"/>
          </a:xfrm>
          <a:prstGeom prst="rect">
            <a:avLst/>
          </a:prstGeom>
          <a:noFill/>
          <a:ln/>
        </p:spPr>
        <p:txBody>
          <a:bodyPr wrap="square" lIns="0" tIns="0" rIns="0" bIns="0" rtlCol="0" anchor="t"/>
          <a:lstStyle/>
          <a:p>
            <a:pPr marL="0" indent="0">
              <a:lnSpc>
                <a:spcPts val="1500"/>
              </a:lnSpc>
              <a:buNone/>
            </a:pPr>
            <a:r>
              <a:rPr lang="en-US" sz="1050" dirty="0">
                <a:solidFill>
                  <a:srgbClr val="FFFFFF"/>
                </a:solidFill>
                <a:latin typeface="Arial" pitchFamily="34" charset="0"/>
                <a:ea typeface="Arial" pitchFamily="34" charset="-122"/>
                <a:cs typeface="Arial" pitchFamily="34" charset="-120"/>
              </a:rPr>
              <a:t>6/11</a:t>
            </a:r>
            <a:endParaRPr lang="en-US" sz="1050" dirty="0"/>
          </a:p>
        </p:txBody>
      </p:sp>
      <p:sp>
        <p:nvSpPr>
          <p:cNvPr id="55" name="Text 2"/>
          <p:cNvSpPr/>
          <p:nvPr/>
        </p:nvSpPr>
        <p:spPr>
          <a:xfrm>
            <a:off x="876300" y="981075"/>
            <a:ext cx="2095798" cy="266700"/>
          </a:xfrm>
          <a:prstGeom prst="rect">
            <a:avLst/>
          </a:prstGeom>
          <a:noFill/>
          <a:ln/>
        </p:spPr>
        <p:txBody>
          <a:bodyPr wrap="square" lIns="0" tIns="0" rIns="0" bIns="0" rtlCol="0" anchor="t"/>
          <a:lstStyle/>
          <a:p>
            <a:pPr marL="0" indent="0">
              <a:lnSpc>
                <a:spcPts val="2100"/>
              </a:lnSpc>
              <a:buNone/>
            </a:pPr>
            <a:r>
              <a:rPr lang="en-US" sz="1500" b="1" dirty="0">
                <a:solidFill>
                  <a:srgbClr val="FFFFFF"/>
                </a:solidFill>
                <a:latin typeface="Arial" pitchFamily="34" charset="0"/>
                <a:ea typeface="Arial" pitchFamily="34" charset="-122"/>
                <a:cs typeface="Arial" pitchFamily="34" charset="-120"/>
              </a:rPr>
              <a:t>Priority Scheduling</a:t>
            </a:r>
            <a:endParaRPr lang="en-US" sz="1500" dirty="0"/>
          </a:p>
        </p:txBody>
      </p:sp>
      <p:sp>
        <p:nvSpPr>
          <p:cNvPr id="56" name="Text 3"/>
          <p:cNvSpPr/>
          <p:nvPr/>
        </p:nvSpPr>
        <p:spPr>
          <a:xfrm>
            <a:off x="342900" y="1600200"/>
            <a:ext cx="6583680"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Assigns priority values to processes. Higher priority processes are executed first.</a:t>
            </a:r>
            <a:endParaRPr lang="en-US" sz="1050" dirty="0"/>
          </a:p>
        </p:txBody>
      </p:sp>
      <p:sp>
        <p:nvSpPr>
          <p:cNvPr id="57" name="Text 4"/>
          <p:cNvSpPr/>
          <p:nvPr/>
        </p:nvSpPr>
        <p:spPr>
          <a:xfrm>
            <a:off x="342900" y="1905000"/>
            <a:ext cx="54864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PROCESS EXECUTION</a:t>
            </a:r>
            <a:endParaRPr lang="en-US" sz="900" dirty="0"/>
          </a:p>
        </p:txBody>
      </p:sp>
      <p:sp>
        <p:nvSpPr>
          <p:cNvPr id="58" name="Text 5"/>
          <p:cNvSpPr/>
          <p:nvPr/>
        </p:nvSpPr>
        <p:spPr>
          <a:xfrm>
            <a:off x="438150" y="2190750"/>
            <a:ext cx="11430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P1 (High)</a:t>
            </a:r>
            <a:endParaRPr lang="en-US" sz="1200" dirty="0"/>
          </a:p>
        </p:txBody>
      </p:sp>
      <p:sp>
        <p:nvSpPr>
          <p:cNvPr id="59" name="Text 6"/>
          <p:cNvSpPr/>
          <p:nvPr/>
        </p:nvSpPr>
        <p:spPr>
          <a:xfrm>
            <a:off x="1485900" y="2190750"/>
            <a:ext cx="17145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P2 (Medium)</a:t>
            </a:r>
            <a:endParaRPr lang="en-US" sz="1200" dirty="0"/>
          </a:p>
        </p:txBody>
      </p:sp>
      <p:sp>
        <p:nvSpPr>
          <p:cNvPr id="60" name="Text 7"/>
          <p:cNvSpPr/>
          <p:nvPr/>
        </p:nvSpPr>
        <p:spPr>
          <a:xfrm>
            <a:off x="3009900" y="2190750"/>
            <a:ext cx="1905000" cy="285750"/>
          </a:xfrm>
          <a:prstGeom prst="rect">
            <a:avLst/>
          </a:prstGeom>
          <a:noFill/>
          <a:ln/>
        </p:spPr>
        <p:txBody>
          <a:bodyPr wrap="square" lIns="0" tIns="0" rIns="0" bIns="0" rtlCol="0" anchor="t"/>
          <a:lstStyle/>
          <a:p>
            <a:pPr marL="0" indent="0">
              <a:lnSpc>
                <a:spcPts val="1800"/>
              </a:lnSpc>
              <a:buNone/>
            </a:pPr>
            <a:r>
              <a:rPr lang="en-US" sz="1200" b="1" dirty="0">
                <a:solidFill>
                  <a:srgbClr val="374151"/>
                </a:solidFill>
                <a:latin typeface="Arial" pitchFamily="34" charset="0"/>
                <a:ea typeface="Arial" pitchFamily="34" charset="-122"/>
                <a:cs typeface="Arial" pitchFamily="34" charset="-120"/>
              </a:rPr>
              <a:t>P3 (Low)</a:t>
            </a:r>
            <a:endParaRPr lang="en-US" sz="1200" dirty="0"/>
          </a:p>
        </p:txBody>
      </p:sp>
      <p:sp>
        <p:nvSpPr>
          <p:cNvPr id="61" name="Text 8"/>
          <p:cNvSpPr/>
          <p:nvPr/>
        </p:nvSpPr>
        <p:spPr>
          <a:xfrm>
            <a:off x="342900" y="2905125"/>
            <a:ext cx="6357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0</a:t>
            </a:r>
            <a:endParaRPr lang="en-US" sz="750" dirty="0"/>
          </a:p>
        </p:txBody>
      </p:sp>
      <p:sp>
        <p:nvSpPr>
          <p:cNvPr id="62" name="Text 9"/>
          <p:cNvSpPr/>
          <p:nvPr/>
        </p:nvSpPr>
        <p:spPr>
          <a:xfrm>
            <a:off x="1295400" y="2905125"/>
            <a:ext cx="12715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10</a:t>
            </a:r>
            <a:endParaRPr lang="en-US" sz="750" dirty="0"/>
          </a:p>
        </p:txBody>
      </p:sp>
      <p:sp>
        <p:nvSpPr>
          <p:cNvPr id="63" name="Text 10"/>
          <p:cNvSpPr/>
          <p:nvPr/>
        </p:nvSpPr>
        <p:spPr>
          <a:xfrm>
            <a:off x="2914650" y="2905125"/>
            <a:ext cx="12715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27</a:t>
            </a:r>
            <a:endParaRPr lang="en-US" sz="750" dirty="0"/>
          </a:p>
        </p:txBody>
      </p:sp>
      <p:sp>
        <p:nvSpPr>
          <p:cNvPr id="64" name="Text 11"/>
          <p:cNvSpPr/>
          <p:nvPr/>
        </p:nvSpPr>
        <p:spPr>
          <a:xfrm>
            <a:off x="5723334" y="2905125"/>
            <a:ext cx="12715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48</a:t>
            </a:r>
            <a:endParaRPr lang="en-US" sz="750" dirty="0"/>
          </a:p>
        </p:txBody>
      </p:sp>
      <p:sp>
        <p:nvSpPr>
          <p:cNvPr id="65" name="Text 12"/>
          <p:cNvSpPr/>
          <p:nvPr/>
        </p:nvSpPr>
        <p:spPr>
          <a:xfrm>
            <a:off x="342900" y="3200400"/>
            <a:ext cx="54864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VARIANTS</a:t>
            </a:r>
            <a:endParaRPr lang="en-US" sz="900" dirty="0"/>
          </a:p>
        </p:txBody>
      </p:sp>
      <p:sp>
        <p:nvSpPr>
          <p:cNvPr id="66" name="Text 13"/>
          <p:cNvSpPr/>
          <p:nvPr/>
        </p:nvSpPr>
        <p:spPr>
          <a:xfrm>
            <a:off x="419100" y="3467100"/>
            <a:ext cx="2552700" cy="190500"/>
          </a:xfrm>
          <a:prstGeom prst="rect">
            <a:avLst/>
          </a:prstGeom>
          <a:noFill/>
          <a:ln/>
        </p:spPr>
        <p:txBody>
          <a:bodyPr wrap="square" lIns="0" tIns="0" rIns="0" bIns="0" rtlCol="0" anchor="t"/>
          <a:lstStyle/>
          <a:p>
            <a:pPr marL="0" indent="0">
              <a:lnSpc>
                <a:spcPts val="1500"/>
              </a:lnSpc>
              <a:buNone/>
            </a:pPr>
            <a:r>
              <a:rPr lang="en-US" sz="1050" b="1" dirty="0">
                <a:solidFill>
                  <a:srgbClr val="EA580C"/>
                </a:solidFill>
                <a:latin typeface="Arial" pitchFamily="34" charset="0"/>
                <a:ea typeface="Arial" pitchFamily="34" charset="-122"/>
                <a:cs typeface="Arial" pitchFamily="34" charset="-120"/>
              </a:rPr>
              <a:t>Non-Preemptive</a:t>
            </a:r>
            <a:endParaRPr lang="en-US" sz="1050" dirty="0"/>
          </a:p>
        </p:txBody>
      </p:sp>
      <p:sp>
        <p:nvSpPr>
          <p:cNvPr id="67" name="Text 14"/>
          <p:cNvSpPr/>
          <p:nvPr/>
        </p:nvSpPr>
        <p:spPr>
          <a:xfrm>
            <a:off x="419100" y="3657600"/>
            <a:ext cx="306324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Process runs until completion</a:t>
            </a:r>
            <a:endParaRPr lang="en-US" sz="900" dirty="0"/>
          </a:p>
        </p:txBody>
      </p:sp>
      <p:sp>
        <p:nvSpPr>
          <p:cNvPr id="68" name="Text 15"/>
          <p:cNvSpPr/>
          <p:nvPr/>
        </p:nvSpPr>
        <p:spPr>
          <a:xfrm>
            <a:off x="3200400" y="3467100"/>
            <a:ext cx="2552700" cy="190500"/>
          </a:xfrm>
          <a:prstGeom prst="rect">
            <a:avLst/>
          </a:prstGeom>
          <a:noFill/>
          <a:ln/>
        </p:spPr>
        <p:txBody>
          <a:bodyPr wrap="square" lIns="0" tIns="0" rIns="0" bIns="0" rtlCol="0" anchor="t"/>
          <a:lstStyle/>
          <a:p>
            <a:pPr marL="0" indent="0">
              <a:lnSpc>
                <a:spcPts val="1500"/>
              </a:lnSpc>
              <a:buNone/>
            </a:pPr>
            <a:r>
              <a:rPr lang="en-US" sz="1050" b="1" dirty="0">
                <a:solidFill>
                  <a:srgbClr val="EA580C"/>
                </a:solidFill>
                <a:latin typeface="Arial" pitchFamily="34" charset="0"/>
                <a:ea typeface="Arial" pitchFamily="34" charset="-122"/>
                <a:cs typeface="Arial" pitchFamily="34" charset="-120"/>
              </a:rPr>
              <a:t>Preemptive</a:t>
            </a:r>
            <a:endParaRPr lang="en-US" sz="1050" dirty="0"/>
          </a:p>
        </p:txBody>
      </p:sp>
      <p:sp>
        <p:nvSpPr>
          <p:cNvPr id="69" name="Text 16"/>
          <p:cNvSpPr/>
          <p:nvPr/>
        </p:nvSpPr>
        <p:spPr>
          <a:xfrm>
            <a:off x="3200400" y="3657600"/>
            <a:ext cx="306324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New higher priority process can interrupt</a:t>
            </a:r>
            <a:endParaRPr lang="en-US" sz="900" dirty="0"/>
          </a:p>
        </p:txBody>
      </p:sp>
      <p:sp>
        <p:nvSpPr>
          <p:cNvPr id="70" name="Text 17"/>
          <p:cNvSpPr/>
          <p:nvPr/>
        </p:nvSpPr>
        <p:spPr>
          <a:xfrm>
            <a:off x="342900" y="4038600"/>
            <a:ext cx="27051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ADVANTAGES</a:t>
            </a:r>
            <a:endParaRPr lang="en-US" sz="900" dirty="0"/>
          </a:p>
        </p:txBody>
      </p:sp>
      <p:sp>
        <p:nvSpPr>
          <p:cNvPr id="71" name="Text 18"/>
          <p:cNvSpPr/>
          <p:nvPr/>
        </p:nvSpPr>
        <p:spPr>
          <a:xfrm>
            <a:off x="304800" y="4229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Higher priority tasks complete first</a:t>
            </a:r>
            <a:endParaRPr lang="en-US" sz="900" dirty="0"/>
          </a:p>
        </p:txBody>
      </p:sp>
      <p:sp>
        <p:nvSpPr>
          <p:cNvPr id="72" name="Text 19"/>
          <p:cNvSpPr/>
          <p:nvPr/>
        </p:nvSpPr>
        <p:spPr>
          <a:xfrm>
            <a:off x="304800" y="44196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Good for real-time systems</a:t>
            </a:r>
            <a:endParaRPr lang="en-US" sz="900" dirty="0"/>
          </a:p>
        </p:txBody>
      </p:sp>
      <p:sp>
        <p:nvSpPr>
          <p:cNvPr id="73" name="Text 20"/>
          <p:cNvSpPr/>
          <p:nvPr/>
        </p:nvSpPr>
        <p:spPr>
          <a:xfrm>
            <a:off x="304800" y="4610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Prioritizes critical processes</a:t>
            </a:r>
            <a:endParaRPr lang="en-US" sz="900" dirty="0"/>
          </a:p>
        </p:txBody>
      </p:sp>
      <p:sp>
        <p:nvSpPr>
          <p:cNvPr id="74" name="Text 21"/>
          <p:cNvSpPr/>
          <p:nvPr/>
        </p:nvSpPr>
        <p:spPr>
          <a:xfrm>
            <a:off x="3124200" y="4038600"/>
            <a:ext cx="27051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DISADVANTAGES</a:t>
            </a:r>
            <a:endParaRPr lang="en-US" sz="900" dirty="0"/>
          </a:p>
        </p:txBody>
      </p:sp>
      <p:sp>
        <p:nvSpPr>
          <p:cNvPr id="75" name="Text 22"/>
          <p:cNvSpPr/>
          <p:nvPr/>
        </p:nvSpPr>
        <p:spPr>
          <a:xfrm>
            <a:off x="3086100" y="4229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Starvation of lower priority processes</a:t>
            </a:r>
            <a:endParaRPr lang="en-US" sz="900" dirty="0"/>
          </a:p>
        </p:txBody>
      </p:sp>
      <p:sp>
        <p:nvSpPr>
          <p:cNvPr id="76" name="Text 23"/>
          <p:cNvSpPr/>
          <p:nvPr/>
        </p:nvSpPr>
        <p:spPr>
          <a:xfrm>
            <a:off x="3086100" y="44196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Priority inversion problem</a:t>
            </a:r>
            <a:endParaRPr lang="en-US" sz="900" dirty="0"/>
          </a:p>
        </p:txBody>
      </p:sp>
      <p:sp>
        <p:nvSpPr>
          <p:cNvPr id="77" name="Text 24"/>
          <p:cNvSpPr/>
          <p:nvPr/>
        </p:nvSpPr>
        <p:spPr>
          <a:xfrm>
            <a:off x="3086100" y="4610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Requires priority management overhead</a:t>
            </a:r>
            <a:endParaRPr lang="en-US" sz="900" dirty="0"/>
          </a:p>
        </p:txBody>
      </p:sp>
      <p:sp>
        <p:nvSpPr>
          <p:cNvPr id="78" name="Text 25"/>
          <p:cNvSpPr/>
          <p:nvPr/>
        </p:nvSpPr>
        <p:spPr>
          <a:xfrm>
            <a:off x="457200" y="5029200"/>
            <a:ext cx="6309360" cy="190500"/>
          </a:xfrm>
          <a:prstGeom prst="rect">
            <a:avLst/>
          </a:prstGeom>
          <a:noFill/>
          <a:ln/>
        </p:spPr>
        <p:txBody>
          <a:bodyPr wrap="square" lIns="0" tIns="0" rIns="0" bIns="0" rtlCol="0" anchor="t"/>
          <a:lstStyle/>
          <a:p>
            <a:pPr marL="0" indent="0">
              <a:lnSpc>
                <a:spcPts val="1500"/>
              </a:lnSpc>
              <a:buNone/>
            </a:pPr>
            <a:r>
              <a:rPr lang="en-US" sz="1050" b="1" dirty="0">
                <a:solidFill>
                  <a:srgbClr val="C2410C"/>
                </a:solidFill>
                <a:latin typeface="Arial" pitchFamily="34" charset="0"/>
                <a:ea typeface="Arial" pitchFamily="34" charset="-122"/>
                <a:cs typeface="Arial" pitchFamily="34" charset="-120"/>
              </a:rPr>
              <a:t>Implementation Challenge: Priority Inversion</a:t>
            </a:r>
            <a:endParaRPr lang="en-US" sz="1050" dirty="0"/>
          </a:p>
        </p:txBody>
      </p:sp>
      <p:sp>
        <p:nvSpPr>
          <p:cNvPr id="79" name="Text 26"/>
          <p:cNvSpPr/>
          <p:nvPr/>
        </p:nvSpPr>
        <p:spPr>
          <a:xfrm>
            <a:off x="457200" y="5257800"/>
            <a:ext cx="5257800" cy="3048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Occurs when a low-priority process holds a resource needed by a high-priority process, effectively "inverting" the intended priority scheme.</a:t>
            </a:r>
            <a:endParaRPr lang="en-US" sz="900" dirty="0"/>
          </a:p>
        </p:txBody>
      </p:sp>
      <p:sp>
        <p:nvSpPr>
          <p:cNvPr id="80" name="Text 27"/>
          <p:cNvSpPr/>
          <p:nvPr/>
        </p:nvSpPr>
        <p:spPr>
          <a:xfrm>
            <a:off x="457200" y="5600700"/>
            <a:ext cx="630936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Solution: </a:t>
            </a:r>
            <a:r>
              <a:rPr lang="en-US" sz="900" b="1" dirty="0">
                <a:solidFill>
                  <a:srgbClr val="333333"/>
                </a:solidFill>
                <a:latin typeface="Arial" pitchFamily="34" charset="0"/>
                <a:ea typeface="Arial" pitchFamily="34" charset="-122"/>
                <a:cs typeface="Arial" pitchFamily="34" charset="-120"/>
              </a:rPr>
              <a:t>Priority inheritance</a:t>
            </a:r>
            <a:r>
              <a:rPr lang="en-US" sz="900" dirty="0">
                <a:solidFill>
                  <a:srgbClr val="333333"/>
                </a:solidFill>
                <a:latin typeface="Arial" pitchFamily="34" charset="0"/>
                <a:ea typeface="Arial" pitchFamily="34" charset="-122"/>
                <a:cs typeface="Arial" pitchFamily="34" charset="-120"/>
              </a:rPr>
              <a:t> - temporarily boost the priority of the resource-holding process.</a:t>
            </a:r>
            <a:endParaRPr lang="en-US" sz="900" dirty="0"/>
          </a:p>
        </p:txBody>
      </p:sp>
      <p:sp>
        <p:nvSpPr>
          <p:cNvPr id="81" name="Text 28"/>
          <p:cNvSpPr/>
          <p:nvPr/>
        </p:nvSpPr>
        <p:spPr>
          <a:xfrm>
            <a:off x="6896100" y="981075"/>
            <a:ext cx="2730163" cy="266700"/>
          </a:xfrm>
          <a:prstGeom prst="rect">
            <a:avLst/>
          </a:prstGeom>
          <a:noFill/>
          <a:ln/>
        </p:spPr>
        <p:txBody>
          <a:bodyPr wrap="square" lIns="0" tIns="0" rIns="0" bIns="0" rtlCol="0" anchor="t"/>
          <a:lstStyle/>
          <a:p>
            <a:pPr marL="0" indent="0">
              <a:lnSpc>
                <a:spcPts val="2100"/>
              </a:lnSpc>
              <a:buNone/>
            </a:pPr>
            <a:r>
              <a:rPr lang="en-US" sz="1500" b="1" dirty="0">
                <a:solidFill>
                  <a:srgbClr val="FFFFFF"/>
                </a:solidFill>
                <a:latin typeface="Arial" pitchFamily="34" charset="0"/>
                <a:ea typeface="Arial" pitchFamily="34" charset="-122"/>
                <a:cs typeface="Arial" pitchFamily="34" charset="-120"/>
              </a:rPr>
              <a:t>Round Robin Scheduling</a:t>
            </a:r>
            <a:endParaRPr lang="en-US" sz="1500" dirty="0"/>
          </a:p>
        </p:txBody>
      </p:sp>
      <p:sp>
        <p:nvSpPr>
          <p:cNvPr id="82" name="Text 29"/>
          <p:cNvSpPr/>
          <p:nvPr/>
        </p:nvSpPr>
        <p:spPr>
          <a:xfrm>
            <a:off x="6362700" y="1600200"/>
            <a:ext cx="548640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Time-sliced approach where each process gets a small unit of CPU time (quantum), then returns to the ready queue.</a:t>
            </a:r>
            <a:endParaRPr lang="en-US" sz="1050" dirty="0"/>
          </a:p>
        </p:txBody>
      </p:sp>
      <p:sp>
        <p:nvSpPr>
          <p:cNvPr id="83" name="Text 30"/>
          <p:cNvSpPr/>
          <p:nvPr/>
        </p:nvSpPr>
        <p:spPr>
          <a:xfrm>
            <a:off x="6362700" y="2095500"/>
            <a:ext cx="54864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PROCESS EXECUTION (TIME QUANTUM = 4)</a:t>
            </a:r>
            <a:endParaRPr lang="en-US" sz="900" dirty="0"/>
          </a:p>
        </p:txBody>
      </p:sp>
      <p:sp>
        <p:nvSpPr>
          <p:cNvPr id="84" name="Text 31"/>
          <p:cNvSpPr/>
          <p:nvPr/>
        </p:nvSpPr>
        <p:spPr>
          <a:xfrm>
            <a:off x="6457950" y="2381250"/>
            <a:ext cx="4572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P1</a:t>
            </a:r>
            <a:endParaRPr lang="en-US" sz="1200" dirty="0"/>
          </a:p>
        </p:txBody>
      </p:sp>
      <p:sp>
        <p:nvSpPr>
          <p:cNvPr id="85" name="Text 32"/>
          <p:cNvSpPr/>
          <p:nvPr/>
        </p:nvSpPr>
        <p:spPr>
          <a:xfrm>
            <a:off x="6934200" y="2381250"/>
            <a:ext cx="4572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P2</a:t>
            </a:r>
            <a:endParaRPr lang="en-US" sz="1200" dirty="0"/>
          </a:p>
        </p:txBody>
      </p:sp>
      <p:sp>
        <p:nvSpPr>
          <p:cNvPr id="86" name="Text 33"/>
          <p:cNvSpPr/>
          <p:nvPr/>
        </p:nvSpPr>
        <p:spPr>
          <a:xfrm>
            <a:off x="7410450" y="2381250"/>
            <a:ext cx="4572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P3</a:t>
            </a:r>
            <a:endParaRPr lang="en-US" sz="1200" dirty="0"/>
          </a:p>
        </p:txBody>
      </p:sp>
      <p:sp>
        <p:nvSpPr>
          <p:cNvPr id="87" name="Text 34"/>
          <p:cNvSpPr/>
          <p:nvPr/>
        </p:nvSpPr>
        <p:spPr>
          <a:xfrm>
            <a:off x="7886700" y="2381250"/>
            <a:ext cx="4572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P1</a:t>
            </a:r>
            <a:endParaRPr lang="en-US" sz="1200" dirty="0"/>
          </a:p>
        </p:txBody>
      </p:sp>
      <p:sp>
        <p:nvSpPr>
          <p:cNvPr id="88" name="Text 35"/>
          <p:cNvSpPr/>
          <p:nvPr/>
        </p:nvSpPr>
        <p:spPr>
          <a:xfrm>
            <a:off x="8362950" y="2381250"/>
            <a:ext cx="4572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P2</a:t>
            </a:r>
            <a:endParaRPr lang="en-US" sz="1200" dirty="0"/>
          </a:p>
        </p:txBody>
      </p:sp>
      <p:sp>
        <p:nvSpPr>
          <p:cNvPr id="89" name="Text 36"/>
          <p:cNvSpPr/>
          <p:nvPr/>
        </p:nvSpPr>
        <p:spPr>
          <a:xfrm>
            <a:off x="8839200" y="2381250"/>
            <a:ext cx="4572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P1</a:t>
            </a:r>
            <a:endParaRPr lang="en-US" sz="1200" dirty="0"/>
          </a:p>
        </p:txBody>
      </p:sp>
      <p:sp>
        <p:nvSpPr>
          <p:cNvPr id="90" name="Text 37"/>
          <p:cNvSpPr/>
          <p:nvPr/>
        </p:nvSpPr>
        <p:spPr>
          <a:xfrm>
            <a:off x="9315450" y="2381250"/>
            <a:ext cx="4572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P3</a:t>
            </a:r>
            <a:endParaRPr lang="en-US" sz="1200" dirty="0"/>
          </a:p>
        </p:txBody>
      </p:sp>
      <p:sp>
        <p:nvSpPr>
          <p:cNvPr id="91" name="Text 38"/>
          <p:cNvSpPr/>
          <p:nvPr/>
        </p:nvSpPr>
        <p:spPr>
          <a:xfrm>
            <a:off x="9791700" y="2381250"/>
            <a:ext cx="2286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P1</a:t>
            </a:r>
            <a:endParaRPr lang="en-US" sz="1200" dirty="0"/>
          </a:p>
        </p:txBody>
      </p:sp>
      <p:sp>
        <p:nvSpPr>
          <p:cNvPr id="92" name="Text 39"/>
          <p:cNvSpPr/>
          <p:nvPr/>
        </p:nvSpPr>
        <p:spPr>
          <a:xfrm>
            <a:off x="6362700" y="3095625"/>
            <a:ext cx="6357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0</a:t>
            </a:r>
            <a:endParaRPr lang="en-US" sz="750" dirty="0"/>
          </a:p>
        </p:txBody>
      </p:sp>
      <p:sp>
        <p:nvSpPr>
          <p:cNvPr id="93" name="Text 40"/>
          <p:cNvSpPr/>
          <p:nvPr/>
        </p:nvSpPr>
        <p:spPr>
          <a:xfrm>
            <a:off x="6838950" y="3095625"/>
            <a:ext cx="6357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4</a:t>
            </a:r>
            <a:endParaRPr lang="en-US" sz="750" dirty="0"/>
          </a:p>
        </p:txBody>
      </p:sp>
      <p:sp>
        <p:nvSpPr>
          <p:cNvPr id="94" name="Text 41"/>
          <p:cNvSpPr/>
          <p:nvPr/>
        </p:nvSpPr>
        <p:spPr>
          <a:xfrm>
            <a:off x="7315200" y="3095625"/>
            <a:ext cx="6357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8</a:t>
            </a:r>
            <a:endParaRPr lang="en-US" sz="750" dirty="0"/>
          </a:p>
        </p:txBody>
      </p:sp>
      <p:sp>
        <p:nvSpPr>
          <p:cNvPr id="95" name="Text 42"/>
          <p:cNvSpPr/>
          <p:nvPr/>
        </p:nvSpPr>
        <p:spPr>
          <a:xfrm>
            <a:off x="7791450" y="3095625"/>
            <a:ext cx="12715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12</a:t>
            </a:r>
            <a:endParaRPr lang="en-US" sz="750" dirty="0"/>
          </a:p>
        </p:txBody>
      </p:sp>
      <p:sp>
        <p:nvSpPr>
          <p:cNvPr id="96" name="Text 43"/>
          <p:cNvSpPr/>
          <p:nvPr/>
        </p:nvSpPr>
        <p:spPr>
          <a:xfrm>
            <a:off x="11743134" y="3095625"/>
            <a:ext cx="127159" cy="142875"/>
          </a:xfrm>
          <a:prstGeom prst="rect">
            <a:avLst/>
          </a:prstGeom>
          <a:noFill/>
          <a:ln/>
        </p:spPr>
        <p:txBody>
          <a:bodyPr wrap="square" lIns="0" tIns="0" rIns="0" bIns="0" rtlCol="0" anchor="t"/>
          <a:lstStyle/>
          <a:p>
            <a:pPr marL="0" indent="0">
              <a:lnSpc>
                <a:spcPts val="1125"/>
              </a:lnSpc>
              <a:buNone/>
            </a:pPr>
            <a:r>
              <a:rPr lang="en-US" sz="750" dirty="0">
                <a:solidFill>
                  <a:srgbClr val="6B7280"/>
                </a:solidFill>
                <a:latin typeface="Arial" pitchFamily="34" charset="0"/>
                <a:ea typeface="Arial" pitchFamily="34" charset="-122"/>
                <a:cs typeface="Arial" pitchFamily="34" charset="-120"/>
              </a:rPr>
              <a:t>40</a:t>
            </a:r>
            <a:endParaRPr lang="en-US" sz="750" dirty="0"/>
          </a:p>
        </p:txBody>
      </p:sp>
      <p:sp>
        <p:nvSpPr>
          <p:cNvPr id="97" name="Text 44"/>
          <p:cNvSpPr/>
          <p:nvPr/>
        </p:nvSpPr>
        <p:spPr>
          <a:xfrm>
            <a:off x="6362700" y="3390900"/>
            <a:ext cx="54864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KEY CONCEPT</a:t>
            </a:r>
            <a:endParaRPr lang="en-US" sz="900" dirty="0"/>
          </a:p>
        </p:txBody>
      </p:sp>
      <p:sp>
        <p:nvSpPr>
          <p:cNvPr id="98" name="Text 45"/>
          <p:cNvSpPr/>
          <p:nvPr/>
        </p:nvSpPr>
        <p:spPr>
          <a:xfrm>
            <a:off x="6705600" y="3695700"/>
            <a:ext cx="1873270"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Time Quantum Selection</a:t>
            </a:r>
            <a:endParaRPr lang="en-US" sz="1050" dirty="0"/>
          </a:p>
        </p:txBody>
      </p:sp>
      <p:sp>
        <p:nvSpPr>
          <p:cNvPr id="99" name="Text 46"/>
          <p:cNvSpPr/>
          <p:nvPr/>
        </p:nvSpPr>
        <p:spPr>
          <a:xfrm>
            <a:off x="6515100" y="3924300"/>
            <a:ext cx="3108960" cy="228600"/>
          </a:xfrm>
          <a:prstGeom prst="rect">
            <a:avLst/>
          </a:prstGeom>
          <a:noFill/>
          <a:ln/>
        </p:spPr>
        <p:txBody>
          <a:bodyPr wrap="square" lIns="0" tIns="0" rIns="0" bIns="0" rtlCol="0" anchor="t"/>
          <a:lstStyle/>
          <a:p>
            <a:pPr marL="0" indent="0">
              <a:lnSpc>
                <a:spcPts val="1200"/>
              </a:lnSpc>
              <a:buNone/>
            </a:pPr>
            <a:r>
              <a:rPr lang="en-US" sz="900" b="1" dirty="0">
                <a:solidFill>
                  <a:srgbClr val="333333"/>
                </a:solidFill>
                <a:latin typeface="Arial" pitchFamily="34" charset="0"/>
                <a:ea typeface="Arial" pitchFamily="34" charset="-122"/>
                <a:cs typeface="Arial" pitchFamily="34" charset="-120"/>
              </a:rPr>
              <a:t>Too small:</a:t>
            </a:r>
            <a:r>
              <a:rPr lang="en-US" sz="900" dirty="0">
                <a:solidFill>
                  <a:srgbClr val="333333"/>
                </a:solidFill>
                <a:latin typeface="Arial" pitchFamily="34" charset="0"/>
                <a:ea typeface="Arial" pitchFamily="34" charset="-122"/>
                <a:cs typeface="Arial" pitchFamily="34" charset="-120"/>
              </a:rPr>
              <a:t> Excessive context switching</a:t>
            </a:r>
            <a:endParaRPr lang="en-US" sz="900" dirty="0"/>
          </a:p>
        </p:txBody>
      </p:sp>
      <p:sp>
        <p:nvSpPr>
          <p:cNvPr id="100" name="Text 47"/>
          <p:cNvSpPr/>
          <p:nvPr/>
        </p:nvSpPr>
        <p:spPr>
          <a:xfrm>
            <a:off x="9182100" y="3924300"/>
            <a:ext cx="3108960" cy="228600"/>
          </a:xfrm>
          <a:prstGeom prst="rect">
            <a:avLst/>
          </a:prstGeom>
          <a:noFill/>
          <a:ln/>
        </p:spPr>
        <p:txBody>
          <a:bodyPr wrap="square" lIns="0" tIns="0" rIns="0" bIns="0" rtlCol="0" anchor="t"/>
          <a:lstStyle/>
          <a:p>
            <a:pPr marL="0" indent="0">
              <a:lnSpc>
                <a:spcPts val="1200"/>
              </a:lnSpc>
              <a:buNone/>
            </a:pPr>
            <a:r>
              <a:rPr lang="en-US" sz="900" b="1" dirty="0">
                <a:solidFill>
                  <a:srgbClr val="333333"/>
                </a:solidFill>
                <a:latin typeface="Arial" pitchFamily="34" charset="0"/>
                <a:ea typeface="Arial" pitchFamily="34" charset="-122"/>
                <a:cs typeface="Arial" pitchFamily="34" charset="-120"/>
              </a:rPr>
              <a:t>Too large:</a:t>
            </a:r>
            <a:r>
              <a:rPr lang="en-US" sz="900" dirty="0">
                <a:solidFill>
                  <a:srgbClr val="333333"/>
                </a:solidFill>
                <a:latin typeface="Arial" pitchFamily="34" charset="0"/>
                <a:ea typeface="Arial" pitchFamily="34" charset="-122"/>
                <a:cs typeface="Arial" pitchFamily="34" charset="-120"/>
              </a:rPr>
              <a:t> Resembles FCFS</a:t>
            </a:r>
            <a:endParaRPr lang="en-US" sz="900" dirty="0"/>
          </a:p>
        </p:txBody>
      </p:sp>
      <p:sp>
        <p:nvSpPr>
          <p:cNvPr id="101" name="Text 48"/>
          <p:cNvSpPr/>
          <p:nvPr/>
        </p:nvSpPr>
        <p:spPr>
          <a:xfrm>
            <a:off x="6362700" y="4419600"/>
            <a:ext cx="27051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ADVANTAGES</a:t>
            </a:r>
            <a:endParaRPr lang="en-US" sz="900" dirty="0"/>
          </a:p>
        </p:txBody>
      </p:sp>
      <p:sp>
        <p:nvSpPr>
          <p:cNvPr id="102" name="Text 49"/>
          <p:cNvSpPr/>
          <p:nvPr/>
        </p:nvSpPr>
        <p:spPr>
          <a:xfrm>
            <a:off x="6324600" y="4610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Fair allocation of CPU</a:t>
            </a:r>
            <a:endParaRPr lang="en-US" sz="900" dirty="0"/>
          </a:p>
        </p:txBody>
      </p:sp>
      <p:sp>
        <p:nvSpPr>
          <p:cNvPr id="103" name="Text 50"/>
          <p:cNvSpPr/>
          <p:nvPr/>
        </p:nvSpPr>
        <p:spPr>
          <a:xfrm>
            <a:off x="6324600" y="48006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No process starvation</a:t>
            </a:r>
            <a:endParaRPr lang="en-US" sz="900" dirty="0"/>
          </a:p>
        </p:txBody>
      </p:sp>
      <p:sp>
        <p:nvSpPr>
          <p:cNvPr id="104" name="Text 51"/>
          <p:cNvSpPr/>
          <p:nvPr/>
        </p:nvSpPr>
        <p:spPr>
          <a:xfrm>
            <a:off x="6324600" y="4991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Good for time-sharing systems</a:t>
            </a:r>
            <a:endParaRPr lang="en-US" sz="900" dirty="0"/>
          </a:p>
        </p:txBody>
      </p:sp>
      <p:sp>
        <p:nvSpPr>
          <p:cNvPr id="105" name="Text 52"/>
          <p:cNvSpPr/>
          <p:nvPr/>
        </p:nvSpPr>
        <p:spPr>
          <a:xfrm>
            <a:off x="6324600" y="51816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Better response time</a:t>
            </a:r>
            <a:endParaRPr lang="en-US" sz="900" dirty="0"/>
          </a:p>
        </p:txBody>
      </p:sp>
      <p:sp>
        <p:nvSpPr>
          <p:cNvPr id="106" name="Text 53"/>
          <p:cNvSpPr/>
          <p:nvPr/>
        </p:nvSpPr>
        <p:spPr>
          <a:xfrm>
            <a:off x="9144000" y="4419600"/>
            <a:ext cx="2705100" cy="152400"/>
          </a:xfrm>
          <a:prstGeom prst="rect">
            <a:avLst/>
          </a:prstGeom>
          <a:noFill/>
          <a:ln/>
        </p:spPr>
        <p:txBody>
          <a:bodyPr wrap="square" lIns="0" tIns="0" rIns="0" bIns="0" rtlCol="0" anchor="t"/>
          <a:lstStyle/>
          <a:p>
            <a:pPr marL="0" indent="0">
              <a:lnSpc>
                <a:spcPts val="1200"/>
              </a:lnSpc>
              <a:buNone/>
            </a:pPr>
            <a:r>
              <a:rPr lang="en-US" sz="900" b="1" dirty="0">
                <a:solidFill>
                  <a:srgbClr val="6B7280"/>
                </a:solidFill>
                <a:latin typeface="Arial" pitchFamily="34" charset="0"/>
                <a:ea typeface="Arial" pitchFamily="34" charset="-122"/>
                <a:cs typeface="Arial" pitchFamily="34" charset="-120"/>
              </a:rPr>
              <a:t>DISADVANTAGES</a:t>
            </a:r>
            <a:endParaRPr lang="en-US" sz="900" dirty="0"/>
          </a:p>
        </p:txBody>
      </p:sp>
      <p:sp>
        <p:nvSpPr>
          <p:cNvPr id="107" name="Text 54"/>
          <p:cNvSpPr/>
          <p:nvPr/>
        </p:nvSpPr>
        <p:spPr>
          <a:xfrm>
            <a:off x="9105900" y="4610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Context switching overhead</a:t>
            </a:r>
            <a:endParaRPr lang="en-US" sz="900" dirty="0"/>
          </a:p>
        </p:txBody>
      </p:sp>
      <p:sp>
        <p:nvSpPr>
          <p:cNvPr id="108" name="Text 55"/>
          <p:cNvSpPr/>
          <p:nvPr/>
        </p:nvSpPr>
        <p:spPr>
          <a:xfrm>
            <a:off x="9105900" y="48006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Quantum selection challenges</a:t>
            </a:r>
            <a:endParaRPr lang="en-US" sz="900" dirty="0"/>
          </a:p>
        </p:txBody>
      </p:sp>
      <p:sp>
        <p:nvSpPr>
          <p:cNvPr id="109" name="Text 56"/>
          <p:cNvSpPr/>
          <p:nvPr/>
        </p:nvSpPr>
        <p:spPr>
          <a:xfrm>
            <a:off x="9105900" y="4991100"/>
            <a:ext cx="3291840" cy="152400"/>
          </a:xfrm>
          <a:prstGeom prst="rect">
            <a:avLst/>
          </a:prstGeom>
          <a:noFill/>
          <a:ln/>
        </p:spPr>
        <p:txBody>
          <a:bodyPr wrap="square" lIns="0" tIns="0" rIns="0" bIns="0" rtlCol="0" anchor="t"/>
          <a:lstStyle/>
          <a:p>
            <a:pPr marL="342900" indent="-342900" algn="l">
              <a:lnSpc>
                <a:spcPts val="1200"/>
              </a:lnSpc>
              <a:buSzPct val="100000"/>
              <a:buChar char="•"/>
            </a:pPr>
            <a:r>
              <a:rPr lang="en-US" sz="900" dirty="0">
                <a:solidFill>
                  <a:srgbClr val="333333"/>
                </a:solidFill>
                <a:latin typeface="Arial" pitchFamily="34" charset="0"/>
                <a:ea typeface="Arial" pitchFamily="34" charset="-122"/>
                <a:cs typeface="Arial" pitchFamily="34" charset="-120"/>
              </a:rPr>
              <a:t>Higher average waiting time than SJF</a:t>
            </a:r>
            <a:endParaRPr lang="en-US" sz="900" dirty="0"/>
          </a:p>
        </p:txBody>
      </p:sp>
      <p:sp>
        <p:nvSpPr>
          <p:cNvPr id="112" name="Text 59"/>
          <p:cNvSpPr/>
          <p:nvPr/>
        </p:nvSpPr>
        <p:spPr>
          <a:xfrm>
            <a:off x="6553200" y="6057900"/>
            <a:ext cx="5105400" cy="152400"/>
          </a:xfrm>
          <a:prstGeom prst="rect">
            <a:avLst/>
          </a:prstGeom>
          <a:noFill/>
          <a:ln/>
        </p:spPr>
        <p:txBody>
          <a:bodyPr wrap="square" lIns="0" tIns="0" rIns="0" bIns="0" rtlCol="0" anchor="t"/>
          <a:lstStyle/>
          <a:p>
            <a:pPr marL="0" indent="0">
              <a:lnSpc>
                <a:spcPts val="1200"/>
              </a:lnSpc>
              <a:buNone/>
            </a:pPr>
            <a:r>
              <a:rPr lang="en-US" sz="900" dirty="0">
                <a:solidFill>
                  <a:srgbClr val="ABB2BF"/>
                </a:solidFill>
                <a:latin typeface="Consolas" pitchFamily="34" charset="0"/>
                <a:ea typeface="Consolas" pitchFamily="34" charset="-122"/>
                <a:cs typeface="Consolas" pitchFamily="34" charset="-120"/>
              </a:rPr>
              <a:t>  </a:t>
            </a:r>
            <a:endParaRPr lang="en-US" sz="900" dirty="0"/>
          </a:p>
        </p:txBody>
      </p:sp>
      <p:sp>
        <p:nvSpPr>
          <p:cNvPr id="113" name="Text 60"/>
          <p:cNvSpPr/>
          <p:nvPr/>
        </p:nvSpPr>
        <p:spPr>
          <a:xfrm>
            <a:off x="6690866" y="6210300"/>
            <a:ext cx="6126480" cy="152400"/>
          </a:xfrm>
          <a:prstGeom prst="rect">
            <a:avLst/>
          </a:prstGeom>
          <a:noFill/>
          <a:ln/>
        </p:spPr>
        <p:txBody>
          <a:bodyPr wrap="square" lIns="0" tIns="0" rIns="0" bIns="0" rtlCol="0" anchor="t"/>
          <a:lstStyle/>
          <a:p>
            <a:pPr marL="0" indent="0">
              <a:lnSpc>
                <a:spcPts val="1200"/>
              </a:lnSpc>
              <a:buNone/>
            </a:pPr>
            <a:endParaRPr lang="en-US" sz="900" dirty="0"/>
          </a:p>
        </p:txBody>
      </p:sp>
      <p:sp>
        <p:nvSpPr>
          <p:cNvPr id="114" name="Text 61"/>
          <p:cNvSpPr/>
          <p:nvPr/>
        </p:nvSpPr>
        <p:spPr>
          <a:xfrm>
            <a:off x="6553200" y="6362700"/>
            <a:ext cx="5105400" cy="152400"/>
          </a:xfrm>
          <a:prstGeom prst="rect">
            <a:avLst/>
          </a:prstGeom>
          <a:noFill/>
          <a:ln/>
        </p:spPr>
        <p:txBody>
          <a:bodyPr wrap="square" lIns="0" tIns="0" rIns="0" bIns="0" rtlCol="0" anchor="t"/>
          <a:lstStyle/>
          <a:p>
            <a:pPr marL="0" indent="0">
              <a:lnSpc>
                <a:spcPts val="1200"/>
              </a:lnSpc>
              <a:buNone/>
            </a:pPr>
            <a:endParaRPr lang="en-US" sz="900" dirty="0"/>
          </a:p>
        </p:txBody>
      </p:sp>
      <p:sp>
        <p:nvSpPr>
          <p:cNvPr id="116" name="Text 63"/>
          <p:cNvSpPr/>
          <p:nvPr/>
        </p:nvSpPr>
        <p:spPr>
          <a:xfrm>
            <a:off x="6553200" y="6667500"/>
            <a:ext cx="5105400" cy="152400"/>
          </a:xfrm>
          <a:prstGeom prst="rect">
            <a:avLst/>
          </a:prstGeom>
          <a:noFill/>
          <a:ln/>
        </p:spPr>
        <p:txBody>
          <a:bodyPr wrap="square" lIns="0" tIns="0" rIns="0" bIns="0" rtlCol="0" anchor="t"/>
          <a:lstStyle/>
          <a:p>
            <a:pPr marL="0" indent="0">
              <a:lnSpc>
                <a:spcPts val="1200"/>
              </a:lnSpc>
              <a:buNone/>
            </a:pPr>
            <a:r>
              <a:rPr lang="en-US" sz="900" dirty="0">
                <a:solidFill>
                  <a:srgbClr val="ABB2BF"/>
                </a:solidFill>
                <a:latin typeface="Consolas" pitchFamily="34" charset="0"/>
                <a:ea typeface="Consolas" pitchFamily="34" charset="-122"/>
                <a:cs typeface="Consolas" pitchFamily="34" charset="-120"/>
              </a:rPr>
              <a:t>  </a:t>
            </a:r>
            <a:endParaRPr lang="en-US" sz="900" dirty="0"/>
          </a:p>
        </p:txBody>
      </p:sp>
      <p:sp>
        <p:nvSpPr>
          <p:cNvPr id="117" name="Text 64"/>
          <p:cNvSpPr/>
          <p:nvPr/>
        </p:nvSpPr>
        <p:spPr>
          <a:xfrm>
            <a:off x="6553200" y="6819900"/>
            <a:ext cx="5105400" cy="152400"/>
          </a:xfrm>
          <a:prstGeom prst="rect">
            <a:avLst/>
          </a:prstGeom>
          <a:noFill/>
          <a:ln/>
        </p:spPr>
        <p:txBody>
          <a:bodyPr wrap="square" lIns="0" tIns="0" rIns="0" bIns="0" rtlCol="0" anchor="t"/>
          <a:lstStyle/>
          <a:p>
            <a:pPr marL="0" indent="0">
              <a:lnSpc>
                <a:spcPts val="1200"/>
              </a:lnSpc>
              <a:buNone/>
            </a:pPr>
            <a:endParaRPr lang="en-US" sz="900" dirty="0"/>
          </a:p>
        </p:txBody>
      </p:sp>
      <p:sp>
        <p:nvSpPr>
          <p:cNvPr id="118" name="Text 65"/>
          <p:cNvSpPr/>
          <p:nvPr/>
        </p:nvSpPr>
        <p:spPr>
          <a:xfrm>
            <a:off x="514350" y="7581900"/>
            <a:ext cx="11582400" cy="190500"/>
          </a:xfrm>
          <a:prstGeom prst="rect">
            <a:avLst/>
          </a:prstGeom>
          <a:noFill/>
          <a:ln/>
        </p:spPr>
        <p:txBody>
          <a:bodyPr wrap="square" lIns="0" tIns="0" rIns="0" bIns="0" rtlCol="0" anchor="t"/>
          <a:lstStyle/>
          <a:p>
            <a:pPr marL="0" indent="0">
              <a:lnSpc>
                <a:spcPts val="1500"/>
              </a:lnSpc>
              <a:buNone/>
            </a:pPr>
            <a:r>
              <a:rPr lang="en-US" sz="1050" b="1" dirty="0">
                <a:solidFill>
                  <a:srgbClr val="374151"/>
                </a:solidFill>
                <a:latin typeface="Arial" pitchFamily="34" charset="0"/>
                <a:ea typeface="Arial" pitchFamily="34" charset="-122"/>
                <a:cs typeface="Arial" pitchFamily="34" charset="-120"/>
              </a:rPr>
              <a:t>Comparison Overview</a:t>
            </a:r>
            <a:endParaRPr lang="en-US" sz="1050" dirty="0"/>
          </a:p>
        </p:txBody>
      </p:sp>
      <p:sp>
        <p:nvSpPr>
          <p:cNvPr id="119" name="Text 66"/>
          <p:cNvSpPr/>
          <p:nvPr/>
        </p:nvSpPr>
        <p:spPr>
          <a:xfrm>
            <a:off x="419100" y="7848600"/>
            <a:ext cx="2548086" cy="419100"/>
          </a:xfrm>
          <a:prstGeom prst="rect">
            <a:avLst/>
          </a:prstGeom>
          <a:noFill/>
          <a:ln/>
        </p:spPr>
        <p:txBody>
          <a:bodyPr wrap="square" lIns="0" tIns="0" rIns="0" bIns="0" rtlCol="0" anchor="t"/>
          <a:lstStyle/>
          <a:p>
            <a:pPr marL="0" indent="0" algn="l">
              <a:lnSpc>
                <a:spcPts val="1500"/>
              </a:lnSpc>
              <a:buNone/>
            </a:pPr>
            <a:r>
              <a:rPr lang="en-US" sz="1050" b="1" dirty="0">
                <a:solidFill>
                  <a:srgbClr val="333333"/>
                </a:solidFill>
                <a:latin typeface="Arial" pitchFamily="34" charset="0"/>
                <a:ea typeface="Arial" pitchFamily="34" charset="-122"/>
                <a:cs typeface="Arial" pitchFamily="34" charset="-120"/>
              </a:rPr>
              <a:t>Feature</a:t>
            </a:r>
            <a:endParaRPr lang="en-US" sz="1050" dirty="0"/>
          </a:p>
        </p:txBody>
      </p:sp>
      <p:sp>
        <p:nvSpPr>
          <p:cNvPr id="120" name="Text 67"/>
          <p:cNvSpPr/>
          <p:nvPr/>
        </p:nvSpPr>
        <p:spPr>
          <a:xfrm>
            <a:off x="2967186" y="7848600"/>
            <a:ext cx="4517082" cy="419100"/>
          </a:xfrm>
          <a:prstGeom prst="rect">
            <a:avLst/>
          </a:prstGeom>
          <a:noFill/>
          <a:ln/>
        </p:spPr>
        <p:txBody>
          <a:bodyPr wrap="square" lIns="0" tIns="0" rIns="0" bIns="0" rtlCol="0" anchor="t"/>
          <a:lstStyle/>
          <a:p>
            <a:pPr marL="0" indent="0" algn="l">
              <a:lnSpc>
                <a:spcPts val="1500"/>
              </a:lnSpc>
              <a:buNone/>
            </a:pPr>
            <a:r>
              <a:rPr lang="en-US" sz="1050" b="1" dirty="0">
                <a:solidFill>
                  <a:srgbClr val="333333"/>
                </a:solidFill>
                <a:latin typeface="Arial" pitchFamily="34" charset="0"/>
                <a:ea typeface="Arial" pitchFamily="34" charset="-122"/>
                <a:cs typeface="Arial" pitchFamily="34" charset="-120"/>
              </a:rPr>
              <a:t>Priority Scheduling</a:t>
            </a:r>
            <a:endParaRPr lang="en-US" sz="1050" dirty="0"/>
          </a:p>
        </p:txBody>
      </p:sp>
      <p:sp>
        <p:nvSpPr>
          <p:cNvPr id="121" name="Text 68"/>
          <p:cNvSpPr/>
          <p:nvPr/>
        </p:nvSpPr>
        <p:spPr>
          <a:xfrm>
            <a:off x="7484269" y="7848600"/>
            <a:ext cx="4517231" cy="419100"/>
          </a:xfrm>
          <a:prstGeom prst="rect">
            <a:avLst/>
          </a:prstGeom>
          <a:noFill/>
          <a:ln/>
        </p:spPr>
        <p:txBody>
          <a:bodyPr wrap="square" lIns="0" tIns="0" rIns="0" bIns="0" rtlCol="0" anchor="t"/>
          <a:lstStyle/>
          <a:p>
            <a:pPr marL="0" indent="0" algn="l">
              <a:lnSpc>
                <a:spcPts val="1500"/>
              </a:lnSpc>
              <a:buNone/>
            </a:pPr>
            <a:r>
              <a:rPr lang="en-US" sz="1050" b="1" dirty="0">
                <a:solidFill>
                  <a:srgbClr val="333333"/>
                </a:solidFill>
                <a:latin typeface="Arial" pitchFamily="34" charset="0"/>
                <a:ea typeface="Arial" pitchFamily="34" charset="-122"/>
                <a:cs typeface="Arial" pitchFamily="34" charset="-120"/>
              </a:rPr>
              <a:t>Round Robin</a:t>
            </a:r>
            <a:endParaRPr lang="en-US" sz="1050" dirty="0"/>
          </a:p>
        </p:txBody>
      </p:sp>
      <p:sp>
        <p:nvSpPr>
          <p:cNvPr id="122" name="Text 69"/>
          <p:cNvSpPr/>
          <p:nvPr/>
        </p:nvSpPr>
        <p:spPr>
          <a:xfrm>
            <a:off x="419100" y="8267700"/>
            <a:ext cx="3057704" cy="4191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Allocation Basis</a:t>
            </a:r>
            <a:endParaRPr lang="en-US" sz="1050" dirty="0"/>
          </a:p>
        </p:txBody>
      </p:sp>
      <p:sp>
        <p:nvSpPr>
          <p:cNvPr id="123" name="Text 70"/>
          <p:cNvSpPr/>
          <p:nvPr/>
        </p:nvSpPr>
        <p:spPr>
          <a:xfrm>
            <a:off x="2967186" y="8267700"/>
            <a:ext cx="4517082" cy="4191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Priority value of process</a:t>
            </a:r>
            <a:endParaRPr lang="en-US" sz="1050" dirty="0"/>
          </a:p>
        </p:txBody>
      </p:sp>
      <p:sp>
        <p:nvSpPr>
          <p:cNvPr id="124" name="Text 71"/>
          <p:cNvSpPr/>
          <p:nvPr/>
        </p:nvSpPr>
        <p:spPr>
          <a:xfrm>
            <a:off x="7484269" y="8267700"/>
            <a:ext cx="5420678" cy="4191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Equal time slices in circular order</a:t>
            </a:r>
            <a:endParaRPr lang="en-US" sz="1050" dirty="0"/>
          </a:p>
        </p:txBody>
      </p:sp>
      <p:sp>
        <p:nvSpPr>
          <p:cNvPr id="125" name="Text 72"/>
          <p:cNvSpPr/>
          <p:nvPr/>
        </p:nvSpPr>
        <p:spPr>
          <a:xfrm>
            <a:off x="419100" y="8686800"/>
            <a:ext cx="2548086" cy="4191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Preemption</a:t>
            </a:r>
            <a:endParaRPr lang="en-US" sz="1050" dirty="0"/>
          </a:p>
        </p:txBody>
      </p:sp>
      <p:sp>
        <p:nvSpPr>
          <p:cNvPr id="126" name="Text 73"/>
          <p:cNvSpPr/>
          <p:nvPr/>
        </p:nvSpPr>
        <p:spPr>
          <a:xfrm>
            <a:off x="2967186" y="8686800"/>
            <a:ext cx="5420499" cy="4191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Both preemptive and non-preemptive variants</a:t>
            </a:r>
            <a:endParaRPr lang="en-US" sz="1050" dirty="0"/>
          </a:p>
        </p:txBody>
      </p:sp>
      <p:sp>
        <p:nvSpPr>
          <p:cNvPr id="127" name="Text 74"/>
          <p:cNvSpPr/>
          <p:nvPr/>
        </p:nvSpPr>
        <p:spPr>
          <a:xfrm>
            <a:off x="7484269" y="8686800"/>
            <a:ext cx="5420678" cy="4191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Always preemptive (at time quantum end)</a:t>
            </a:r>
            <a:endParaRPr lang="en-US" sz="1050" dirty="0"/>
          </a:p>
        </p:txBody>
      </p:sp>
      <p:sp>
        <p:nvSpPr>
          <p:cNvPr id="128" name="Text 75"/>
          <p:cNvSpPr/>
          <p:nvPr/>
        </p:nvSpPr>
        <p:spPr>
          <a:xfrm>
            <a:off x="419100" y="9105900"/>
            <a:ext cx="2548086" cy="428625"/>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Fairness</a:t>
            </a:r>
            <a:endParaRPr lang="en-US" sz="1050" dirty="0"/>
          </a:p>
        </p:txBody>
      </p:sp>
      <p:sp>
        <p:nvSpPr>
          <p:cNvPr id="129" name="Text 76"/>
          <p:cNvSpPr/>
          <p:nvPr/>
        </p:nvSpPr>
        <p:spPr>
          <a:xfrm>
            <a:off x="3043386" y="9105900"/>
            <a:ext cx="4517082" cy="428625"/>
          </a:xfrm>
          <a:prstGeom prst="rect">
            <a:avLst/>
          </a:prstGeom>
          <a:noFill/>
          <a:ln/>
        </p:spPr>
        <p:txBody>
          <a:bodyPr wrap="square" lIns="0" tIns="0" rIns="0" bIns="0" rtlCol="0" anchor="t"/>
          <a:lstStyle/>
          <a:p>
            <a:pPr marL="0" indent="0">
              <a:lnSpc>
                <a:spcPts val="1500"/>
              </a:lnSpc>
              <a:buNone/>
            </a:pPr>
            <a:r>
              <a:rPr lang="en-US" sz="900" b="1" dirty="0">
                <a:solidFill>
                  <a:srgbClr val="C62828"/>
                </a:solidFill>
                <a:highlight>
                  <a:srgbClr val="FFEBEE"/>
                </a:highlight>
                <a:latin typeface="Arial" pitchFamily="34" charset="0"/>
                <a:ea typeface="Arial" pitchFamily="34" charset="-122"/>
                <a:cs typeface="Arial" pitchFamily="34" charset="-120"/>
              </a:rPr>
              <a:t>Low</a:t>
            </a:r>
            <a:r>
              <a:rPr lang="en-US" sz="1050" dirty="0">
                <a:solidFill>
                  <a:srgbClr val="333333"/>
                </a:solidFill>
                <a:latin typeface="Arial" pitchFamily="34" charset="0"/>
                <a:ea typeface="Arial" pitchFamily="34" charset="-122"/>
                <a:cs typeface="Arial" pitchFamily="34" charset="-120"/>
              </a:rPr>
              <a:t> Favors high priority processes</a:t>
            </a:r>
            <a:endParaRPr lang="en-US" sz="1050" dirty="0"/>
          </a:p>
        </p:txBody>
      </p:sp>
      <p:sp>
        <p:nvSpPr>
          <p:cNvPr id="130" name="Text 77"/>
          <p:cNvSpPr/>
          <p:nvPr/>
        </p:nvSpPr>
        <p:spPr>
          <a:xfrm>
            <a:off x="7560469" y="9105900"/>
            <a:ext cx="4517231" cy="428625"/>
          </a:xfrm>
          <a:prstGeom prst="rect">
            <a:avLst/>
          </a:prstGeom>
          <a:noFill/>
          <a:ln/>
        </p:spPr>
        <p:txBody>
          <a:bodyPr wrap="square" lIns="0" tIns="0" rIns="0" bIns="0" rtlCol="0" anchor="t"/>
          <a:lstStyle/>
          <a:p>
            <a:pPr marL="0" indent="0">
              <a:lnSpc>
                <a:spcPts val="1500"/>
              </a:lnSpc>
              <a:buNone/>
            </a:pPr>
            <a:r>
              <a:rPr lang="en-US" sz="900" b="1" dirty="0">
                <a:solidFill>
                  <a:srgbClr val="2E7D32"/>
                </a:solidFill>
                <a:highlight>
                  <a:srgbClr val="E8F5E9"/>
                </a:highlight>
                <a:latin typeface="Arial" pitchFamily="34" charset="0"/>
                <a:ea typeface="Arial" pitchFamily="34" charset="-122"/>
                <a:cs typeface="Arial" pitchFamily="34" charset="-120"/>
              </a:rPr>
              <a:t>High</a:t>
            </a:r>
            <a:r>
              <a:rPr lang="en-US" sz="1050" dirty="0">
                <a:solidFill>
                  <a:srgbClr val="333333"/>
                </a:solidFill>
                <a:latin typeface="Arial" pitchFamily="34" charset="0"/>
                <a:ea typeface="Arial" pitchFamily="34" charset="-122"/>
                <a:cs typeface="Arial" pitchFamily="34" charset="-120"/>
              </a:rPr>
              <a:t> All processes get equal CPU time</a:t>
            </a:r>
            <a:endParaRPr lang="en-US" sz="1050" dirty="0"/>
          </a:p>
        </p:txBody>
      </p:sp>
      <p:sp>
        <p:nvSpPr>
          <p:cNvPr id="131" name="Text 78"/>
          <p:cNvSpPr/>
          <p:nvPr/>
        </p:nvSpPr>
        <p:spPr>
          <a:xfrm>
            <a:off x="419100" y="9534525"/>
            <a:ext cx="2548086" cy="4191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Best Use Case</a:t>
            </a:r>
            <a:endParaRPr lang="en-US" sz="1050" dirty="0"/>
          </a:p>
        </p:txBody>
      </p:sp>
      <p:sp>
        <p:nvSpPr>
          <p:cNvPr id="132" name="Text 79"/>
          <p:cNvSpPr/>
          <p:nvPr/>
        </p:nvSpPr>
        <p:spPr>
          <a:xfrm>
            <a:off x="2967186" y="9534525"/>
            <a:ext cx="5420499" cy="4191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Real-time systems, critical task management</a:t>
            </a:r>
            <a:endParaRPr lang="en-US" sz="1050" dirty="0"/>
          </a:p>
        </p:txBody>
      </p:sp>
      <p:sp>
        <p:nvSpPr>
          <p:cNvPr id="133" name="Text 80"/>
          <p:cNvSpPr/>
          <p:nvPr/>
        </p:nvSpPr>
        <p:spPr>
          <a:xfrm>
            <a:off x="7484269" y="9534525"/>
            <a:ext cx="5420678" cy="4191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Interactive systems, time-sharing environments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228600" y="819150"/>
            <a:ext cx="3810000" cy="5810250"/>
          </a:xfrm>
          <a:prstGeom prst="rect">
            <a:avLst/>
          </a:prstGeom>
        </p:spPr>
      </p:pic>
      <p:pic>
        <p:nvPicPr>
          <p:cNvPr id="5" name="Image 3" descr="preencoded.png"/>
          <p:cNvPicPr>
            <a:picLocks noChangeAspect="1"/>
          </p:cNvPicPr>
          <p:nvPr/>
        </p:nvPicPr>
        <p:blipFill>
          <a:blip r:embed="rId6"/>
          <a:stretch>
            <a:fillRect/>
          </a:stretch>
        </p:blipFill>
        <p:spPr>
          <a:xfrm>
            <a:off x="419100" y="1009650"/>
            <a:ext cx="381000" cy="381000"/>
          </a:xfrm>
          <a:prstGeom prst="rect">
            <a:avLst/>
          </a:prstGeom>
        </p:spPr>
      </p:pic>
      <p:pic>
        <p:nvPicPr>
          <p:cNvPr id="6" name="Image 4" descr="preencoded.png"/>
          <p:cNvPicPr>
            <a:picLocks noChangeAspect="1"/>
          </p:cNvPicPr>
          <p:nvPr/>
        </p:nvPicPr>
        <p:blipFill>
          <a:blip r:embed="rId7"/>
          <a:stretch>
            <a:fillRect/>
          </a:stretch>
        </p:blipFill>
        <p:spPr>
          <a:xfrm>
            <a:off x="533400" y="1123950"/>
            <a:ext cx="152400" cy="152400"/>
          </a:xfrm>
          <a:prstGeom prst="rect">
            <a:avLst/>
          </a:prstGeom>
        </p:spPr>
      </p:pic>
      <p:pic>
        <p:nvPicPr>
          <p:cNvPr id="7" name="Image 5" descr="preencoded.png"/>
          <p:cNvPicPr>
            <a:picLocks noChangeAspect="1"/>
          </p:cNvPicPr>
          <p:nvPr/>
        </p:nvPicPr>
        <p:blipFill>
          <a:blip r:embed="rId8"/>
          <a:stretch>
            <a:fillRect/>
          </a:stretch>
        </p:blipFill>
        <p:spPr>
          <a:xfrm>
            <a:off x="419100" y="1504950"/>
            <a:ext cx="3429000" cy="647700"/>
          </a:xfrm>
          <a:prstGeom prst="rect">
            <a:avLst/>
          </a:prstGeom>
        </p:spPr>
      </p:pic>
      <p:pic>
        <p:nvPicPr>
          <p:cNvPr id="8" name="Image 6" descr="preencoded.png"/>
          <p:cNvPicPr>
            <a:picLocks noChangeAspect="1"/>
          </p:cNvPicPr>
          <p:nvPr/>
        </p:nvPicPr>
        <p:blipFill>
          <a:blip r:embed="rId9"/>
          <a:stretch>
            <a:fillRect/>
          </a:stretch>
        </p:blipFill>
        <p:spPr>
          <a:xfrm>
            <a:off x="419100" y="1638300"/>
            <a:ext cx="171450" cy="152400"/>
          </a:xfrm>
          <a:prstGeom prst="rect">
            <a:avLst/>
          </a:prstGeom>
        </p:spPr>
      </p:pic>
      <p:pic>
        <p:nvPicPr>
          <p:cNvPr id="9" name="Image 7" descr="preencoded.png"/>
          <p:cNvPicPr>
            <a:picLocks noChangeAspect="1"/>
          </p:cNvPicPr>
          <p:nvPr/>
        </p:nvPicPr>
        <p:blipFill>
          <a:blip r:embed="rId8"/>
          <a:stretch>
            <a:fillRect/>
          </a:stretch>
        </p:blipFill>
        <p:spPr>
          <a:xfrm>
            <a:off x="419100" y="2152650"/>
            <a:ext cx="3429000" cy="647700"/>
          </a:xfrm>
          <a:prstGeom prst="rect">
            <a:avLst/>
          </a:prstGeom>
        </p:spPr>
      </p:pic>
      <p:pic>
        <p:nvPicPr>
          <p:cNvPr id="10" name="Image 8" descr="preencoded.png"/>
          <p:cNvPicPr>
            <a:picLocks noChangeAspect="1"/>
          </p:cNvPicPr>
          <p:nvPr/>
        </p:nvPicPr>
        <p:blipFill>
          <a:blip r:embed="rId10"/>
          <a:stretch>
            <a:fillRect/>
          </a:stretch>
        </p:blipFill>
        <p:spPr>
          <a:xfrm>
            <a:off x="419100" y="2286000"/>
            <a:ext cx="133350" cy="152400"/>
          </a:xfrm>
          <a:prstGeom prst="rect">
            <a:avLst/>
          </a:prstGeom>
        </p:spPr>
      </p:pic>
      <p:pic>
        <p:nvPicPr>
          <p:cNvPr id="11" name="Image 9" descr="preencoded.png"/>
          <p:cNvPicPr>
            <a:picLocks noChangeAspect="1"/>
          </p:cNvPicPr>
          <p:nvPr/>
        </p:nvPicPr>
        <p:blipFill>
          <a:blip r:embed="rId8"/>
          <a:stretch>
            <a:fillRect/>
          </a:stretch>
        </p:blipFill>
        <p:spPr>
          <a:xfrm>
            <a:off x="419100" y="2800350"/>
            <a:ext cx="3429000" cy="647700"/>
          </a:xfrm>
          <a:prstGeom prst="rect">
            <a:avLst/>
          </a:prstGeom>
        </p:spPr>
      </p:pic>
      <p:pic>
        <p:nvPicPr>
          <p:cNvPr id="12" name="Image 10" descr="preencoded.png"/>
          <p:cNvPicPr>
            <a:picLocks noChangeAspect="1"/>
          </p:cNvPicPr>
          <p:nvPr/>
        </p:nvPicPr>
        <p:blipFill>
          <a:blip r:embed="rId11"/>
          <a:stretch>
            <a:fillRect/>
          </a:stretch>
        </p:blipFill>
        <p:spPr>
          <a:xfrm>
            <a:off x="419100" y="2933700"/>
            <a:ext cx="190500" cy="152400"/>
          </a:xfrm>
          <a:prstGeom prst="rect">
            <a:avLst/>
          </a:prstGeom>
        </p:spPr>
      </p:pic>
      <p:pic>
        <p:nvPicPr>
          <p:cNvPr id="13" name="Image 11" descr="preencoded.png"/>
          <p:cNvPicPr>
            <a:picLocks noChangeAspect="1"/>
          </p:cNvPicPr>
          <p:nvPr/>
        </p:nvPicPr>
        <p:blipFill>
          <a:blip r:embed="rId8"/>
          <a:stretch>
            <a:fillRect/>
          </a:stretch>
        </p:blipFill>
        <p:spPr>
          <a:xfrm>
            <a:off x="419100" y="3448050"/>
            <a:ext cx="3429000" cy="647700"/>
          </a:xfrm>
          <a:prstGeom prst="rect">
            <a:avLst/>
          </a:prstGeom>
        </p:spPr>
      </p:pic>
      <p:pic>
        <p:nvPicPr>
          <p:cNvPr id="14" name="Image 12" descr="preencoded.png"/>
          <p:cNvPicPr>
            <a:picLocks noChangeAspect="1"/>
          </p:cNvPicPr>
          <p:nvPr/>
        </p:nvPicPr>
        <p:blipFill>
          <a:blip r:embed="rId12"/>
          <a:stretch>
            <a:fillRect/>
          </a:stretch>
        </p:blipFill>
        <p:spPr>
          <a:xfrm>
            <a:off x="419100" y="3581400"/>
            <a:ext cx="152400" cy="152400"/>
          </a:xfrm>
          <a:prstGeom prst="rect">
            <a:avLst/>
          </a:prstGeom>
        </p:spPr>
      </p:pic>
      <p:pic>
        <p:nvPicPr>
          <p:cNvPr id="15" name="Image 13" descr="preencoded.png"/>
          <p:cNvPicPr>
            <a:picLocks noChangeAspect="1"/>
          </p:cNvPicPr>
          <p:nvPr/>
        </p:nvPicPr>
        <p:blipFill>
          <a:blip r:embed="rId13"/>
          <a:stretch>
            <a:fillRect/>
          </a:stretch>
        </p:blipFill>
        <p:spPr>
          <a:xfrm>
            <a:off x="419100" y="4248150"/>
            <a:ext cx="3429000" cy="952500"/>
          </a:xfrm>
          <a:prstGeom prst="rect">
            <a:avLst/>
          </a:prstGeom>
        </p:spPr>
      </p:pic>
      <p:pic>
        <p:nvPicPr>
          <p:cNvPr id="16" name="Image 14" descr="preencoded.png"/>
          <p:cNvPicPr>
            <a:picLocks noChangeAspect="1"/>
          </p:cNvPicPr>
          <p:nvPr/>
        </p:nvPicPr>
        <p:blipFill>
          <a:blip r:embed="rId5"/>
          <a:stretch>
            <a:fillRect/>
          </a:stretch>
        </p:blipFill>
        <p:spPr>
          <a:xfrm>
            <a:off x="4191000" y="819150"/>
            <a:ext cx="3810000" cy="5810250"/>
          </a:xfrm>
          <a:prstGeom prst="rect">
            <a:avLst/>
          </a:prstGeom>
        </p:spPr>
      </p:pic>
      <p:pic>
        <p:nvPicPr>
          <p:cNvPr id="17" name="Image 15" descr="preencoded.png"/>
          <p:cNvPicPr>
            <a:picLocks noChangeAspect="1"/>
          </p:cNvPicPr>
          <p:nvPr/>
        </p:nvPicPr>
        <p:blipFill>
          <a:blip r:embed="rId14"/>
          <a:stretch>
            <a:fillRect/>
          </a:stretch>
        </p:blipFill>
        <p:spPr>
          <a:xfrm>
            <a:off x="4381500" y="1009650"/>
            <a:ext cx="381000" cy="381000"/>
          </a:xfrm>
          <a:prstGeom prst="rect">
            <a:avLst/>
          </a:prstGeom>
        </p:spPr>
      </p:pic>
      <p:pic>
        <p:nvPicPr>
          <p:cNvPr id="18" name="Image 16" descr="preencoded.png"/>
          <p:cNvPicPr>
            <a:picLocks noChangeAspect="1"/>
          </p:cNvPicPr>
          <p:nvPr/>
        </p:nvPicPr>
        <p:blipFill>
          <a:blip r:embed="rId15"/>
          <a:stretch>
            <a:fillRect/>
          </a:stretch>
        </p:blipFill>
        <p:spPr>
          <a:xfrm>
            <a:off x="4495800" y="1123950"/>
            <a:ext cx="152400" cy="152400"/>
          </a:xfrm>
          <a:prstGeom prst="rect">
            <a:avLst/>
          </a:prstGeom>
        </p:spPr>
      </p:pic>
      <p:pic>
        <p:nvPicPr>
          <p:cNvPr id="19" name="Image 17" descr="preencoded.png"/>
          <p:cNvPicPr>
            <a:picLocks noChangeAspect="1"/>
          </p:cNvPicPr>
          <p:nvPr/>
        </p:nvPicPr>
        <p:blipFill>
          <a:blip r:embed="rId16"/>
          <a:stretch>
            <a:fillRect/>
          </a:stretch>
        </p:blipFill>
        <p:spPr>
          <a:xfrm>
            <a:off x="4381500" y="1504950"/>
            <a:ext cx="3429000" cy="647700"/>
          </a:xfrm>
          <a:prstGeom prst="rect">
            <a:avLst/>
          </a:prstGeom>
        </p:spPr>
      </p:pic>
      <p:pic>
        <p:nvPicPr>
          <p:cNvPr id="20" name="Image 18" descr="preencoded.png"/>
          <p:cNvPicPr>
            <a:picLocks noChangeAspect="1"/>
          </p:cNvPicPr>
          <p:nvPr/>
        </p:nvPicPr>
        <p:blipFill>
          <a:blip r:embed="rId17"/>
          <a:stretch>
            <a:fillRect/>
          </a:stretch>
        </p:blipFill>
        <p:spPr>
          <a:xfrm>
            <a:off x="4381500" y="1638300"/>
            <a:ext cx="152400" cy="152400"/>
          </a:xfrm>
          <a:prstGeom prst="rect">
            <a:avLst/>
          </a:prstGeom>
        </p:spPr>
      </p:pic>
      <p:pic>
        <p:nvPicPr>
          <p:cNvPr id="21" name="Image 19" descr="preencoded.png"/>
          <p:cNvPicPr>
            <a:picLocks noChangeAspect="1"/>
          </p:cNvPicPr>
          <p:nvPr/>
        </p:nvPicPr>
        <p:blipFill>
          <a:blip r:embed="rId16"/>
          <a:stretch>
            <a:fillRect/>
          </a:stretch>
        </p:blipFill>
        <p:spPr>
          <a:xfrm>
            <a:off x="4381500" y="2152650"/>
            <a:ext cx="3429000" cy="647700"/>
          </a:xfrm>
          <a:prstGeom prst="rect">
            <a:avLst/>
          </a:prstGeom>
        </p:spPr>
      </p:pic>
      <p:pic>
        <p:nvPicPr>
          <p:cNvPr id="22" name="Image 20" descr="preencoded.png"/>
          <p:cNvPicPr>
            <a:picLocks noChangeAspect="1"/>
          </p:cNvPicPr>
          <p:nvPr/>
        </p:nvPicPr>
        <p:blipFill>
          <a:blip r:embed="rId18"/>
          <a:stretch>
            <a:fillRect/>
          </a:stretch>
        </p:blipFill>
        <p:spPr>
          <a:xfrm>
            <a:off x="4381500" y="2286000"/>
            <a:ext cx="152400" cy="152400"/>
          </a:xfrm>
          <a:prstGeom prst="rect">
            <a:avLst/>
          </a:prstGeom>
        </p:spPr>
      </p:pic>
      <p:pic>
        <p:nvPicPr>
          <p:cNvPr id="23" name="Image 21" descr="preencoded.png"/>
          <p:cNvPicPr>
            <a:picLocks noChangeAspect="1"/>
          </p:cNvPicPr>
          <p:nvPr/>
        </p:nvPicPr>
        <p:blipFill>
          <a:blip r:embed="rId16"/>
          <a:stretch>
            <a:fillRect/>
          </a:stretch>
        </p:blipFill>
        <p:spPr>
          <a:xfrm>
            <a:off x="4381500" y="2800350"/>
            <a:ext cx="3429000" cy="647700"/>
          </a:xfrm>
          <a:prstGeom prst="rect">
            <a:avLst/>
          </a:prstGeom>
        </p:spPr>
      </p:pic>
      <p:pic>
        <p:nvPicPr>
          <p:cNvPr id="24" name="Image 22" descr="preencoded.png"/>
          <p:cNvPicPr>
            <a:picLocks noChangeAspect="1"/>
          </p:cNvPicPr>
          <p:nvPr/>
        </p:nvPicPr>
        <p:blipFill>
          <a:blip r:embed="rId19"/>
          <a:stretch>
            <a:fillRect/>
          </a:stretch>
        </p:blipFill>
        <p:spPr>
          <a:xfrm>
            <a:off x="4381500" y="2933700"/>
            <a:ext cx="133350" cy="152400"/>
          </a:xfrm>
          <a:prstGeom prst="rect">
            <a:avLst/>
          </a:prstGeom>
        </p:spPr>
      </p:pic>
      <p:pic>
        <p:nvPicPr>
          <p:cNvPr id="25" name="Image 23" descr="preencoded.png"/>
          <p:cNvPicPr>
            <a:picLocks noChangeAspect="1"/>
          </p:cNvPicPr>
          <p:nvPr/>
        </p:nvPicPr>
        <p:blipFill>
          <a:blip r:embed="rId16"/>
          <a:stretch>
            <a:fillRect/>
          </a:stretch>
        </p:blipFill>
        <p:spPr>
          <a:xfrm>
            <a:off x="4381500" y="3448050"/>
            <a:ext cx="3429000" cy="647700"/>
          </a:xfrm>
          <a:prstGeom prst="rect">
            <a:avLst/>
          </a:prstGeom>
        </p:spPr>
      </p:pic>
      <p:pic>
        <p:nvPicPr>
          <p:cNvPr id="26" name="Image 24" descr="preencoded.png"/>
          <p:cNvPicPr>
            <a:picLocks noChangeAspect="1"/>
          </p:cNvPicPr>
          <p:nvPr/>
        </p:nvPicPr>
        <p:blipFill>
          <a:blip r:embed="rId20"/>
          <a:stretch>
            <a:fillRect/>
          </a:stretch>
        </p:blipFill>
        <p:spPr>
          <a:xfrm>
            <a:off x="4381500" y="3581400"/>
            <a:ext cx="114300" cy="152400"/>
          </a:xfrm>
          <a:prstGeom prst="rect">
            <a:avLst/>
          </a:prstGeom>
        </p:spPr>
      </p:pic>
      <p:pic>
        <p:nvPicPr>
          <p:cNvPr id="27" name="Image 25" descr="preencoded.png"/>
          <p:cNvPicPr>
            <a:picLocks noChangeAspect="1"/>
          </p:cNvPicPr>
          <p:nvPr/>
        </p:nvPicPr>
        <p:blipFill>
          <a:blip r:embed="rId21"/>
          <a:stretch>
            <a:fillRect/>
          </a:stretch>
        </p:blipFill>
        <p:spPr>
          <a:xfrm>
            <a:off x="4381500" y="4248150"/>
            <a:ext cx="3429000" cy="952500"/>
          </a:xfrm>
          <a:prstGeom prst="rect">
            <a:avLst/>
          </a:prstGeom>
        </p:spPr>
      </p:pic>
      <p:pic>
        <p:nvPicPr>
          <p:cNvPr id="28" name="Image 26" descr="preencoded.png"/>
          <p:cNvPicPr>
            <a:picLocks noChangeAspect="1"/>
          </p:cNvPicPr>
          <p:nvPr/>
        </p:nvPicPr>
        <p:blipFill>
          <a:blip r:embed="rId22"/>
          <a:stretch>
            <a:fillRect/>
          </a:stretch>
        </p:blipFill>
        <p:spPr>
          <a:xfrm>
            <a:off x="4495800" y="4400550"/>
            <a:ext cx="152400" cy="152400"/>
          </a:xfrm>
          <a:prstGeom prst="rect">
            <a:avLst/>
          </a:prstGeom>
        </p:spPr>
      </p:pic>
      <p:pic>
        <p:nvPicPr>
          <p:cNvPr id="29" name="Image 27" descr="preencoded.png"/>
          <p:cNvPicPr>
            <a:picLocks noChangeAspect="1"/>
          </p:cNvPicPr>
          <p:nvPr/>
        </p:nvPicPr>
        <p:blipFill>
          <a:blip r:embed="rId5"/>
          <a:stretch>
            <a:fillRect/>
          </a:stretch>
        </p:blipFill>
        <p:spPr>
          <a:xfrm>
            <a:off x="8153400" y="819150"/>
            <a:ext cx="3810000" cy="5810250"/>
          </a:xfrm>
          <a:prstGeom prst="rect">
            <a:avLst/>
          </a:prstGeom>
        </p:spPr>
      </p:pic>
      <p:pic>
        <p:nvPicPr>
          <p:cNvPr id="30" name="Image 28" descr="preencoded.png"/>
          <p:cNvPicPr>
            <a:picLocks noChangeAspect="1"/>
          </p:cNvPicPr>
          <p:nvPr/>
        </p:nvPicPr>
        <p:blipFill>
          <a:blip r:embed="rId23"/>
          <a:stretch>
            <a:fillRect/>
          </a:stretch>
        </p:blipFill>
        <p:spPr>
          <a:xfrm>
            <a:off x="8343900" y="1009650"/>
            <a:ext cx="381000" cy="381000"/>
          </a:xfrm>
          <a:prstGeom prst="rect">
            <a:avLst/>
          </a:prstGeom>
        </p:spPr>
      </p:pic>
      <p:pic>
        <p:nvPicPr>
          <p:cNvPr id="31" name="Image 29" descr="preencoded.png"/>
          <p:cNvPicPr>
            <a:picLocks noChangeAspect="1"/>
          </p:cNvPicPr>
          <p:nvPr/>
        </p:nvPicPr>
        <p:blipFill>
          <a:blip r:embed="rId24"/>
          <a:stretch>
            <a:fillRect/>
          </a:stretch>
        </p:blipFill>
        <p:spPr>
          <a:xfrm>
            <a:off x="8458200" y="1123950"/>
            <a:ext cx="152400" cy="152400"/>
          </a:xfrm>
          <a:prstGeom prst="rect">
            <a:avLst/>
          </a:prstGeom>
        </p:spPr>
      </p:pic>
      <p:pic>
        <p:nvPicPr>
          <p:cNvPr id="32" name="Image 30" descr="preencoded.png"/>
          <p:cNvPicPr>
            <a:picLocks noChangeAspect="1"/>
          </p:cNvPicPr>
          <p:nvPr/>
        </p:nvPicPr>
        <p:blipFill>
          <a:blip r:embed="rId25"/>
          <a:stretch>
            <a:fillRect/>
          </a:stretch>
        </p:blipFill>
        <p:spPr>
          <a:xfrm>
            <a:off x="8343900" y="1504950"/>
            <a:ext cx="3429000" cy="800100"/>
          </a:xfrm>
          <a:prstGeom prst="rect">
            <a:avLst/>
          </a:prstGeom>
        </p:spPr>
      </p:pic>
      <p:pic>
        <p:nvPicPr>
          <p:cNvPr id="33" name="Image 31" descr="preencoded.png"/>
          <p:cNvPicPr>
            <a:picLocks noChangeAspect="1"/>
          </p:cNvPicPr>
          <p:nvPr/>
        </p:nvPicPr>
        <p:blipFill>
          <a:blip r:embed="rId26"/>
          <a:stretch>
            <a:fillRect/>
          </a:stretch>
        </p:blipFill>
        <p:spPr>
          <a:xfrm>
            <a:off x="8343900" y="1638300"/>
            <a:ext cx="133350" cy="152400"/>
          </a:xfrm>
          <a:prstGeom prst="rect">
            <a:avLst/>
          </a:prstGeom>
        </p:spPr>
      </p:pic>
      <p:pic>
        <p:nvPicPr>
          <p:cNvPr id="34" name="Image 32" descr="preencoded.png"/>
          <p:cNvPicPr>
            <a:picLocks noChangeAspect="1"/>
          </p:cNvPicPr>
          <p:nvPr/>
        </p:nvPicPr>
        <p:blipFill>
          <a:blip r:embed="rId25"/>
          <a:stretch>
            <a:fillRect/>
          </a:stretch>
        </p:blipFill>
        <p:spPr>
          <a:xfrm>
            <a:off x="8343900" y="2305050"/>
            <a:ext cx="3429000" cy="800100"/>
          </a:xfrm>
          <a:prstGeom prst="rect">
            <a:avLst/>
          </a:prstGeom>
        </p:spPr>
      </p:pic>
      <p:pic>
        <p:nvPicPr>
          <p:cNvPr id="35" name="Image 33" descr="preencoded.png"/>
          <p:cNvPicPr>
            <a:picLocks noChangeAspect="1"/>
          </p:cNvPicPr>
          <p:nvPr/>
        </p:nvPicPr>
        <p:blipFill>
          <a:blip r:embed="rId27"/>
          <a:stretch>
            <a:fillRect/>
          </a:stretch>
        </p:blipFill>
        <p:spPr>
          <a:xfrm>
            <a:off x="8343900" y="2438400"/>
            <a:ext cx="95250" cy="152400"/>
          </a:xfrm>
          <a:prstGeom prst="rect">
            <a:avLst/>
          </a:prstGeom>
        </p:spPr>
      </p:pic>
      <p:pic>
        <p:nvPicPr>
          <p:cNvPr id="36" name="Image 34" descr="preencoded.png"/>
          <p:cNvPicPr>
            <a:picLocks noChangeAspect="1"/>
          </p:cNvPicPr>
          <p:nvPr/>
        </p:nvPicPr>
        <p:blipFill>
          <a:blip r:embed="rId25"/>
          <a:stretch>
            <a:fillRect/>
          </a:stretch>
        </p:blipFill>
        <p:spPr>
          <a:xfrm>
            <a:off x="8343900" y="3105150"/>
            <a:ext cx="3429000" cy="800100"/>
          </a:xfrm>
          <a:prstGeom prst="rect">
            <a:avLst/>
          </a:prstGeom>
        </p:spPr>
      </p:pic>
      <p:pic>
        <p:nvPicPr>
          <p:cNvPr id="37" name="Image 35" descr="preencoded.png"/>
          <p:cNvPicPr>
            <a:picLocks noChangeAspect="1"/>
          </p:cNvPicPr>
          <p:nvPr/>
        </p:nvPicPr>
        <p:blipFill>
          <a:blip r:embed="rId28"/>
          <a:stretch>
            <a:fillRect/>
          </a:stretch>
        </p:blipFill>
        <p:spPr>
          <a:xfrm>
            <a:off x="8343900" y="3238500"/>
            <a:ext cx="152400" cy="152400"/>
          </a:xfrm>
          <a:prstGeom prst="rect">
            <a:avLst/>
          </a:prstGeom>
        </p:spPr>
      </p:pic>
      <p:pic>
        <p:nvPicPr>
          <p:cNvPr id="38" name="Image 36" descr="preencoded.png"/>
          <p:cNvPicPr>
            <a:picLocks noChangeAspect="1"/>
          </p:cNvPicPr>
          <p:nvPr/>
        </p:nvPicPr>
        <p:blipFill>
          <a:blip r:embed="rId25"/>
          <a:stretch>
            <a:fillRect/>
          </a:stretch>
        </p:blipFill>
        <p:spPr>
          <a:xfrm>
            <a:off x="8343900" y="3905250"/>
            <a:ext cx="3429000" cy="800100"/>
          </a:xfrm>
          <a:prstGeom prst="rect">
            <a:avLst/>
          </a:prstGeom>
        </p:spPr>
      </p:pic>
      <p:pic>
        <p:nvPicPr>
          <p:cNvPr id="39" name="Image 37" descr="preencoded.png"/>
          <p:cNvPicPr>
            <a:picLocks noChangeAspect="1"/>
          </p:cNvPicPr>
          <p:nvPr/>
        </p:nvPicPr>
        <p:blipFill>
          <a:blip r:embed="rId29"/>
          <a:stretch>
            <a:fillRect/>
          </a:stretch>
        </p:blipFill>
        <p:spPr>
          <a:xfrm>
            <a:off x="8343900" y="4038600"/>
            <a:ext cx="152400" cy="152400"/>
          </a:xfrm>
          <a:prstGeom prst="rect">
            <a:avLst/>
          </a:prstGeom>
        </p:spPr>
      </p:pic>
      <p:sp>
        <p:nvSpPr>
          <p:cNvPr id="40" name="Text 0"/>
          <p:cNvSpPr/>
          <p:nvPr/>
        </p:nvSpPr>
        <p:spPr>
          <a:xfrm>
            <a:off x="285750" y="142875"/>
            <a:ext cx="5898594"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Multi-threading and Process Synchronization</a:t>
            </a:r>
            <a:endParaRPr lang="en-US" sz="1800" dirty="0"/>
          </a:p>
        </p:txBody>
      </p:sp>
      <p:sp>
        <p:nvSpPr>
          <p:cNvPr id="41" name="Text 1"/>
          <p:cNvSpPr/>
          <p:nvPr/>
        </p:nvSpPr>
        <p:spPr>
          <a:xfrm>
            <a:off x="914400" y="1066800"/>
            <a:ext cx="2616220" cy="266700"/>
          </a:xfrm>
          <a:prstGeom prst="rect">
            <a:avLst/>
          </a:prstGeom>
          <a:noFill/>
          <a:ln/>
        </p:spPr>
        <p:txBody>
          <a:bodyPr wrap="square" lIns="0" tIns="0" rIns="0" bIns="0" rtlCol="0" anchor="t"/>
          <a:lstStyle/>
          <a:p>
            <a:pPr marL="0" indent="0">
              <a:lnSpc>
                <a:spcPts val="2100"/>
              </a:lnSpc>
              <a:buNone/>
            </a:pPr>
            <a:r>
              <a:rPr lang="en-US" sz="1500" b="1" dirty="0">
                <a:solidFill>
                  <a:srgbClr val="EA580C"/>
                </a:solidFill>
                <a:latin typeface="Arial" pitchFamily="34" charset="0"/>
                <a:ea typeface="Arial" pitchFamily="34" charset="-122"/>
                <a:cs typeface="Arial" pitchFamily="34" charset="-120"/>
              </a:rPr>
              <a:t>Multi-threading Benefits</a:t>
            </a:r>
            <a:endParaRPr lang="en-US" sz="1500" dirty="0"/>
          </a:p>
        </p:txBody>
      </p:sp>
      <p:sp>
        <p:nvSpPr>
          <p:cNvPr id="42" name="Text 2"/>
          <p:cNvSpPr/>
          <p:nvPr/>
        </p:nvSpPr>
        <p:spPr>
          <a:xfrm>
            <a:off x="666750" y="1600200"/>
            <a:ext cx="318135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Improved CPU utilization through concurrent execution of multiple threads</a:t>
            </a:r>
            <a:endParaRPr lang="en-US" sz="1200" dirty="0"/>
          </a:p>
        </p:txBody>
      </p:sp>
      <p:sp>
        <p:nvSpPr>
          <p:cNvPr id="43" name="Text 3"/>
          <p:cNvSpPr/>
          <p:nvPr/>
        </p:nvSpPr>
        <p:spPr>
          <a:xfrm>
            <a:off x="628650" y="2247900"/>
            <a:ext cx="321945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Shared memory space between threads for efficient data exchange</a:t>
            </a:r>
            <a:endParaRPr lang="en-US" sz="1200" dirty="0"/>
          </a:p>
        </p:txBody>
      </p:sp>
      <p:sp>
        <p:nvSpPr>
          <p:cNvPr id="44" name="Text 4"/>
          <p:cNvSpPr/>
          <p:nvPr/>
        </p:nvSpPr>
        <p:spPr>
          <a:xfrm>
            <a:off x="685800" y="2895600"/>
            <a:ext cx="31623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Responsiveness in applications with multiple interactive elements</a:t>
            </a:r>
            <a:endParaRPr lang="en-US" sz="1200" dirty="0"/>
          </a:p>
        </p:txBody>
      </p:sp>
      <p:sp>
        <p:nvSpPr>
          <p:cNvPr id="45" name="Text 5"/>
          <p:cNvSpPr/>
          <p:nvPr/>
        </p:nvSpPr>
        <p:spPr>
          <a:xfrm>
            <a:off x="647700" y="3543300"/>
            <a:ext cx="32004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Scalability on multi-core processors through parallel execution</a:t>
            </a:r>
            <a:endParaRPr lang="en-US" sz="1200" dirty="0"/>
          </a:p>
        </p:txBody>
      </p:sp>
      <p:sp>
        <p:nvSpPr>
          <p:cNvPr id="46" name="Text 6"/>
          <p:cNvSpPr/>
          <p:nvPr/>
        </p:nvSpPr>
        <p:spPr>
          <a:xfrm>
            <a:off x="4876800" y="1066800"/>
            <a:ext cx="3162895" cy="266700"/>
          </a:xfrm>
          <a:prstGeom prst="rect">
            <a:avLst/>
          </a:prstGeom>
          <a:noFill/>
          <a:ln/>
        </p:spPr>
        <p:txBody>
          <a:bodyPr wrap="square" lIns="0" tIns="0" rIns="0" bIns="0" rtlCol="0" anchor="t"/>
          <a:lstStyle/>
          <a:p>
            <a:pPr marL="0" indent="0">
              <a:lnSpc>
                <a:spcPts val="2100"/>
              </a:lnSpc>
              <a:buNone/>
            </a:pPr>
            <a:r>
              <a:rPr lang="en-US" sz="1500" b="1" dirty="0">
                <a:solidFill>
                  <a:srgbClr val="DC2626"/>
                </a:solidFill>
                <a:latin typeface="Arial" pitchFamily="34" charset="0"/>
                <a:ea typeface="Arial" pitchFamily="34" charset="-122"/>
                <a:cs typeface="Arial" pitchFamily="34" charset="-120"/>
              </a:rPr>
              <a:t>Challenges: Race Conditions</a:t>
            </a:r>
            <a:endParaRPr lang="en-US" sz="1500" dirty="0"/>
          </a:p>
        </p:txBody>
      </p:sp>
      <p:sp>
        <p:nvSpPr>
          <p:cNvPr id="47" name="Text 7"/>
          <p:cNvSpPr/>
          <p:nvPr/>
        </p:nvSpPr>
        <p:spPr>
          <a:xfrm>
            <a:off x="4610100" y="1600200"/>
            <a:ext cx="32004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Unpredictable execution order leads to inconsistent results</a:t>
            </a:r>
            <a:endParaRPr lang="en-US" sz="1200" dirty="0"/>
          </a:p>
        </p:txBody>
      </p:sp>
      <p:sp>
        <p:nvSpPr>
          <p:cNvPr id="48" name="Text 8"/>
          <p:cNvSpPr/>
          <p:nvPr/>
        </p:nvSpPr>
        <p:spPr>
          <a:xfrm>
            <a:off x="4610100" y="2247900"/>
            <a:ext cx="32004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Difficult to reproduce and debug timing-related issues</a:t>
            </a:r>
            <a:endParaRPr lang="en-US" sz="1200" dirty="0"/>
          </a:p>
        </p:txBody>
      </p:sp>
      <p:sp>
        <p:nvSpPr>
          <p:cNvPr id="49" name="Text 9"/>
          <p:cNvSpPr/>
          <p:nvPr/>
        </p:nvSpPr>
        <p:spPr>
          <a:xfrm>
            <a:off x="4591050" y="2895600"/>
            <a:ext cx="321945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Corrupted shared data when multiple threads access simultaneously</a:t>
            </a:r>
            <a:endParaRPr lang="en-US" sz="1200" dirty="0"/>
          </a:p>
        </p:txBody>
      </p:sp>
      <p:sp>
        <p:nvSpPr>
          <p:cNvPr id="50" name="Text 10"/>
          <p:cNvSpPr/>
          <p:nvPr/>
        </p:nvSpPr>
        <p:spPr>
          <a:xfrm>
            <a:off x="4572000" y="3543300"/>
            <a:ext cx="32385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Deadlocks when threads wait indefinitely for resources</a:t>
            </a:r>
            <a:endParaRPr lang="en-US" sz="1200" dirty="0"/>
          </a:p>
        </p:txBody>
      </p:sp>
      <p:sp>
        <p:nvSpPr>
          <p:cNvPr id="51" name="Text 11"/>
          <p:cNvSpPr/>
          <p:nvPr/>
        </p:nvSpPr>
        <p:spPr>
          <a:xfrm>
            <a:off x="4724400" y="4362450"/>
            <a:ext cx="85350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Question:</a:t>
            </a:r>
            <a:endParaRPr lang="en-US" sz="1200" dirty="0"/>
          </a:p>
        </p:txBody>
      </p:sp>
      <p:sp>
        <p:nvSpPr>
          <p:cNvPr id="52" name="Text 12"/>
          <p:cNvSpPr/>
          <p:nvPr/>
        </p:nvSpPr>
        <p:spPr>
          <a:xfrm>
            <a:off x="4495800" y="4629150"/>
            <a:ext cx="32004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How do synchronization mechanisms prevent race conditions?</a:t>
            </a:r>
            <a:endParaRPr lang="en-US" sz="1200" dirty="0"/>
          </a:p>
        </p:txBody>
      </p:sp>
      <p:sp>
        <p:nvSpPr>
          <p:cNvPr id="53" name="Text 13"/>
          <p:cNvSpPr/>
          <p:nvPr/>
        </p:nvSpPr>
        <p:spPr>
          <a:xfrm>
            <a:off x="8839200" y="1066800"/>
            <a:ext cx="3213795" cy="266700"/>
          </a:xfrm>
          <a:prstGeom prst="rect">
            <a:avLst/>
          </a:prstGeom>
          <a:noFill/>
          <a:ln/>
        </p:spPr>
        <p:txBody>
          <a:bodyPr wrap="square" lIns="0" tIns="0" rIns="0" bIns="0" rtlCol="0" anchor="t"/>
          <a:lstStyle/>
          <a:p>
            <a:pPr marL="0" indent="0">
              <a:lnSpc>
                <a:spcPts val="2100"/>
              </a:lnSpc>
              <a:buNone/>
            </a:pPr>
            <a:r>
              <a:rPr lang="en-US" sz="1500" b="1" dirty="0">
                <a:solidFill>
                  <a:srgbClr val="16A34A"/>
                </a:solidFill>
                <a:latin typeface="Arial" pitchFamily="34" charset="0"/>
                <a:ea typeface="Arial" pitchFamily="34" charset="-122"/>
                <a:cs typeface="Arial" pitchFamily="34" charset="-120"/>
              </a:rPr>
              <a:t>Synchronization Mechanisms</a:t>
            </a:r>
            <a:endParaRPr lang="en-US" sz="1500" dirty="0"/>
          </a:p>
        </p:txBody>
      </p:sp>
      <p:sp>
        <p:nvSpPr>
          <p:cNvPr id="54" name="Text 14"/>
          <p:cNvSpPr/>
          <p:nvPr/>
        </p:nvSpPr>
        <p:spPr>
          <a:xfrm>
            <a:off x="8553450" y="1600200"/>
            <a:ext cx="386334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Mutexes (Mutual Exclusion)</a:t>
            </a:r>
            <a:endParaRPr lang="en-US" sz="1200" dirty="0"/>
          </a:p>
        </p:txBody>
      </p:sp>
      <p:sp>
        <p:nvSpPr>
          <p:cNvPr id="55" name="Text 15"/>
          <p:cNvSpPr/>
          <p:nvPr/>
        </p:nvSpPr>
        <p:spPr>
          <a:xfrm>
            <a:off x="8553450" y="1828800"/>
            <a:ext cx="321945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Binary locks that prevent multiple threads from accessing shared resources simultaneously</a:t>
            </a:r>
            <a:endParaRPr lang="en-US" sz="1050" dirty="0"/>
          </a:p>
        </p:txBody>
      </p:sp>
      <p:sp>
        <p:nvSpPr>
          <p:cNvPr id="56" name="Text 16"/>
          <p:cNvSpPr/>
          <p:nvPr/>
        </p:nvSpPr>
        <p:spPr>
          <a:xfrm>
            <a:off x="8515350" y="2400300"/>
            <a:ext cx="325755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Semaphores</a:t>
            </a:r>
            <a:endParaRPr lang="en-US" sz="1200" dirty="0"/>
          </a:p>
        </p:txBody>
      </p:sp>
      <p:sp>
        <p:nvSpPr>
          <p:cNvPr id="57" name="Text 17"/>
          <p:cNvSpPr/>
          <p:nvPr/>
        </p:nvSpPr>
        <p:spPr>
          <a:xfrm>
            <a:off x="8515350" y="2628900"/>
            <a:ext cx="325755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Integer counters that track resource availability and thread waiting</a:t>
            </a:r>
            <a:endParaRPr lang="en-US" sz="1050" dirty="0"/>
          </a:p>
        </p:txBody>
      </p:sp>
      <p:sp>
        <p:nvSpPr>
          <p:cNvPr id="58" name="Text 18"/>
          <p:cNvSpPr/>
          <p:nvPr/>
        </p:nvSpPr>
        <p:spPr>
          <a:xfrm>
            <a:off x="8572500" y="3200400"/>
            <a:ext cx="320040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Monitors</a:t>
            </a:r>
            <a:endParaRPr lang="en-US" sz="1200" dirty="0"/>
          </a:p>
        </p:txBody>
      </p:sp>
      <p:sp>
        <p:nvSpPr>
          <p:cNvPr id="59" name="Text 19"/>
          <p:cNvSpPr/>
          <p:nvPr/>
        </p:nvSpPr>
        <p:spPr>
          <a:xfrm>
            <a:off x="8572500" y="3429000"/>
            <a:ext cx="320040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Objects that encapsulate both data and synchronization mechanisms</a:t>
            </a:r>
            <a:endParaRPr lang="en-US" sz="1050" dirty="0"/>
          </a:p>
        </p:txBody>
      </p:sp>
      <p:sp>
        <p:nvSpPr>
          <p:cNvPr id="60" name="Text 20"/>
          <p:cNvSpPr/>
          <p:nvPr/>
        </p:nvSpPr>
        <p:spPr>
          <a:xfrm>
            <a:off x="8572500" y="4000500"/>
            <a:ext cx="3200400"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Atomic Operations</a:t>
            </a:r>
            <a:endParaRPr lang="en-US" sz="1200" dirty="0"/>
          </a:p>
        </p:txBody>
      </p:sp>
      <p:sp>
        <p:nvSpPr>
          <p:cNvPr id="61" name="Text 21"/>
          <p:cNvSpPr/>
          <p:nvPr/>
        </p:nvSpPr>
        <p:spPr>
          <a:xfrm>
            <a:off x="8572500" y="4229100"/>
            <a:ext cx="320040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Indivisible instructions that complete without interruption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962775"/>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304800" y="895350"/>
            <a:ext cx="5676900" cy="5762625"/>
          </a:xfrm>
          <a:prstGeom prst="rect">
            <a:avLst/>
          </a:prstGeom>
        </p:spPr>
      </p:pic>
      <p:pic>
        <p:nvPicPr>
          <p:cNvPr id="5" name="Image 3" descr="preencoded.png"/>
          <p:cNvPicPr>
            <a:picLocks noChangeAspect="1"/>
          </p:cNvPicPr>
          <p:nvPr/>
        </p:nvPicPr>
        <p:blipFill>
          <a:blip r:embed="rId6"/>
          <a:stretch>
            <a:fillRect/>
          </a:stretch>
        </p:blipFill>
        <p:spPr>
          <a:xfrm>
            <a:off x="495300" y="1085850"/>
            <a:ext cx="476250" cy="476250"/>
          </a:xfrm>
          <a:prstGeom prst="rect">
            <a:avLst/>
          </a:prstGeom>
        </p:spPr>
      </p:pic>
      <p:pic>
        <p:nvPicPr>
          <p:cNvPr id="6" name="Image 4" descr="preencoded.png"/>
          <p:cNvPicPr>
            <a:picLocks noChangeAspect="1"/>
          </p:cNvPicPr>
          <p:nvPr/>
        </p:nvPicPr>
        <p:blipFill>
          <a:blip r:embed="rId7"/>
          <a:stretch>
            <a:fillRect/>
          </a:stretch>
        </p:blipFill>
        <p:spPr>
          <a:xfrm>
            <a:off x="590550" y="1171575"/>
            <a:ext cx="285750" cy="304800"/>
          </a:xfrm>
          <a:prstGeom prst="rect">
            <a:avLst/>
          </a:prstGeom>
        </p:spPr>
      </p:pic>
      <p:pic>
        <p:nvPicPr>
          <p:cNvPr id="7" name="Image 5" descr="preencoded.png"/>
          <p:cNvPicPr>
            <a:picLocks noChangeAspect="1"/>
          </p:cNvPicPr>
          <p:nvPr/>
        </p:nvPicPr>
        <p:blipFill>
          <a:blip r:embed="rId8"/>
          <a:stretch>
            <a:fillRect/>
          </a:stretch>
        </p:blipFill>
        <p:spPr>
          <a:xfrm>
            <a:off x="495300" y="2314575"/>
            <a:ext cx="5295900" cy="1066800"/>
          </a:xfrm>
          <a:prstGeom prst="rect">
            <a:avLst/>
          </a:prstGeom>
        </p:spPr>
      </p:pic>
      <p:pic>
        <p:nvPicPr>
          <p:cNvPr id="8" name="Image 6" descr="preencoded.png"/>
          <p:cNvPicPr>
            <a:picLocks noChangeAspect="1"/>
          </p:cNvPicPr>
          <p:nvPr/>
        </p:nvPicPr>
        <p:blipFill>
          <a:blip r:embed="rId9"/>
          <a:stretch>
            <a:fillRect/>
          </a:stretch>
        </p:blipFill>
        <p:spPr>
          <a:xfrm>
            <a:off x="638175" y="2657475"/>
            <a:ext cx="185589" cy="381000"/>
          </a:xfrm>
          <a:prstGeom prst="rect">
            <a:avLst/>
          </a:prstGeom>
        </p:spPr>
      </p:pic>
      <p:pic>
        <p:nvPicPr>
          <p:cNvPr id="9" name="Image 7" descr="preencoded.png"/>
          <p:cNvPicPr>
            <a:picLocks noChangeAspect="1"/>
          </p:cNvPicPr>
          <p:nvPr/>
        </p:nvPicPr>
        <p:blipFill>
          <a:blip r:embed="rId10"/>
          <a:stretch>
            <a:fillRect/>
          </a:stretch>
        </p:blipFill>
        <p:spPr>
          <a:xfrm>
            <a:off x="654695" y="2771775"/>
            <a:ext cx="152400" cy="152400"/>
          </a:xfrm>
          <a:prstGeom prst="rect">
            <a:avLst/>
          </a:prstGeom>
        </p:spPr>
      </p:pic>
      <p:pic>
        <p:nvPicPr>
          <p:cNvPr id="10" name="Image 8" descr="preencoded.png"/>
          <p:cNvPicPr>
            <a:picLocks noChangeAspect="1"/>
          </p:cNvPicPr>
          <p:nvPr/>
        </p:nvPicPr>
        <p:blipFill>
          <a:blip r:embed="rId11"/>
          <a:stretch>
            <a:fillRect/>
          </a:stretch>
        </p:blipFill>
        <p:spPr>
          <a:xfrm>
            <a:off x="495300" y="3495675"/>
            <a:ext cx="5295900" cy="876300"/>
          </a:xfrm>
          <a:prstGeom prst="rect">
            <a:avLst/>
          </a:prstGeom>
        </p:spPr>
      </p:pic>
      <p:pic>
        <p:nvPicPr>
          <p:cNvPr id="11" name="Image 9" descr="preencoded.png"/>
          <p:cNvPicPr>
            <a:picLocks noChangeAspect="1"/>
          </p:cNvPicPr>
          <p:nvPr/>
        </p:nvPicPr>
        <p:blipFill>
          <a:blip r:embed="rId12"/>
          <a:stretch>
            <a:fillRect/>
          </a:stretch>
        </p:blipFill>
        <p:spPr>
          <a:xfrm>
            <a:off x="638175" y="3743325"/>
            <a:ext cx="314474" cy="381000"/>
          </a:xfrm>
          <a:prstGeom prst="rect">
            <a:avLst/>
          </a:prstGeom>
        </p:spPr>
      </p:pic>
      <p:pic>
        <p:nvPicPr>
          <p:cNvPr id="12" name="Image 10" descr="preencoded.png"/>
          <p:cNvPicPr>
            <a:picLocks noChangeAspect="1"/>
          </p:cNvPicPr>
          <p:nvPr/>
        </p:nvPicPr>
        <p:blipFill>
          <a:blip r:embed="rId13"/>
          <a:stretch>
            <a:fillRect/>
          </a:stretch>
        </p:blipFill>
        <p:spPr>
          <a:xfrm>
            <a:off x="738188" y="3857625"/>
            <a:ext cx="114300" cy="152400"/>
          </a:xfrm>
          <a:prstGeom prst="rect">
            <a:avLst/>
          </a:prstGeom>
        </p:spPr>
      </p:pic>
      <p:pic>
        <p:nvPicPr>
          <p:cNvPr id="13" name="Image 11" descr="preencoded.png"/>
          <p:cNvPicPr>
            <a:picLocks noChangeAspect="1"/>
          </p:cNvPicPr>
          <p:nvPr/>
        </p:nvPicPr>
        <p:blipFill>
          <a:blip r:embed="rId11"/>
          <a:stretch>
            <a:fillRect/>
          </a:stretch>
        </p:blipFill>
        <p:spPr>
          <a:xfrm>
            <a:off x="495300" y="4486275"/>
            <a:ext cx="5295900" cy="876300"/>
          </a:xfrm>
          <a:prstGeom prst="rect">
            <a:avLst/>
          </a:prstGeom>
        </p:spPr>
      </p:pic>
      <p:pic>
        <p:nvPicPr>
          <p:cNvPr id="14" name="Image 12" descr="preencoded.png"/>
          <p:cNvPicPr>
            <a:picLocks noChangeAspect="1"/>
          </p:cNvPicPr>
          <p:nvPr/>
        </p:nvPicPr>
        <p:blipFill>
          <a:blip r:embed="rId14"/>
          <a:stretch>
            <a:fillRect/>
          </a:stretch>
        </p:blipFill>
        <p:spPr>
          <a:xfrm>
            <a:off x="638175" y="4733925"/>
            <a:ext cx="246608" cy="381000"/>
          </a:xfrm>
          <a:prstGeom prst="rect">
            <a:avLst/>
          </a:prstGeom>
        </p:spPr>
      </p:pic>
      <p:pic>
        <p:nvPicPr>
          <p:cNvPr id="15" name="Image 13" descr="preencoded.png"/>
          <p:cNvPicPr>
            <a:picLocks noChangeAspect="1"/>
          </p:cNvPicPr>
          <p:nvPr/>
        </p:nvPicPr>
        <p:blipFill>
          <a:blip r:embed="rId15"/>
          <a:stretch>
            <a:fillRect/>
          </a:stretch>
        </p:blipFill>
        <p:spPr>
          <a:xfrm>
            <a:off x="685205" y="4848225"/>
            <a:ext cx="152400" cy="152400"/>
          </a:xfrm>
          <a:prstGeom prst="rect">
            <a:avLst/>
          </a:prstGeom>
        </p:spPr>
      </p:pic>
      <p:pic>
        <p:nvPicPr>
          <p:cNvPr id="16" name="Image 14" descr="preencoded.png"/>
          <p:cNvPicPr>
            <a:picLocks noChangeAspect="1"/>
          </p:cNvPicPr>
          <p:nvPr/>
        </p:nvPicPr>
        <p:blipFill>
          <a:blip r:embed="rId11"/>
          <a:stretch>
            <a:fillRect/>
          </a:stretch>
        </p:blipFill>
        <p:spPr>
          <a:xfrm>
            <a:off x="495300" y="5476875"/>
            <a:ext cx="5295900" cy="876300"/>
          </a:xfrm>
          <a:prstGeom prst="rect">
            <a:avLst/>
          </a:prstGeom>
        </p:spPr>
      </p:pic>
      <p:pic>
        <p:nvPicPr>
          <p:cNvPr id="17" name="Image 15" descr="preencoded.png"/>
          <p:cNvPicPr>
            <a:picLocks noChangeAspect="1"/>
          </p:cNvPicPr>
          <p:nvPr/>
        </p:nvPicPr>
        <p:blipFill>
          <a:blip r:embed="rId16"/>
          <a:stretch>
            <a:fillRect/>
          </a:stretch>
        </p:blipFill>
        <p:spPr>
          <a:xfrm>
            <a:off x="638175" y="5724525"/>
            <a:ext cx="371326" cy="381000"/>
          </a:xfrm>
          <a:prstGeom prst="rect">
            <a:avLst/>
          </a:prstGeom>
        </p:spPr>
      </p:pic>
      <p:pic>
        <p:nvPicPr>
          <p:cNvPr id="18" name="Image 16" descr="preencoded.png"/>
          <p:cNvPicPr>
            <a:picLocks noChangeAspect="1"/>
          </p:cNvPicPr>
          <p:nvPr/>
        </p:nvPicPr>
        <p:blipFill>
          <a:blip r:embed="rId17"/>
          <a:stretch>
            <a:fillRect/>
          </a:stretch>
        </p:blipFill>
        <p:spPr>
          <a:xfrm>
            <a:off x="757089" y="5838825"/>
            <a:ext cx="133350" cy="152400"/>
          </a:xfrm>
          <a:prstGeom prst="rect">
            <a:avLst/>
          </a:prstGeom>
        </p:spPr>
      </p:pic>
      <p:pic>
        <p:nvPicPr>
          <p:cNvPr id="19" name="Image 17" descr="preencoded.png"/>
          <p:cNvPicPr>
            <a:picLocks noChangeAspect="1"/>
          </p:cNvPicPr>
          <p:nvPr/>
        </p:nvPicPr>
        <p:blipFill>
          <a:blip r:embed="rId5"/>
          <a:stretch>
            <a:fillRect/>
          </a:stretch>
        </p:blipFill>
        <p:spPr>
          <a:xfrm>
            <a:off x="6210300" y="895350"/>
            <a:ext cx="5676900" cy="5762625"/>
          </a:xfrm>
          <a:prstGeom prst="rect">
            <a:avLst/>
          </a:prstGeom>
        </p:spPr>
      </p:pic>
      <p:pic>
        <p:nvPicPr>
          <p:cNvPr id="20" name="Image 18" descr="preencoded.png"/>
          <p:cNvPicPr>
            <a:picLocks noChangeAspect="1"/>
          </p:cNvPicPr>
          <p:nvPr/>
        </p:nvPicPr>
        <p:blipFill>
          <a:blip r:embed="rId18"/>
          <a:stretch>
            <a:fillRect/>
          </a:stretch>
        </p:blipFill>
        <p:spPr>
          <a:xfrm>
            <a:off x="6400800" y="1085850"/>
            <a:ext cx="476250" cy="476250"/>
          </a:xfrm>
          <a:prstGeom prst="rect">
            <a:avLst/>
          </a:prstGeom>
        </p:spPr>
      </p:pic>
      <p:pic>
        <p:nvPicPr>
          <p:cNvPr id="21" name="Image 19" descr="preencoded.png"/>
          <p:cNvPicPr>
            <a:picLocks noChangeAspect="1"/>
          </p:cNvPicPr>
          <p:nvPr/>
        </p:nvPicPr>
        <p:blipFill>
          <a:blip r:embed="rId19"/>
          <a:stretch>
            <a:fillRect/>
          </a:stretch>
        </p:blipFill>
        <p:spPr>
          <a:xfrm>
            <a:off x="6524625" y="1171575"/>
            <a:ext cx="228600" cy="304800"/>
          </a:xfrm>
          <a:prstGeom prst="rect">
            <a:avLst/>
          </a:prstGeom>
        </p:spPr>
      </p:pic>
      <p:pic>
        <p:nvPicPr>
          <p:cNvPr id="22" name="Image 20" descr="preencoded.png"/>
          <p:cNvPicPr>
            <a:picLocks noChangeAspect="1"/>
          </p:cNvPicPr>
          <p:nvPr/>
        </p:nvPicPr>
        <p:blipFill>
          <a:blip r:embed="rId20"/>
          <a:stretch>
            <a:fillRect/>
          </a:stretch>
        </p:blipFill>
        <p:spPr>
          <a:xfrm>
            <a:off x="6400800" y="2314575"/>
            <a:ext cx="5295900" cy="876300"/>
          </a:xfrm>
          <a:prstGeom prst="rect">
            <a:avLst/>
          </a:prstGeom>
        </p:spPr>
      </p:pic>
      <p:pic>
        <p:nvPicPr>
          <p:cNvPr id="23" name="Image 21" descr="preencoded.png"/>
          <p:cNvPicPr>
            <a:picLocks noChangeAspect="1"/>
          </p:cNvPicPr>
          <p:nvPr/>
        </p:nvPicPr>
        <p:blipFill>
          <a:blip r:embed="rId21"/>
          <a:stretch>
            <a:fillRect/>
          </a:stretch>
        </p:blipFill>
        <p:spPr>
          <a:xfrm>
            <a:off x="6543675" y="2562225"/>
            <a:ext cx="311348" cy="381000"/>
          </a:xfrm>
          <a:prstGeom prst="rect">
            <a:avLst/>
          </a:prstGeom>
        </p:spPr>
      </p:pic>
      <p:pic>
        <p:nvPicPr>
          <p:cNvPr id="24" name="Image 22" descr="preencoded.png"/>
          <p:cNvPicPr>
            <a:picLocks noChangeAspect="1"/>
          </p:cNvPicPr>
          <p:nvPr/>
        </p:nvPicPr>
        <p:blipFill>
          <a:blip r:embed="rId22"/>
          <a:stretch>
            <a:fillRect/>
          </a:stretch>
        </p:blipFill>
        <p:spPr>
          <a:xfrm>
            <a:off x="6623149" y="2676525"/>
            <a:ext cx="152400" cy="152400"/>
          </a:xfrm>
          <a:prstGeom prst="rect">
            <a:avLst/>
          </a:prstGeom>
        </p:spPr>
      </p:pic>
      <p:pic>
        <p:nvPicPr>
          <p:cNvPr id="25" name="Image 23" descr="preencoded.png"/>
          <p:cNvPicPr>
            <a:picLocks noChangeAspect="1"/>
          </p:cNvPicPr>
          <p:nvPr/>
        </p:nvPicPr>
        <p:blipFill>
          <a:blip r:embed="rId20"/>
          <a:stretch>
            <a:fillRect/>
          </a:stretch>
        </p:blipFill>
        <p:spPr>
          <a:xfrm>
            <a:off x="6400800" y="3305175"/>
            <a:ext cx="5295900" cy="876300"/>
          </a:xfrm>
          <a:prstGeom prst="rect">
            <a:avLst/>
          </a:prstGeom>
        </p:spPr>
      </p:pic>
      <p:pic>
        <p:nvPicPr>
          <p:cNvPr id="26" name="Image 24" descr="preencoded.png"/>
          <p:cNvPicPr>
            <a:picLocks noChangeAspect="1"/>
          </p:cNvPicPr>
          <p:nvPr/>
        </p:nvPicPr>
        <p:blipFill>
          <a:blip r:embed="rId23"/>
          <a:stretch>
            <a:fillRect/>
          </a:stretch>
        </p:blipFill>
        <p:spPr>
          <a:xfrm>
            <a:off x="6543675" y="3552825"/>
            <a:ext cx="256431" cy="381000"/>
          </a:xfrm>
          <a:prstGeom prst="rect">
            <a:avLst/>
          </a:prstGeom>
        </p:spPr>
      </p:pic>
      <p:pic>
        <p:nvPicPr>
          <p:cNvPr id="27" name="Image 25" descr="preencoded.png"/>
          <p:cNvPicPr>
            <a:picLocks noChangeAspect="1"/>
          </p:cNvPicPr>
          <p:nvPr/>
        </p:nvPicPr>
        <p:blipFill>
          <a:blip r:embed="rId24"/>
          <a:stretch>
            <a:fillRect/>
          </a:stretch>
        </p:blipFill>
        <p:spPr>
          <a:xfrm>
            <a:off x="6586091" y="3667125"/>
            <a:ext cx="171450" cy="152400"/>
          </a:xfrm>
          <a:prstGeom prst="rect">
            <a:avLst/>
          </a:prstGeom>
        </p:spPr>
      </p:pic>
      <p:pic>
        <p:nvPicPr>
          <p:cNvPr id="28" name="Image 26" descr="preencoded.png"/>
          <p:cNvPicPr>
            <a:picLocks noChangeAspect="1"/>
          </p:cNvPicPr>
          <p:nvPr/>
        </p:nvPicPr>
        <p:blipFill>
          <a:blip r:embed="rId25"/>
          <a:stretch>
            <a:fillRect/>
          </a:stretch>
        </p:blipFill>
        <p:spPr>
          <a:xfrm>
            <a:off x="6400800" y="4295775"/>
            <a:ext cx="5295900" cy="1066800"/>
          </a:xfrm>
          <a:prstGeom prst="rect">
            <a:avLst/>
          </a:prstGeom>
        </p:spPr>
      </p:pic>
      <p:pic>
        <p:nvPicPr>
          <p:cNvPr id="29" name="Image 27" descr="preencoded.png"/>
          <p:cNvPicPr>
            <a:picLocks noChangeAspect="1"/>
          </p:cNvPicPr>
          <p:nvPr/>
        </p:nvPicPr>
        <p:blipFill>
          <a:blip r:embed="rId26"/>
          <a:stretch>
            <a:fillRect/>
          </a:stretch>
        </p:blipFill>
        <p:spPr>
          <a:xfrm>
            <a:off x="6543675" y="4638675"/>
            <a:ext cx="191691" cy="381000"/>
          </a:xfrm>
          <a:prstGeom prst="rect">
            <a:avLst/>
          </a:prstGeom>
        </p:spPr>
      </p:pic>
      <p:pic>
        <p:nvPicPr>
          <p:cNvPr id="30" name="Image 28" descr="preencoded.png"/>
          <p:cNvPicPr>
            <a:picLocks noChangeAspect="1"/>
          </p:cNvPicPr>
          <p:nvPr/>
        </p:nvPicPr>
        <p:blipFill>
          <a:blip r:embed="rId27"/>
          <a:stretch>
            <a:fillRect/>
          </a:stretch>
        </p:blipFill>
        <p:spPr>
          <a:xfrm>
            <a:off x="6563320" y="4752975"/>
            <a:ext cx="152400" cy="152400"/>
          </a:xfrm>
          <a:prstGeom prst="rect">
            <a:avLst/>
          </a:prstGeom>
        </p:spPr>
      </p:pic>
      <p:pic>
        <p:nvPicPr>
          <p:cNvPr id="31" name="Image 29" descr="preencoded.png"/>
          <p:cNvPicPr>
            <a:picLocks noChangeAspect="1"/>
          </p:cNvPicPr>
          <p:nvPr/>
        </p:nvPicPr>
        <p:blipFill>
          <a:blip r:embed="rId20"/>
          <a:stretch>
            <a:fillRect/>
          </a:stretch>
        </p:blipFill>
        <p:spPr>
          <a:xfrm>
            <a:off x="6400800" y="5476875"/>
            <a:ext cx="5295900" cy="876300"/>
          </a:xfrm>
          <a:prstGeom prst="rect">
            <a:avLst/>
          </a:prstGeom>
        </p:spPr>
      </p:pic>
      <p:pic>
        <p:nvPicPr>
          <p:cNvPr id="32" name="Image 30" descr="preencoded.png"/>
          <p:cNvPicPr>
            <a:picLocks noChangeAspect="1"/>
          </p:cNvPicPr>
          <p:nvPr/>
        </p:nvPicPr>
        <p:blipFill>
          <a:blip r:embed="rId28"/>
          <a:stretch>
            <a:fillRect/>
          </a:stretch>
        </p:blipFill>
        <p:spPr>
          <a:xfrm>
            <a:off x="6543675" y="5724525"/>
            <a:ext cx="267891" cy="381000"/>
          </a:xfrm>
          <a:prstGeom prst="rect">
            <a:avLst/>
          </a:prstGeom>
        </p:spPr>
      </p:pic>
      <p:pic>
        <p:nvPicPr>
          <p:cNvPr id="33" name="Image 31" descr="preencoded.png"/>
          <p:cNvPicPr>
            <a:picLocks noChangeAspect="1"/>
          </p:cNvPicPr>
          <p:nvPr/>
        </p:nvPicPr>
        <p:blipFill>
          <a:blip r:embed="rId29"/>
          <a:stretch>
            <a:fillRect/>
          </a:stretch>
        </p:blipFill>
        <p:spPr>
          <a:xfrm>
            <a:off x="6591895" y="5838825"/>
            <a:ext cx="171450" cy="152400"/>
          </a:xfrm>
          <a:prstGeom prst="rect">
            <a:avLst/>
          </a:prstGeom>
        </p:spPr>
      </p:pic>
      <p:sp>
        <p:nvSpPr>
          <p:cNvPr id="34" name="Text 0"/>
          <p:cNvSpPr/>
          <p:nvPr/>
        </p:nvSpPr>
        <p:spPr>
          <a:xfrm>
            <a:off x="285750" y="142875"/>
            <a:ext cx="3963888"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Performance Metrics and KPIs</a:t>
            </a:r>
            <a:endParaRPr lang="en-US" sz="1800" dirty="0"/>
          </a:p>
        </p:txBody>
      </p:sp>
      <p:sp>
        <p:nvSpPr>
          <p:cNvPr id="35" name="Text 1"/>
          <p:cNvSpPr/>
          <p:nvPr/>
        </p:nvSpPr>
        <p:spPr>
          <a:xfrm>
            <a:off x="1114425" y="1190625"/>
            <a:ext cx="3519011" cy="266700"/>
          </a:xfrm>
          <a:prstGeom prst="rect">
            <a:avLst/>
          </a:prstGeom>
          <a:noFill/>
          <a:ln/>
        </p:spPr>
        <p:txBody>
          <a:bodyPr wrap="square" lIns="0" tIns="0" rIns="0" bIns="0" rtlCol="0" anchor="t"/>
          <a:lstStyle/>
          <a:p>
            <a:pPr marL="0" indent="0">
              <a:lnSpc>
                <a:spcPts val="2100"/>
              </a:lnSpc>
              <a:buNone/>
            </a:pPr>
            <a:r>
              <a:rPr lang="en-US" sz="1500" b="1" dirty="0">
                <a:solidFill>
                  <a:srgbClr val="6B21A8"/>
                </a:solidFill>
                <a:latin typeface="Arial" pitchFamily="34" charset="0"/>
                <a:ea typeface="Arial" pitchFamily="34" charset="-122"/>
                <a:cs typeface="Arial" pitchFamily="34" charset="-120"/>
              </a:rPr>
              <a:t>Client-Side Performance Metrics</a:t>
            </a:r>
            <a:endParaRPr lang="en-US" sz="1500" dirty="0"/>
          </a:p>
        </p:txBody>
      </p:sp>
      <p:sp>
        <p:nvSpPr>
          <p:cNvPr id="36" name="Text 2"/>
          <p:cNvSpPr/>
          <p:nvPr/>
        </p:nvSpPr>
        <p:spPr>
          <a:xfrm>
            <a:off x="495300" y="1704975"/>
            <a:ext cx="52959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These metrics focus on the user's experience and how quickly a web page or application loads and becomes interactive.</a:t>
            </a:r>
            <a:endParaRPr lang="en-US" sz="1200" dirty="0"/>
          </a:p>
        </p:txBody>
      </p:sp>
      <p:sp>
        <p:nvSpPr>
          <p:cNvPr id="37" name="Text 3"/>
          <p:cNvSpPr/>
          <p:nvPr/>
        </p:nvSpPr>
        <p:spPr>
          <a:xfrm>
            <a:off x="938064" y="2428875"/>
            <a:ext cx="4710261" cy="228600"/>
          </a:xfrm>
          <a:prstGeom prst="rect">
            <a:avLst/>
          </a:prstGeom>
          <a:noFill/>
          <a:ln/>
        </p:spPr>
        <p:txBody>
          <a:bodyPr wrap="square" lIns="0" tIns="0" rIns="0" bIns="0" rtlCol="0" anchor="t"/>
          <a:lstStyle/>
          <a:p>
            <a:pPr marL="0" indent="0">
              <a:lnSpc>
                <a:spcPts val="1800"/>
              </a:lnSpc>
              <a:buNone/>
            </a:pPr>
            <a:r>
              <a:rPr lang="en-US" sz="1200" b="1" dirty="0">
                <a:solidFill>
                  <a:srgbClr val="7E22CE"/>
                </a:solidFill>
                <a:latin typeface="Arial" pitchFamily="34" charset="0"/>
                <a:ea typeface="Arial" pitchFamily="34" charset="-122"/>
                <a:cs typeface="Arial" pitchFamily="34" charset="-120"/>
              </a:rPr>
              <a:t>Response Time</a:t>
            </a:r>
            <a:endParaRPr lang="en-US" sz="1200" dirty="0"/>
          </a:p>
        </p:txBody>
      </p:sp>
      <p:sp>
        <p:nvSpPr>
          <p:cNvPr id="38" name="Text 4"/>
          <p:cNvSpPr/>
          <p:nvPr/>
        </p:nvSpPr>
        <p:spPr>
          <a:xfrm>
            <a:off x="938064" y="2695575"/>
            <a:ext cx="4710261" cy="571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Measures how quickly the system responds to a user request. Includes minimum, maximum, and average response times, and the 90th percentile to identify delays.</a:t>
            </a:r>
            <a:endParaRPr lang="en-US" sz="1050" dirty="0"/>
          </a:p>
        </p:txBody>
      </p:sp>
      <p:sp>
        <p:nvSpPr>
          <p:cNvPr id="39" name="Text 5"/>
          <p:cNvSpPr/>
          <p:nvPr/>
        </p:nvSpPr>
        <p:spPr>
          <a:xfrm>
            <a:off x="1066949" y="3609975"/>
            <a:ext cx="4581376" cy="228600"/>
          </a:xfrm>
          <a:prstGeom prst="rect">
            <a:avLst/>
          </a:prstGeom>
          <a:noFill/>
          <a:ln/>
        </p:spPr>
        <p:txBody>
          <a:bodyPr wrap="square" lIns="0" tIns="0" rIns="0" bIns="0" rtlCol="0" anchor="t"/>
          <a:lstStyle/>
          <a:p>
            <a:pPr marL="0" indent="0">
              <a:lnSpc>
                <a:spcPts val="1800"/>
              </a:lnSpc>
              <a:buNone/>
            </a:pPr>
            <a:r>
              <a:rPr lang="en-US" sz="1200" b="1" dirty="0">
                <a:solidFill>
                  <a:srgbClr val="7E22CE"/>
                </a:solidFill>
                <a:latin typeface="Arial" pitchFamily="34" charset="0"/>
                <a:ea typeface="Arial" pitchFamily="34" charset="-122"/>
                <a:cs typeface="Arial" pitchFamily="34" charset="-120"/>
              </a:rPr>
              <a:t>Load Time</a:t>
            </a:r>
            <a:endParaRPr lang="en-US" sz="1200" dirty="0"/>
          </a:p>
        </p:txBody>
      </p:sp>
      <p:sp>
        <p:nvSpPr>
          <p:cNvPr id="40" name="Text 6"/>
          <p:cNvSpPr/>
          <p:nvPr/>
        </p:nvSpPr>
        <p:spPr>
          <a:xfrm>
            <a:off x="1066949" y="3876675"/>
            <a:ext cx="4581376"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The total time it takes for a web page or application to load completely, including all resources.</a:t>
            </a:r>
            <a:endParaRPr lang="en-US" sz="1050" dirty="0"/>
          </a:p>
        </p:txBody>
      </p:sp>
      <p:sp>
        <p:nvSpPr>
          <p:cNvPr id="41" name="Text 7"/>
          <p:cNvSpPr/>
          <p:nvPr/>
        </p:nvSpPr>
        <p:spPr>
          <a:xfrm>
            <a:off x="999083" y="4600575"/>
            <a:ext cx="4649242" cy="228600"/>
          </a:xfrm>
          <a:prstGeom prst="rect">
            <a:avLst/>
          </a:prstGeom>
          <a:noFill/>
          <a:ln/>
        </p:spPr>
        <p:txBody>
          <a:bodyPr wrap="square" lIns="0" tIns="0" rIns="0" bIns="0" rtlCol="0" anchor="t"/>
          <a:lstStyle/>
          <a:p>
            <a:pPr marL="0" indent="0">
              <a:lnSpc>
                <a:spcPts val="1800"/>
              </a:lnSpc>
              <a:buNone/>
            </a:pPr>
            <a:r>
              <a:rPr lang="en-US" sz="1200" b="1" dirty="0">
                <a:solidFill>
                  <a:srgbClr val="7E22CE"/>
                </a:solidFill>
                <a:latin typeface="Arial" pitchFamily="34" charset="0"/>
                <a:ea typeface="Arial" pitchFamily="34" charset="-122"/>
                <a:cs typeface="Arial" pitchFamily="34" charset="-120"/>
              </a:rPr>
              <a:t>Time to First Byte (TTFB)</a:t>
            </a:r>
            <a:endParaRPr lang="en-US" sz="1200" dirty="0"/>
          </a:p>
        </p:txBody>
      </p:sp>
      <p:sp>
        <p:nvSpPr>
          <p:cNvPr id="42" name="Text 8"/>
          <p:cNvSpPr/>
          <p:nvPr/>
        </p:nvSpPr>
        <p:spPr>
          <a:xfrm>
            <a:off x="999083" y="4867275"/>
            <a:ext cx="4649242"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Measures the time taken for the browser to receive the first byte of data from the server, indicating server responsiveness.</a:t>
            </a:r>
            <a:endParaRPr lang="en-US" sz="1050" dirty="0"/>
          </a:p>
        </p:txBody>
      </p:sp>
      <p:sp>
        <p:nvSpPr>
          <p:cNvPr id="43" name="Text 9"/>
          <p:cNvSpPr/>
          <p:nvPr/>
        </p:nvSpPr>
        <p:spPr>
          <a:xfrm>
            <a:off x="1123801" y="5591175"/>
            <a:ext cx="4524524" cy="228600"/>
          </a:xfrm>
          <a:prstGeom prst="rect">
            <a:avLst/>
          </a:prstGeom>
          <a:noFill/>
          <a:ln/>
        </p:spPr>
        <p:txBody>
          <a:bodyPr wrap="square" lIns="0" tIns="0" rIns="0" bIns="0" rtlCol="0" anchor="t"/>
          <a:lstStyle/>
          <a:p>
            <a:pPr marL="0" indent="0">
              <a:lnSpc>
                <a:spcPts val="1800"/>
              </a:lnSpc>
              <a:buNone/>
            </a:pPr>
            <a:r>
              <a:rPr lang="en-US" sz="1200" b="1" dirty="0">
                <a:solidFill>
                  <a:srgbClr val="7E22CE"/>
                </a:solidFill>
                <a:latin typeface="Arial" pitchFamily="34" charset="0"/>
                <a:ea typeface="Arial" pitchFamily="34" charset="-122"/>
                <a:cs typeface="Arial" pitchFamily="34" charset="-120"/>
              </a:rPr>
              <a:t>Time to Interact</a:t>
            </a:r>
            <a:endParaRPr lang="en-US" sz="1200" dirty="0"/>
          </a:p>
        </p:txBody>
      </p:sp>
      <p:sp>
        <p:nvSpPr>
          <p:cNvPr id="44" name="Text 10"/>
          <p:cNvSpPr/>
          <p:nvPr/>
        </p:nvSpPr>
        <p:spPr>
          <a:xfrm>
            <a:off x="1123801" y="5857875"/>
            <a:ext cx="4524524"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Tracks how quickly a user can interact with the web page after it starts loading.</a:t>
            </a:r>
            <a:endParaRPr lang="en-US" sz="1050" dirty="0"/>
          </a:p>
        </p:txBody>
      </p:sp>
      <p:sp>
        <p:nvSpPr>
          <p:cNvPr id="45" name="Text 11"/>
          <p:cNvSpPr/>
          <p:nvPr/>
        </p:nvSpPr>
        <p:spPr>
          <a:xfrm>
            <a:off x="7019925" y="1190625"/>
            <a:ext cx="3595807" cy="266700"/>
          </a:xfrm>
          <a:prstGeom prst="rect">
            <a:avLst/>
          </a:prstGeom>
          <a:noFill/>
          <a:ln/>
        </p:spPr>
        <p:txBody>
          <a:bodyPr wrap="square" lIns="0" tIns="0" rIns="0" bIns="0" rtlCol="0" anchor="t"/>
          <a:lstStyle/>
          <a:p>
            <a:pPr marL="0" indent="0">
              <a:lnSpc>
                <a:spcPts val="2100"/>
              </a:lnSpc>
              <a:buNone/>
            </a:pPr>
            <a:r>
              <a:rPr lang="en-US" sz="1500" b="1" dirty="0">
                <a:solidFill>
                  <a:srgbClr val="991B1B"/>
                </a:solidFill>
                <a:latin typeface="Arial" pitchFamily="34" charset="0"/>
                <a:ea typeface="Arial" pitchFamily="34" charset="-122"/>
                <a:cs typeface="Arial" pitchFamily="34" charset="-120"/>
              </a:rPr>
              <a:t>Server-Side Performance Metrics</a:t>
            </a:r>
            <a:endParaRPr lang="en-US" sz="1500" dirty="0"/>
          </a:p>
        </p:txBody>
      </p:sp>
      <p:sp>
        <p:nvSpPr>
          <p:cNvPr id="46" name="Text 12"/>
          <p:cNvSpPr/>
          <p:nvPr/>
        </p:nvSpPr>
        <p:spPr>
          <a:xfrm>
            <a:off x="6400800" y="1704975"/>
            <a:ext cx="5295900" cy="4572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These metrics assess the server's ability to handle requests and manage resources.</a:t>
            </a:r>
            <a:endParaRPr lang="en-US" sz="1200" dirty="0"/>
          </a:p>
        </p:txBody>
      </p:sp>
      <p:sp>
        <p:nvSpPr>
          <p:cNvPr id="47" name="Text 13"/>
          <p:cNvSpPr/>
          <p:nvPr/>
        </p:nvSpPr>
        <p:spPr>
          <a:xfrm>
            <a:off x="6969323" y="2428875"/>
            <a:ext cx="4584502" cy="228600"/>
          </a:xfrm>
          <a:prstGeom prst="rect">
            <a:avLst/>
          </a:prstGeom>
          <a:noFill/>
          <a:ln/>
        </p:spPr>
        <p:txBody>
          <a:bodyPr wrap="square" lIns="0" tIns="0" rIns="0" bIns="0" rtlCol="0" anchor="t"/>
          <a:lstStyle/>
          <a:p>
            <a:pPr marL="0" indent="0">
              <a:lnSpc>
                <a:spcPts val="1800"/>
              </a:lnSpc>
              <a:buNone/>
            </a:pPr>
            <a:r>
              <a:rPr lang="en-US" sz="1200" b="1" dirty="0">
                <a:solidFill>
                  <a:srgbClr val="B91C1C"/>
                </a:solidFill>
                <a:latin typeface="Arial" pitchFamily="34" charset="0"/>
                <a:ea typeface="Arial" pitchFamily="34" charset="-122"/>
                <a:cs typeface="Arial" pitchFamily="34" charset="-120"/>
              </a:rPr>
              <a:t>CPU Utilization</a:t>
            </a:r>
            <a:endParaRPr lang="en-US" sz="1200" dirty="0"/>
          </a:p>
        </p:txBody>
      </p:sp>
      <p:sp>
        <p:nvSpPr>
          <p:cNvPr id="48" name="Text 14"/>
          <p:cNvSpPr/>
          <p:nvPr/>
        </p:nvSpPr>
        <p:spPr>
          <a:xfrm>
            <a:off x="6969323" y="2695575"/>
            <a:ext cx="4584502"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The percentage of CPU capacity being used. High utilization can indicate resource bottlenecks.</a:t>
            </a:r>
            <a:endParaRPr lang="en-US" sz="1050" dirty="0"/>
          </a:p>
        </p:txBody>
      </p:sp>
      <p:sp>
        <p:nvSpPr>
          <p:cNvPr id="49" name="Text 15"/>
          <p:cNvSpPr/>
          <p:nvPr/>
        </p:nvSpPr>
        <p:spPr>
          <a:xfrm>
            <a:off x="6914406" y="3419475"/>
            <a:ext cx="4639419" cy="228600"/>
          </a:xfrm>
          <a:prstGeom prst="rect">
            <a:avLst/>
          </a:prstGeom>
          <a:noFill/>
          <a:ln/>
        </p:spPr>
        <p:txBody>
          <a:bodyPr wrap="square" lIns="0" tIns="0" rIns="0" bIns="0" rtlCol="0" anchor="t"/>
          <a:lstStyle/>
          <a:p>
            <a:pPr marL="0" indent="0">
              <a:lnSpc>
                <a:spcPts val="1800"/>
              </a:lnSpc>
              <a:buNone/>
            </a:pPr>
            <a:r>
              <a:rPr lang="en-US" sz="1200" b="1" dirty="0">
                <a:solidFill>
                  <a:srgbClr val="B91C1C"/>
                </a:solidFill>
                <a:latin typeface="Arial" pitchFamily="34" charset="0"/>
                <a:ea typeface="Arial" pitchFamily="34" charset="-122"/>
                <a:cs typeface="Arial" pitchFamily="34" charset="-120"/>
              </a:rPr>
              <a:t>Memory Utilization</a:t>
            </a:r>
            <a:endParaRPr lang="en-US" sz="1200" dirty="0"/>
          </a:p>
        </p:txBody>
      </p:sp>
      <p:sp>
        <p:nvSpPr>
          <p:cNvPr id="50" name="Text 16"/>
          <p:cNvSpPr/>
          <p:nvPr/>
        </p:nvSpPr>
        <p:spPr>
          <a:xfrm>
            <a:off x="6914406" y="3686175"/>
            <a:ext cx="4639419"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The amount of memory consumed during execution. Excessive memory usage can lead to performance degradation.</a:t>
            </a:r>
            <a:endParaRPr lang="en-US" sz="1050" dirty="0"/>
          </a:p>
        </p:txBody>
      </p:sp>
      <p:sp>
        <p:nvSpPr>
          <p:cNvPr id="51" name="Text 17"/>
          <p:cNvSpPr/>
          <p:nvPr/>
        </p:nvSpPr>
        <p:spPr>
          <a:xfrm>
            <a:off x="6849666" y="4410075"/>
            <a:ext cx="4704159" cy="228600"/>
          </a:xfrm>
          <a:prstGeom prst="rect">
            <a:avLst/>
          </a:prstGeom>
          <a:noFill/>
          <a:ln/>
        </p:spPr>
        <p:txBody>
          <a:bodyPr wrap="square" lIns="0" tIns="0" rIns="0" bIns="0" rtlCol="0" anchor="t"/>
          <a:lstStyle/>
          <a:p>
            <a:pPr marL="0" indent="0">
              <a:lnSpc>
                <a:spcPts val="1800"/>
              </a:lnSpc>
              <a:buNone/>
            </a:pPr>
            <a:r>
              <a:rPr lang="en-US" sz="1200" b="1" dirty="0">
                <a:solidFill>
                  <a:srgbClr val="B91C1C"/>
                </a:solidFill>
                <a:latin typeface="Arial" pitchFamily="34" charset="0"/>
                <a:ea typeface="Arial" pitchFamily="34" charset="-122"/>
                <a:cs typeface="Arial" pitchFamily="34" charset="-120"/>
              </a:rPr>
              <a:t>Throughput</a:t>
            </a:r>
            <a:endParaRPr lang="en-US" sz="1200" dirty="0"/>
          </a:p>
        </p:txBody>
      </p:sp>
      <p:sp>
        <p:nvSpPr>
          <p:cNvPr id="52" name="Text 18"/>
          <p:cNvSpPr/>
          <p:nvPr/>
        </p:nvSpPr>
        <p:spPr>
          <a:xfrm>
            <a:off x="6849666" y="4676775"/>
            <a:ext cx="4704159" cy="571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The amount of data transferred over a network or the number of requests processed in a given timeframe. Higher throughput indicates a more efficient system.</a:t>
            </a:r>
            <a:endParaRPr lang="en-US" sz="1050" dirty="0"/>
          </a:p>
        </p:txBody>
      </p:sp>
      <p:sp>
        <p:nvSpPr>
          <p:cNvPr id="53" name="Text 19"/>
          <p:cNvSpPr/>
          <p:nvPr/>
        </p:nvSpPr>
        <p:spPr>
          <a:xfrm>
            <a:off x="6925866" y="5591175"/>
            <a:ext cx="4627959" cy="228600"/>
          </a:xfrm>
          <a:prstGeom prst="rect">
            <a:avLst/>
          </a:prstGeom>
          <a:noFill/>
          <a:ln/>
        </p:spPr>
        <p:txBody>
          <a:bodyPr wrap="square" lIns="0" tIns="0" rIns="0" bIns="0" rtlCol="0" anchor="t"/>
          <a:lstStyle/>
          <a:p>
            <a:pPr marL="0" indent="0">
              <a:lnSpc>
                <a:spcPts val="1800"/>
              </a:lnSpc>
              <a:buNone/>
            </a:pPr>
            <a:r>
              <a:rPr lang="en-US" sz="1200" b="1" dirty="0">
                <a:solidFill>
                  <a:srgbClr val="B91C1C"/>
                </a:solidFill>
                <a:latin typeface="Arial" pitchFamily="34" charset="0"/>
                <a:ea typeface="Arial" pitchFamily="34" charset="-122"/>
                <a:cs typeface="Arial" pitchFamily="34" charset="-120"/>
              </a:rPr>
              <a:t>Requests per Second (RPS)</a:t>
            </a:r>
            <a:endParaRPr lang="en-US" sz="1200" dirty="0"/>
          </a:p>
        </p:txBody>
      </p:sp>
      <p:sp>
        <p:nvSpPr>
          <p:cNvPr id="54" name="Text 20"/>
          <p:cNvSpPr/>
          <p:nvPr/>
        </p:nvSpPr>
        <p:spPr>
          <a:xfrm>
            <a:off x="6925866" y="5857875"/>
            <a:ext cx="4627959"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The number of requests the server can handle in one second, a key indicator of server performance under load.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190500" y="923925"/>
            <a:ext cx="11811000" cy="1866900"/>
          </a:xfrm>
          <a:prstGeom prst="rect">
            <a:avLst/>
          </a:prstGeom>
        </p:spPr>
      </p:pic>
      <p:pic>
        <p:nvPicPr>
          <p:cNvPr id="5" name="Image 3" descr="preencoded.png"/>
          <p:cNvPicPr>
            <a:picLocks noChangeAspect="1"/>
          </p:cNvPicPr>
          <p:nvPr/>
        </p:nvPicPr>
        <p:blipFill>
          <a:blip r:embed="rId6"/>
          <a:stretch>
            <a:fillRect/>
          </a:stretch>
        </p:blipFill>
        <p:spPr>
          <a:xfrm>
            <a:off x="381000" y="1162050"/>
            <a:ext cx="171450" cy="171450"/>
          </a:xfrm>
          <a:prstGeom prst="rect">
            <a:avLst/>
          </a:prstGeom>
        </p:spPr>
      </p:pic>
      <p:pic>
        <p:nvPicPr>
          <p:cNvPr id="6" name="Image 4" descr="preencoded.png"/>
          <p:cNvPicPr>
            <a:picLocks noChangeAspect="1"/>
          </p:cNvPicPr>
          <p:nvPr/>
        </p:nvPicPr>
        <p:blipFill>
          <a:blip r:embed="rId7"/>
          <a:stretch>
            <a:fillRect/>
          </a:stretch>
        </p:blipFill>
        <p:spPr>
          <a:xfrm>
            <a:off x="381000" y="1457325"/>
            <a:ext cx="5676900" cy="438150"/>
          </a:xfrm>
          <a:prstGeom prst="rect">
            <a:avLst/>
          </a:prstGeom>
        </p:spPr>
      </p:pic>
      <p:pic>
        <p:nvPicPr>
          <p:cNvPr id="7" name="Image 5" descr="preencoded.png"/>
          <p:cNvPicPr>
            <a:picLocks noChangeAspect="1"/>
          </p:cNvPicPr>
          <p:nvPr/>
        </p:nvPicPr>
        <p:blipFill>
          <a:blip r:embed="rId8"/>
          <a:stretch>
            <a:fillRect/>
          </a:stretch>
        </p:blipFill>
        <p:spPr>
          <a:xfrm>
            <a:off x="523875" y="1495425"/>
            <a:ext cx="285750" cy="285750"/>
          </a:xfrm>
          <a:prstGeom prst="rect">
            <a:avLst/>
          </a:prstGeom>
        </p:spPr>
      </p:pic>
      <p:pic>
        <p:nvPicPr>
          <p:cNvPr id="8" name="Image 6" descr="preencoded.png"/>
          <p:cNvPicPr>
            <a:picLocks noChangeAspect="1"/>
          </p:cNvPicPr>
          <p:nvPr/>
        </p:nvPicPr>
        <p:blipFill>
          <a:blip r:embed="rId9"/>
          <a:stretch>
            <a:fillRect/>
          </a:stretch>
        </p:blipFill>
        <p:spPr>
          <a:xfrm>
            <a:off x="923925" y="1524000"/>
            <a:ext cx="133350" cy="133350"/>
          </a:xfrm>
          <a:prstGeom prst="rect">
            <a:avLst/>
          </a:prstGeom>
        </p:spPr>
      </p:pic>
      <p:pic>
        <p:nvPicPr>
          <p:cNvPr id="9" name="Image 7" descr="preencoded.png"/>
          <p:cNvPicPr>
            <a:picLocks noChangeAspect="1"/>
          </p:cNvPicPr>
          <p:nvPr/>
        </p:nvPicPr>
        <p:blipFill>
          <a:blip r:embed="rId7"/>
          <a:stretch>
            <a:fillRect/>
          </a:stretch>
        </p:blipFill>
        <p:spPr>
          <a:xfrm>
            <a:off x="6134100" y="1457325"/>
            <a:ext cx="5676900" cy="438150"/>
          </a:xfrm>
          <a:prstGeom prst="rect">
            <a:avLst/>
          </a:prstGeom>
        </p:spPr>
      </p:pic>
      <p:pic>
        <p:nvPicPr>
          <p:cNvPr id="10" name="Image 8" descr="preencoded.png"/>
          <p:cNvPicPr>
            <a:picLocks noChangeAspect="1"/>
          </p:cNvPicPr>
          <p:nvPr/>
        </p:nvPicPr>
        <p:blipFill>
          <a:blip r:embed="rId10"/>
          <a:stretch>
            <a:fillRect/>
          </a:stretch>
        </p:blipFill>
        <p:spPr>
          <a:xfrm>
            <a:off x="6276975" y="1495425"/>
            <a:ext cx="285750" cy="285750"/>
          </a:xfrm>
          <a:prstGeom prst="rect">
            <a:avLst/>
          </a:prstGeom>
        </p:spPr>
      </p:pic>
      <p:pic>
        <p:nvPicPr>
          <p:cNvPr id="11" name="Image 9" descr="preencoded.png"/>
          <p:cNvPicPr>
            <a:picLocks noChangeAspect="1"/>
          </p:cNvPicPr>
          <p:nvPr/>
        </p:nvPicPr>
        <p:blipFill>
          <a:blip r:embed="rId11"/>
          <a:stretch>
            <a:fillRect/>
          </a:stretch>
        </p:blipFill>
        <p:spPr>
          <a:xfrm>
            <a:off x="6677025" y="1524000"/>
            <a:ext cx="152400" cy="133350"/>
          </a:xfrm>
          <a:prstGeom prst="rect">
            <a:avLst/>
          </a:prstGeom>
        </p:spPr>
      </p:pic>
      <p:pic>
        <p:nvPicPr>
          <p:cNvPr id="12" name="Image 10" descr="preencoded.png"/>
          <p:cNvPicPr>
            <a:picLocks noChangeAspect="1"/>
          </p:cNvPicPr>
          <p:nvPr/>
        </p:nvPicPr>
        <p:blipFill>
          <a:blip r:embed="rId7"/>
          <a:stretch>
            <a:fillRect/>
          </a:stretch>
        </p:blipFill>
        <p:spPr>
          <a:xfrm>
            <a:off x="381000" y="2066925"/>
            <a:ext cx="5676900" cy="438150"/>
          </a:xfrm>
          <a:prstGeom prst="rect">
            <a:avLst/>
          </a:prstGeom>
        </p:spPr>
      </p:pic>
      <p:pic>
        <p:nvPicPr>
          <p:cNvPr id="13" name="Image 11" descr="preencoded.png"/>
          <p:cNvPicPr>
            <a:picLocks noChangeAspect="1"/>
          </p:cNvPicPr>
          <p:nvPr/>
        </p:nvPicPr>
        <p:blipFill>
          <a:blip r:embed="rId12"/>
          <a:stretch>
            <a:fillRect/>
          </a:stretch>
        </p:blipFill>
        <p:spPr>
          <a:xfrm>
            <a:off x="523875" y="2105025"/>
            <a:ext cx="285750" cy="285750"/>
          </a:xfrm>
          <a:prstGeom prst="rect">
            <a:avLst/>
          </a:prstGeom>
        </p:spPr>
      </p:pic>
      <p:pic>
        <p:nvPicPr>
          <p:cNvPr id="14" name="Image 12" descr="preencoded.png"/>
          <p:cNvPicPr>
            <a:picLocks noChangeAspect="1"/>
          </p:cNvPicPr>
          <p:nvPr/>
        </p:nvPicPr>
        <p:blipFill>
          <a:blip r:embed="rId13"/>
          <a:stretch>
            <a:fillRect/>
          </a:stretch>
        </p:blipFill>
        <p:spPr>
          <a:xfrm>
            <a:off x="923925" y="2133600"/>
            <a:ext cx="171450" cy="133350"/>
          </a:xfrm>
          <a:prstGeom prst="rect">
            <a:avLst/>
          </a:prstGeom>
        </p:spPr>
      </p:pic>
      <p:pic>
        <p:nvPicPr>
          <p:cNvPr id="15" name="Image 13" descr="preencoded.png"/>
          <p:cNvPicPr>
            <a:picLocks noChangeAspect="1"/>
          </p:cNvPicPr>
          <p:nvPr/>
        </p:nvPicPr>
        <p:blipFill>
          <a:blip r:embed="rId7"/>
          <a:stretch>
            <a:fillRect/>
          </a:stretch>
        </p:blipFill>
        <p:spPr>
          <a:xfrm>
            <a:off x="6134100" y="2066925"/>
            <a:ext cx="5676900" cy="438150"/>
          </a:xfrm>
          <a:prstGeom prst="rect">
            <a:avLst/>
          </a:prstGeom>
        </p:spPr>
      </p:pic>
      <p:pic>
        <p:nvPicPr>
          <p:cNvPr id="16" name="Image 14" descr="preencoded.png"/>
          <p:cNvPicPr>
            <a:picLocks noChangeAspect="1"/>
          </p:cNvPicPr>
          <p:nvPr/>
        </p:nvPicPr>
        <p:blipFill>
          <a:blip r:embed="rId14"/>
          <a:stretch>
            <a:fillRect/>
          </a:stretch>
        </p:blipFill>
        <p:spPr>
          <a:xfrm>
            <a:off x="6276975" y="2105025"/>
            <a:ext cx="285750" cy="285750"/>
          </a:xfrm>
          <a:prstGeom prst="rect">
            <a:avLst/>
          </a:prstGeom>
        </p:spPr>
      </p:pic>
      <p:pic>
        <p:nvPicPr>
          <p:cNvPr id="17" name="Image 15" descr="preencoded.png"/>
          <p:cNvPicPr>
            <a:picLocks noChangeAspect="1"/>
          </p:cNvPicPr>
          <p:nvPr/>
        </p:nvPicPr>
        <p:blipFill>
          <a:blip r:embed="rId15"/>
          <a:stretch>
            <a:fillRect/>
          </a:stretch>
        </p:blipFill>
        <p:spPr>
          <a:xfrm>
            <a:off x="6677025" y="2133600"/>
            <a:ext cx="114300" cy="133350"/>
          </a:xfrm>
          <a:prstGeom prst="rect">
            <a:avLst/>
          </a:prstGeom>
        </p:spPr>
      </p:pic>
      <p:pic>
        <p:nvPicPr>
          <p:cNvPr id="18" name="Image 16" descr="preencoded.png"/>
          <p:cNvPicPr>
            <a:picLocks noChangeAspect="1"/>
          </p:cNvPicPr>
          <p:nvPr/>
        </p:nvPicPr>
        <p:blipFill>
          <a:blip r:embed="rId16"/>
          <a:stretch>
            <a:fillRect/>
          </a:stretch>
        </p:blipFill>
        <p:spPr>
          <a:xfrm>
            <a:off x="190500" y="3048000"/>
            <a:ext cx="11811000" cy="3476625"/>
          </a:xfrm>
          <a:prstGeom prst="rect">
            <a:avLst/>
          </a:prstGeom>
        </p:spPr>
      </p:pic>
      <p:pic>
        <p:nvPicPr>
          <p:cNvPr id="19" name="Image 17" descr="preencoded.png"/>
          <p:cNvPicPr>
            <a:picLocks noChangeAspect="1"/>
          </p:cNvPicPr>
          <p:nvPr/>
        </p:nvPicPr>
        <p:blipFill>
          <a:blip r:embed="rId17"/>
          <a:stretch>
            <a:fillRect/>
          </a:stretch>
        </p:blipFill>
        <p:spPr>
          <a:xfrm>
            <a:off x="381000" y="3286125"/>
            <a:ext cx="171450" cy="171450"/>
          </a:xfrm>
          <a:prstGeom prst="rect">
            <a:avLst/>
          </a:prstGeom>
        </p:spPr>
      </p:pic>
      <p:pic>
        <p:nvPicPr>
          <p:cNvPr id="20" name="Image 18" descr="preencoded.png"/>
          <p:cNvPicPr>
            <a:picLocks noChangeAspect="1"/>
          </p:cNvPicPr>
          <p:nvPr/>
        </p:nvPicPr>
        <p:blipFill>
          <a:blip r:embed="rId18"/>
          <a:stretch>
            <a:fillRect/>
          </a:stretch>
        </p:blipFill>
        <p:spPr>
          <a:xfrm>
            <a:off x="381000" y="3657600"/>
            <a:ext cx="2438400" cy="1219200"/>
          </a:xfrm>
          <a:prstGeom prst="rect">
            <a:avLst/>
          </a:prstGeom>
        </p:spPr>
      </p:pic>
      <p:pic>
        <p:nvPicPr>
          <p:cNvPr id="21" name="Image 19" descr="preencoded.png"/>
          <p:cNvPicPr>
            <a:picLocks noChangeAspect="1"/>
          </p:cNvPicPr>
          <p:nvPr/>
        </p:nvPicPr>
        <p:blipFill>
          <a:blip r:embed="rId19"/>
          <a:stretch>
            <a:fillRect/>
          </a:stretch>
        </p:blipFill>
        <p:spPr>
          <a:xfrm>
            <a:off x="523875" y="3800475"/>
            <a:ext cx="285750" cy="285750"/>
          </a:xfrm>
          <a:prstGeom prst="rect">
            <a:avLst/>
          </a:prstGeom>
        </p:spPr>
      </p:pic>
      <p:pic>
        <p:nvPicPr>
          <p:cNvPr id="22" name="Image 20" descr="preencoded.png"/>
          <p:cNvPicPr>
            <a:picLocks noChangeAspect="1"/>
          </p:cNvPicPr>
          <p:nvPr/>
        </p:nvPicPr>
        <p:blipFill>
          <a:blip r:embed="rId20"/>
          <a:stretch>
            <a:fillRect/>
          </a:stretch>
        </p:blipFill>
        <p:spPr>
          <a:xfrm>
            <a:off x="1490663" y="4457700"/>
            <a:ext cx="219075" cy="266700"/>
          </a:xfrm>
          <a:prstGeom prst="rect">
            <a:avLst/>
          </a:prstGeom>
        </p:spPr>
      </p:pic>
      <p:pic>
        <p:nvPicPr>
          <p:cNvPr id="23" name="Image 21" descr="preencoded.png"/>
          <p:cNvPicPr>
            <a:picLocks noChangeAspect="1"/>
          </p:cNvPicPr>
          <p:nvPr/>
        </p:nvPicPr>
        <p:blipFill>
          <a:blip r:embed="rId21"/>
          <a:stretch>
            <a:fillRect/>
          </a:stretch>
        </p:blipFill>
        <p:spPr>
          <a:xfrm>
            <a:off x="2998738" y="4152900"/>
            <a:ext cx="200025" cy="228600"/>
          </a:xfrm>
          <a:prstGeom prst="rect">
            <a:avLst/>
          </a:prstGeom>
        </p:spPr>
      </p:pic>
      <p:pic>
        <p:nvPicPr>
          <p:cNvPr id="24" name="Image 22" descr="preencoded.png"/>
          <p:cNvPicPr>
            <a:picLocks noChangeAspect="1"/>
          </p:cNvPicPr>
          <p:nvPr/>
        </p:nvPicPr>
        <p:blipFill>
          <a:blip r:embed="rId22"/>
          <a:stretch>
            <a:fillRect/>
          </a:stretch>
        </p:blipFill>
        <p:spPr>
          <a:xfrm>
            <a:off x="3378101" y="3657600"/>
            <a:ext cx="2438400" cy="1219200"/>
          </a:xfrm>
          <a:prstGeom prst="rect">
            <a:avLst/>
          </a:prstGeom>
        </p:spPr>
      </p:pic>
      <p:pic>
        <p:nvPicPr>
          <p:cNvPr id="25" name="Image 23" descr="preencoded.png"/>
          <p:cNvPicPr>
            <a:picLocks noChangeAspect="1"/>
          </p:cNvPicPr>
          <p:nvPr/>
        </p:nvPicPr>
        <p:blipFill>
          <a:blip r:embed="rId23"/>
          <a:stretch>
            <a:fillRect/>
          </a:stretch>
        </p:blipFill>
        <p:spPr>
          <a:xfrm>
            <a:off x="3520976" y="3800475"/>
            <a:ext cx="285750" cy="285750"/>
          </a:xfrm>
          <a:prstGeom prst="rect">
            <a:avLst/>
          </a:prstGeom>
        </p:spPr>
      </p:pic>
      <p:pic>
        <p:nvPicPr>
          <p:cNvPr id="26" name="Image 24" descr="preencoded.png"/>
          <p:cNvPicPr>
            <a:picLocks noChangeAspect="1"/>
          </p:cNvPicPr>
          <p:nvPr/>
        </p:nvPicPr>
        <p:blipFill>
          <a:blip r:embed="rId24"/>
          <a:stretch>
            <a:fillRect/>
          </a:stretch>
        </p:blipFill>
        <p:spPr>
          <a:xfrm>
            <a:off x="4525863" y="4457700"/>
            <a:ext cx="142875" cy="266700"/>
          </a:xfrm>
          <a:prstGeom prst="rect">
            <a:avLst/>
          </a:prstGeom>
        </p:spPr>
      </p:pic>
      <p:pic>
        <p:nvPicPr>
          <p:cNvPr id="27" name="Image 25" descr="preencoded.png"/>
          <p:cNvPicPr>
            <a:picLocks noChangeAspect="1"/>
          </p:cNvPicPr>
          <p:nvPr/>
        </p:nvPicPr>
        <p:blipFill>
          <a:blip r:embed="rId21"/>
          <a:stretch>
            <a:fillRect/>
          </a:stretch>
        </p:blipFill>
        <p:spPr>
          <a:xfrm>
            <a:off x="5995839" y="4152900"/>
            <a:ext cx="200025" cy="228600"/>
          </a:xfrm>
          <a:prstGeom prst="rect">
            <a:avLst/>
          </a:prstGeom>
        </p:spPr>
      </p:pic>
      <p:pic>
        <p:nvPicPr>
          <p:cNvPr id="28" name="Image 26" descr="preencoded.png"/>
          <p:cNvPicPr>
            <a:picLocks noChangeAspect="1"/>
          </p:cNvPicPr>
          <p:nvPr/>
        </p:nvPicPr>
        <p:blipFill>
          <a:blip r:embed="rId25"/>
          <a:stretch>
            <a:fillRect/>
          </a:stretch>
        </p:blipFill>
        <p:spPr>
          <a:xfrm>
            <a:off x="6375202" y="3657600"/>
            <a:ext cx="2438400" cy="1219200"/>
          </a:xfrm>
          <a:prstGeom prst="rect">
            <a:avLst/>
          </a:prstGeom>
        </p:spPr>
      </p:pic>
      <p:pic>
        <p:nvPicPr>
          <p:cNvPr id="29" name="Image 27" descr="preencoded.png"/>
          <p:cNvPicPr>
            <a:picLocks noChangeAspect="1"/>
          </p:cNvPicPr>
          <p:nvPr/>
        </p:nvPicPr>
        <p:blipFill>
          <a:blip r:embed="rId26"/>
          <a:stretch>
            <a:fillRect/>
          </a:stretch>
        </p:blipFill>
        <p:spPr>
          <a:xfrm>
            <a:off x="6518077" y="3800475"/>
            <a:ext cx="285750" cy="285750"/>
          </a:xfrm>
          <a:prstGeom prst="rect">
            <a:avLst/>
          </a:prstGeom>
        </p:spPr>
      </p:pic>
      <p:pic>
        <p:nvPicPr>
          <p:cNvPr id="30" name="Image 28" descr="preencoded.png"/>
          <p:cNvPicPr>
            <a:picLocks noChangeAspect="1"/>
          </p:cNvPicPr>
          <p:nvPr/>
        </p:nvPicPr>
        <p:blipFill>
          <a:blip r:embed="rId27"/>
          <a:stretch>
            <a:fillRect/>
          </a:stretch>
        </p:blipFill>
        <p:spPr>
          <a:xfrm>
            <a:off x="7499152" y="4457700"/>
            <a:ext cx="190500" cy="266700"/>
          </a:xfrm>
          <a:prstGeom prst="rect">
            <a:avLst/>
          </a:prstGeom>
        </p:spPr>
      </p:pic>
      <p:pic>
        <p:nvPicPr>
          <p:cNvPr id="31" name="Image 29" descr="preencoded.png"/>
          <p:cNvPicPr>
            <a:picLocks noChangeAspect="1"/>
          </p:cNvPicPr>
          <p:nvPr/>
        </p:nvPicPr>
        <p:blipFill>
          <a:blip r:embed="rId21"/>
          <a:stretch>
            <a:fillRect/>
          </a:stretch>
        </p:blipFill>
        <p:spPr>
          <a:xfrm>
            <a:off x="8992939" y="4152900"/>
            <a:ext cx="200025" cy="228600"/>
          </a:xfrm>
          <a:prstGeom prst="rect">
            <a:avLst/>
          </a:prstGeom>
        </p:spPr>
      </p:pic>
      <p:pic>
        <p:nvPicPr>
          <p:cNvPr id="32" name="Image 30" descr="preencoded.png"/>
          <p:cNvPicPr>
            <a:picLocks noChangeAspect="1"/>
          </p:cNvPicPr>
          <p:nvPr/>
        </p:nvPicPr>
        <p:blipFill>
          <a:blip r:embed="rId18"/>
          <a:stretch>
            <a:fillRect/>
          </a:stretch>
        </p:blipFill>
        <p:spPr>
          <a:xfrm>
            <a:off x="9372302" y="3657600"/>
            <a:ext cx="2438400" cy="1219200"/>
          </a:xfrm>
          <a:prstGeom prst="rect">
            <a:avLst/>
          </a:prstGeom>
        </p:spPr>
      </p:pic>
      <p:pic>
        <p:nvPicPr>
          <p:cNvPr id="33" name="Image 31" descr="preencoded.png"/>
          <p:cNvPicPr>
            <a:picLocks noChangeAspect="1"/>
          </p:cNvPicPr>
          <p:nvPr/>
        </p:nvPicPr>
        <p:blipFill>
          <a:blip r:embed="rId28"/>
          <a:stretch>
            <a:fillRect/>
          </a:stretch>
        </p:blipFill>
        <p:spPr>
          <a:xfrm>
            <a:off x="9515177" y="3800475"/>
            <a:ext cx="285750" cy="285750"/>
          </a:xfrm>
          <a:prstGeom prst="rect">
            <a:avLst/>
          </a:prstGeom>
        </p:spPr>
      </p:pic>
      <p:pic>
        <p:nvPicPr>
          <p:cNvPr id="34" name="Image 32" descr="preencoded.png"/>
          <p:cNvPicPr>
            <a:picLocks noChangeAspect="1"/>
          </p:cNvPicPr>
          <p:nvPr/>
        </p:nvPicPr>
        <p:blipFill>
          <a:blip r:embed="rId29"/>
          <a:stretch>
            <a:fillRect/>
          </a:stretch>
        </p:blipFill>
        <p:spPr>
          <a:xfrm>
            <a:off x="10496252" y="4457700"/>
            <a:ext cx="190500" cy="266700"/>
          </a:xfrm>
          <a:prstGeom prst="rect">
            <a:avLst/>
          </a:prstGeom>
        </p:spPr>
      </p:pic>
      <p:sp>
        <p:nvSpPr>
          <p:cNvPr id="35" name="Text 0"/>
          <p:cNvSpPr/>
          <p:nvPr/>
        </p:nvSpPr>
        <p:spPr>
          <a:xfrm>
            <a:off x="285750" y="142875"/>
            <a:ext cx="4943832"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Bottleneck Identification and Analysis</a:t>
            </a:r>
            <a:endParaRPr lang="en-US" sz="1800" dirty="0"/>
          </a:p>
        </p:txBody>
      </p:sp>
      <p:sp>
        <p:nvSpPr>
          <p:cNvPr id="36" name="Text 1"/>
          <p:cNvSpPr/>
          <p:nvPr/>
        </p:nvSpPr>
        <p:spPr>
          <a:xfrm>
            <a:off x="11646694" y="200025"/>
            <a:ext cx="311468" cy="190500"/>
          </a:xfrm>
          <a:prstGeom prst="rect">
            <a:avLst/>
          </a:prstGeom>
          <a:noFill/>
          <a:ln/>
        </p:spPr>
        <p:txBody>
          <a:bodyPr wrap="square" lIns="0" tIns="0" rIns="0" bIns="0" rtlCol="0" anchor="t"/>
          <a:lstStyle/>
          <a:p>
            <a:pPr marL="0" indent="0">
              <a:lnSpc>
                <a:spcPts val="1500"/>
              </a:lnSpc>
              <a:buNone/>
            </a:pPr>
            <a:r>
              <a:rPr lang="en-US" sz="1050" dirty="0">
                <a:solidFill>
                  <a:srgbClr val="FFFFFF"/>
                </a:solidFill>
                <a:latin typeface="Arial" pitchFamily="34" charset="0"/>
                <a:ea typeface="Arial" pitchFamily="34" charset="-122"/>
                <a:cs typeface="Arial" pitchFamily="34" charset="-120"/>
              </a:rPr>
              <a:t>9/11</a:t>
            </a:r>
            <a:endParaRPr lang="en-US" sz="1050" dirty="0"/>
          </a:p>
        </p:txBody>
      </p:sp>
      <p:sp>
        <p:nvSpPr>
          <p:cNvPr id="37" name="Text 2"/>
          <p:cNvSpPr/>
          <p:nvPr/>
        </p:nvSpPr>
        <p:spPr>
          <a:xfrm>
            <a:off x="628650" y="1114425"/>
            <a:ext cx="11430000" cy="266700"/>
          </a:xfrm>
          <a:prstGeom prst="rect">
            <a:avLst/>
          </a:prstGeom>
          <a:noFill/>
          <a:ln/>
        </p:spPr>
        <p:txBody>
          <a:bodyPr wrap="square" lIns="0" tIns="0" rIns="0" bIns="0" rtlCol="0" anchor="t"/>
          <a:lstStyle/>
          <a:p>
            <a:pPr marL="0" indent="0">
              <a:lnSpc>
                <a:spcPts val="2100"/>
              </a:lnSpc>
              <a:buNone/>
            </a:pPr>
            <a:r>
              <a:rPr lang="en-US" sz="1350" b="1" dirty="0">
                <a:solidFill>
                  <a:srgbClr val="333333"/>
                </a:solidFill>
                <a:latin typeface="Arial" pitchFamily="34" charset="0"/>
                <a:ea typeface="Arial" pitchFamily="34" charset="-122"/>
                <a:cs typeface="Arial" pitchFamily="34" charset="-120"/>
              </a:rPr>
              <a:t>Common System Bottlenecks</a:t>
            </a:r>
            <a:endParaRPr lang="en-US" sz="1350" dirty="0"/>
          </a:p>
        </p:txBody>
      </p:sp>
      <p:sp>
        <p:nvSpPr>
          <p:cNvPr id="38" name="Text 3"/>
          <p:cNvSpPr/>
          <p:nvPr/>
        </p:nvSpPr>
        <p:spPr>
          <a:xfrm>
            <a:off x="624334" y="149542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39" name="Text 4"/>
          <p:cNvSpPr/>
          <p:nvPr/>
        </p:nvSpPr>
        <p:spPr>
          <a:xfrm>
            <a:off x="1133475" y="1495425"/>
            <a:ext cx="3214985"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CPU Bottlenecks</a:t>
            </a:r>
            <a:endParaRPr lang="en-US" sz="1050" dirty="0"/>
          </a:p>
        </p:txBody>
      </p:sp>
      <p:sp>
        <p:nvSpPr>
          <p:cNvPr id="40" name="Text 5"/>
          <p:cNvSpPr/>
          <p:nvPr/>
        </p:nvSpPr>
        <p:spPr>
          <a:xfrm>
            <a:off x="923925" y="1704975"/>
            <a:ext cx="3857982"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When the CPU cannot handle processing tasks, causing delays</a:t>
            </a:r>
            <a:endParaRPr lang="en-US" sz="900" dirty="0"/>
          </a:p>
        </p:txBody>
      </p:sp>
      <p:sp>
        <p:nvSpPr>
          <p:cNvPr id="41" name="Text 6"/>
          <p:cNvSpPr/>
          <p:nvPr/>
        </p:nvSpPr>
        <p:spPr>
          <a:xfrm>
            <a:off x="6377434" y="149542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42" name="Text 7"/>
          <p:cNvSpPr/>
          <p:nvPr/>
        </p:nvSpPr>
        <p:spPr>
          <a:xfrm>
            <a:off x="6905625" y="1495425"/>
            <a:ext cx="3104406"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Memory Bottlenecks</a:t>
            </a:r>
            <a:endParaRPr lang="en-US" sz="1050" dirty="0"/>
          </a:p>
        </p:txBody>
      </p:sp>
      <p:sp>
        <p:nvSpPr>
          <p:cNvPr id="43" name="Text 8"/>
          <p:cNvSpPr/>
          <p:nvPr/>
        </p:nvSpPr>
        <p:spPr>
          <a:xfrm>
            <a:off x="6677025" y="1704975"/>
            <a:ext cx="3725287"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When memory is insufficient, causing increased access times</a:t>
            </a:r>
            <a:endParaRPr lang="en-US" sz="900" dirty="0"/>
          </a:p>
        </p:txBody>
      </p:sp>
      <p:sp>
        <p:nvSpPr>
          <p:cNvPr id="44" name="Text 9"/>
          <p:cNvSpPr/>
          <p:nvPr/>
        </p:nvSpPr>
        <p:spPr>
          <a:xfrm>
            <a:off x="624334" y="210502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45" name="Text 10"/>
          <p:cNvSpPr/>
          <p:nvPr/>
        </p:nvSpPr>
        <p:spPr>
          <a:xfrm>
            <a:off x="1171575" y="2105025"/>
            <a:ext cx="3208883"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Network Bottlenecks</a:t>
            </a:r>
            <a:endParaRPr lang="en-US" sz="1050" dirty="0"/>
          </a:p>
        </p:txBody>
      </p:sp>
      <p:sp>
        <p:nvSpPr>
          <p:cNvPr id="46" name="Text 11"/>
          <p:cNvSpPr/>
          <p:nvPr/>
        </p:nvSpPr>
        <p:spPr>
          <a:xfrm>
            <a:off x="923925" y="2314575"/>
            <a:ext cx="3850660"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When bandwidth is inadequate, causing delays and packet loss</a:t>
            </a:r>
            <a:endParaRPr lang="en-US" sz="900" dirty="0"/>
          </a:p>
        </p:txBody>
      </p:sp>
      <p:sp>
        <p:nvSpPr>
          <p:cNvPr id="47" name="Text 12"/>
          <p:cNvSpPr/>
          <p:nvPr/>
        </p:nvSpPr>
        <p:spPr>
          <a:xfrm>
            <a:off x="6377434" y="210502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48" name="Text 13"/>
          <p:cNvSpPr/>
          <p:nvPr/>
        </p:nvSpPr>
        <p:spPr>
          <a:xfrm>
            <a:off x="6867525" y="2105025"/>
            <a:ext cx="3064818"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Storage Bottlenecks</a:t>
            </a:r>
            <a:endParaRPr lang="en-US" sz="1050" dirty="0"/>
          </a:p>
        </p:txBody>
      </p:sp>
      <p:sp>
        <p:nvSpPr>
          <p:cNvPr id="49" name="Text 14"/>
          <p:cNvSpPr/>
          <p:nvPr/>
        </p:nvSpPr>
        <p:spPr>
          <a:xfrm>
            <a:off x="6677025" y="2314575"/>
            <a:ext cx="3677781" cy="152400"/>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When storage cannot handle data efficiently, causing latency</a:t>
            </a:r>
            <a:endParaRPr lang="en-US" sz="900" dirty="0"/>
          </a:p>
        </p:txBody>
      </p:sp>
      <p:sp>
        <p:nvSpPr>
          <p:cNvPr id="50" name="Text 15"/>
          <p:cNvSpPr/>
          <p:nvPr/>
        </p:nvSpPr>
        <p:spPr>
          <a:xfrm>
            <a:off x="628650" y="3238500"/>
            <a:ext cx="11430000" cy="266700"/>
          </a:xfrm>
          <a:prstGeom prst="rect">
            <a:avLst/>
          </a:prstGeom>
          <a:noFill/>
          <a:ln/>
        </p:spPr>
        <p:txBody>
          <a:bodyPr wrap="square" lIns="0" tIns="0" rIns="0" bIns="0" rtlCol="0" anchor="t"/>
          <a:lstStyle/>
          <a:p>
            <a:pPr marL="0" indent="0">
              <a:lnSpc>
                <a:spcPts val="2100"/>
              </a:lnSpc>
              <a:buNone/>
            </a:pPr>
            <a:r>
              <a:rPr lang="en-US" sz="1350" b="1" dirty="0">
                <a:solidFill>
                  <a:srgbClr val="333333"/>
                </a:solidFill>
                <a:latin typeface="Arial" pitchFamily="34" charset="0"/>
                <a:ea typeface="Arial" pitchFamily="34" charset="-122"/>
                <a:cs typeface="Arial" pitchFamily="34" charset="-120"/>
              </a:rPr>
              <a:t>4-Step Process for Bottleneck Identification</a:t>
            </a:r>
            <a:endParaRPr lang="en-US" sz="1350" dirty="0"/>
          </a:p>
        </p:txBody>
      </p:sp>
      <p:sp>
        <p:nvSpPr>
          <p:cNvPr id="51" name="Text 16"/>
          <p:cNvSpPr/>
          <p:nvPr/>
        </p:nvSpPr>
        <p:spPr>
          <a:xfrm>
            <a:off x="624334" y="380047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52" name="Text 17"/>
          <p:cNvSpPr/>
          <p:nvPr/>
        </p:nvSpPr>
        <p:spPr>
          <a:xfrm>
            <a:off x="923925" y="3848100"/>
            <a:ext cx="1271766"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Map the Process</a:t>
            </a:r>
            <a:endParaRPr lang="en-US" sz="1050" dirty="0"/>
          </a:p>
        </p:txBody>
      </p:sp>
      <p:sp>
        <p:nvSpPr>
          <p:cNvPr id="53" name="Text 18"/>
          <p:cNvSpPr/>
          <p:nvPr/>
        </p:nvSpPr>
        <p:spPr>
          <a:xfrm>
            <a:off x="523875" y="4105275"/>
            <a:ext cx="2583180" cy="352425"/>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Diagram steps and resources</a:t>
            </a:r>
            <a:endParaRPr lang="en-US" sz="900" dirty="0"/>
          </a:p>
        </p:txBody>
      </p:sp>
      <p:sp>
        <p:nvSpPr>
          <p:cNvPr id="54" name="Text 19"/>
          <p:cNvSpPr/>
          <p:nvPr/>
        </p:nvSpPr>
        <p:spPr>
          <a:xfrm>
            <a:off x="3621435" y="380047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55" name="Text 20"/>
          <p:cNvSpPr/>
          <p:nvPr/>
        </p:nvSpPr>
        <p:spPr>
          <a:xfrm>
            <a:off x="3921026" y="3848100"/>
            <a:ext cx="1609487"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Identify Slowest Step</a:t>
            </a:r>
            <a:endParaRPr lang="en-US" sz="1050" dirty="0"/>
          </a:p>
        </p:txBody>
      </p:sp>
      <p:sp>
        <p:nvSpPr>
          <p:cNvPr id="56" name="Text 21"/>
          <p:cNvSpPr/>
          <p:nvPr/>
        </p:nvSpPr>
        <p:spPr>
          <a:xfrm>
            <a:off x="3520976" y="4105275"/>
            <a:ext cx="2583180" cy="352425"/>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Find process bottlenecks</a:t>
            </a:r>
            <a:endParaRPr lang="en-US" sz="900" dirty="0"/>
          </a:p>
        </p:txBody>
      </p:sp>
      <p:sp>
        <p:nvSpPr>
          <p:cNvPr id="57" name="Text 22"/>
          <p:cNvSpPr/>
          <p:nvPr/>
        </p:nvSpPr>
        <p:spPr>
          <a:xfrm>
            <a:off x="6618536" y="380047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58" name="Text 23"/>
          <p:cNvSpPr/>
          <p:nvPr/>
        </p:nvSpPr>
        <p:spPr>
          <a:xfrm>
            <a:off x="6918127" y="3848100"/>
            <a:ext cx="1538407"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Analyze Root Cause</a:t>
            </a:r>
            <a:endParaRPr lang="en-US" sz="1050" dirty="0"/>
          </a:p>
        </p:txBody>
      </p:sp>
      <p:sp>
        <p:nvSpPr>
          <p:cNvPr id="59" name="Text 24"/>
          <p:cNvSpPr/>
          <p:nvPr/>
        </p:nvSpPr>
        <p:spPr>
          <a:xfrm>
            <a:off x="6518077" y="4105275"/>
            <a:ext cx="2583180" cy="352425"/>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Identify source of issues</a:t>
            </a:r>
            <a:endParaRPr lang="en-US" sz="900" dirty="0"/>
          </a:p>
        </p:txBody>
      </p:sp>
      <p:sp>
        <p:nvSpPr>
          <p:cNvPr id="60" name="Text 25"/>
          <p:cNvSpPr/>
          <p:nvPr/>
        </p:nvSpPr>
        <p:spPr>
          <a:xfrm>
            <a:off x="9615636" y="3800475"/>
            <a:ext cx="342900" cy="285750"/>
          </a:xfrm>
          <a:prstGeom prst="rect">
            <a:avLst/>
          </a:prstGeom>
          <a:noFill/>
          <a:ln/>
        </p:spPr>
        <p:txBody>
          <a:bodyPr wrap="square" lIns="0" tIns="0" rIns="0" bIns="0" rtlCol="0" anchor="t"/>
          <a:lstStyle/>
          <a:p>
            <a:pPr marL="0" indent="0">
              <a:lnSpc>
                <a:spcPts val="1800"/>
              </a:lnSpc>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61" name="Text 26"/>
          <p:cNvSpPr/>
          <p:nvPr/>
        </p:nvSpPr>
        <p:spPr>
          <a:xfrm>
            <a:off x="9915227" y="3848100"/>
            <a:ext cx="1573768" cy="190500"/>
          </a:xfrm>
          <a:prstGeom prst="rect">
            <a:avLst/>
          </a:prstGeom>
          <a:noFill/>
          <a:ln/>
        </p:spPr>
        <p:txBody>
          <a:bodyPr wrap="square" lIns="0" tIns="0" rIns="0" bIns="0" rtlCol="0" anchor="t"/>
          <a:lstStyle/>
          <a:p>
            <a:pPr marL="0" indent="0">
              <a:lnSpc>
                <a:spcPts val="1500"/>
              </a:lnSpc>
              <a:buNone/>
            </a:pPr>
            <a:r>
              <a:rPr lang="en-US" sz="1050" b="1" dirty="0">
                <a:solidFill>
                  <a:srgbClr val="333333"/>
                </a:solidFill>
                <a:latin typeface="Arial" pitchFamily="34" charset="0"/>
                <a:ea typeface="Arial" pitchFamily="34" charset="-122"/>
                <a:cs typeface="Arial" pitchFamily="34" charset="-120"/>
              </a:rPr>
              <a:t>Implement Solutions</a:t>
            </a:r>
            <a:endParaRPr lang="en-US" sz="1050" dirty="0"/>
          </a:p>
        </p:txBody>
      </p:sp>
      <p:sp>
        <p:nvSpPr>
          <p:cNvPr id="62" name="Text 27"/>
          <p:cNvSpPr/>
          <p:nvPr/>
        </p:nvSpPr>
        <p:spPr>
          <a:xfrm>
            <a:off x="9515177" y="4105275"/>
            <a:ext cx="2583180" cy="352425"/>
          </a:xfrm>
          <a:prstGeom prst="rect">
            <a:avLst/>
          </a:prstGeom>
          <a:noFill/>
          <a:ln/>
        </p:spPr>
        <p:txBody>
          <a:bodyPr wrap="square" lIns="0" tIns="0" rIns="0" bIns="0" rtlCol="0" anchor="t"/>
          <a:lstStyle/>
          <a:p>
            <a:pPr marL="0" indent="0">
              <a:lnSpc>
                <a:spcPts val="1200"/>
              </a:lnSpc>
              <a:buNone/>
            </a:pPr>
            <a:r>
              <a:rPr lang="en-US" sz="900" dirty="0">
                <a:solidFill>
                  <a:srgbClr val="333333"/>
                </a:solidFill>
                <a:latin typeface="Arial" pitchFamily="34" charset="0"/>
                <a:ea typeface="Arial" pitchFamily="34" charset="-122"/>
                <a:cs typeface="Arial" pitchFamily="34" charset="-120"/>
              </a:rPr>
              <a:t>Apply targeted fixes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077075"/>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228600" y="962025"/>
            <a:ext cx="5791200" cy="5743575"/>
          </a:xfrm>
          <a:prstGeom prst="rect">
            <a:avLst/>
          </a:prstGeom>
        </p:spPr>
      </p:pic>
      <p:pic>
        <p:nvPicPr>
          <p:cNvPr id="5" name="Image 3" descr="preencoded.png"/>
          <p:cNvPicPr>
            <a:picLocks noChangeAspect="1"/>
          </p:cNvPicPr>
          <p:nvPr/>
        </p:nvPicPr>
        <p:blipFill>
          <a:blip r:embed="rId6"/>
          <a:stretch>
            <a:fillRect/>
          </a:stretch>
        </p:blipFill>
        <p:spPr>
          <a:xfrm>
            <a:off x="419100" y="1152525"/>
            <a:ext cx="476250" cy="476250"/>
          </a:xfrm>
          <a:prstGeom prst="rect">
            <a:avLst/>
          </a:prstGeom>
        </p:spPr>
      </p:pic>
      <p:pic>
        <p:nvPicPr>
          <p:cNvPr id="6" name="Image 4" descr="preencoded.png"/>
          <p:cNvPicPr>
            <a:picLocks noChangeAspect="1"/>
          </p:cNvPicPr>
          <p:nvPr/>
        </p:nvPicPr>
        <p:blipFill>
          <a:blip r:embed="rId7"/>
          <a:stretch>
            <a:fillRect/>
          </a:stretch>
        </p:blipFill>
        <p:spPr>
          <a:xfrm>
            <a:off x="561975" y="1257300"/>
            <a:ext cx="190500" cy="266700"/>
          </a:xfrm>
          <a:prstGeom prst="rect">
            <a:avLst/>
          </a:prstGeom>
        </p:spPr>
      </p:pic>
      <p:pic>
        <p:nvPicPr>
          <p:cNvPr id="7" name="Image 5" descr="preencoded.png"/>
          <p:cNvPicPr>
            <a:picLocks noChangeAspect="1"/>
          </p:cNvPicPr>
          <p:nvPr/>
        </p:nvPicPr>
        <p:blipFill>
          <a:blip r:embed="rId8"/>
          <a:stretch>
            <a:fillRect/>
          </a:stretch>
        </p:blipFill>
        <p:spPr>
          <a:xfrm>
            <a:off x="419100" y="1743075"/>
            <a:ext cx="5410200" cy="876300"/>
          </a:xfrm>
          <a:prstGeom prst="rect">
            <a:avLst/>
          </a:prstGeom>
        </p:spPr>
      </p:pic>
      <p:pic>
        <p:nvPicPr>
          <p:cNvPr id="8" name="Image 6" descr="preencoded.png"/>
          <p:cNvPicPr>
            <a:picLocks noChangeAspect="1"/>
          </p:cNvPicPr>
          <p:nvPr/>
        </p:nvPicPr>
        <p:blipFill>
          <a:blip r:embed="rId9"/>
          <a:stretch>
            <a:fillRect/>
          </a:stretch>
        </p:blipFill>
        <p:spPr>
          <a:xfrm>
            <a:off x="533400" y="1895475"/>
            <a:ext cx="190500" cy="152400"/>
          </a:xfrm>
          <a:prstGeom prst="rect">
            <a:avLst/>
          </a:prstGeom>
        </p:spPr>
      </p:pic>
      <p:pic>
        <p:nvPicPr>
          <p:cNvPr id="9" name="Image 7" descr="preencoded.png"/>
          <p:cNvPicPr>
            <a:picLocks noChangeAspect="1"/>
          </p:cNvPicPr>
          <p:nvPr/>
        </p:nvPicPr>
        <p:blipFill>
          <a:blip r:embed="rId8"/>
          <a:stretch>
            <a:fillRect/>
          </a:stretch>
        </p:blipFill>
        <p:spPr>
          <a:xfrm>
            <a:off x="419100" y="2714625"/>
            <a:ext cx="5410200" cy="876300"/>
          </a:xfrm>
          <a:prstGeom prst="rect">
            <a:avLst/>
          </a:prstGeom>
        </p:spPr>
      </p:pic>
      <p:pic>
        <p:nvPicPr>
          <p:cNvPr id="10" name="Image 8" descr="preencoded.png"/>
          <p:cNvPicPr>
            <a:picLocks noChangeAspect="1"/>
          </p:cNvPicPr>
          <p:nvPr/>
        </p:nvPicPr>
        <p:blipFill>
          <a:blip r:embed="rId10"/>
          <a:stretch>
            <a:fillRect/>
          </a:stretch>
        </p:blipFill>
        <p:spPr>
          <a:xfrm>
            <a:off x="533400" y="2867025"/>
            <a:ext cx="152400" cy="152400"/>
          </a:xfrm>
          <a:prstGeom prst="rect">
            <a:avLst/>
          </a:prstGeom>
        </p:spPr>
      </p:pic>
      <p:pic>
        <p:nvPicPr>
          <p:cNvPr id="11" name="Image 9" descr="preencoded.png"/>
          <p:cNvPicPr>
            <a:picLocks noChangeAspect="1"/>
          </p:cNvPicPr>
          <p:nvPr/>
        </p:nvPicPr>
        <p:blipFill>
          <a:blip r:embed="rId8"/>
          <a:stretch>
            <a:fillRect/>
          </a:stretch>
        </p:blipFill>
        <p:spPr>
          <a:xfrm>
            <a:off x="419100" y="3686175"/>
            <a:ext cx="5410200" cy="876300"/>
          </a:xfrm>
          <a:prstGeom prst="rect">
            <a:avLst/>
          </a:prstGeom>
        </p:spPr>
      </p:pic>
      <p:pic>
        <p:nvPicPr>
          <p:cNvPr id="12" name="Image 10" descr="preencoded.png"/>
          <p:cNvPicPr>
            <a:picLocks noChangeAspect="1"/>
          </p:cNvPicPr>
          <p:nvPr/>
        </p:nvPicPr>
        <p:blipFill>
          <a:blip r:embed="rId11"/>
          <a:stretch>
            <a:fillRect/>
          </a:stretch>
        </p:blipFill>
        <p:spPr>
          <a:xfrm>
            <a:off x="533400" y="3838575"/>
            <a:ext cx="114300" cy="152400"/>
          </a:xfrm>
          <a:prstGeom prst="rect">
            <a:avLst/>
          </a:prstGeom>
        </p:spPr>
      </p:pic>
      <p:pic>
        <p:nvPicPr>
          <p:cNvPr id="14" name="Image 12" descr="preencoded.png"/>
          <p:cNvPicPr>
            <a:picLocks noChangeAspect="1"/>
          </p:cNvPicPr>
          <p:nvPr/>
        </p:nvPicPr>
        <p:blipFill>
          <a:blip r:embed="rId12"/>
          <a:stretch>
            <a:fillRect/>
          </a:stretch>
        </p:blipFill>
        <p:spPr>
          <a:xfrm>
            <a:off x="6172200" y="962025"/>
            <a:ext cx="5791200" cy="2419350"/>
          </a:xfrm>
          <a:prstGeom prst="rect">
            <a:avLst/>
          </a:prstGeom>
        </p:spPr>
      </p:pic>
      <p:pic>
        <p:nvPicPr>
          <p:cNvPr id="15" name="Image 13" descr="preencoded.png"/>
          <p:cNvPicPr>
            <a:picLocks noChangeAspect="1"/>
          </p:cNvPicPr>
          <p:nvPr/>
        </p:nvPicPr>
        <p:blipFill>
          <a:blip r:embed="rId13"/>
          <a:stretch>
            <a:fillRect/>
          </a:stretch>
        </p:blipFill>
        <p:spPr>
          <a:xfrm>
            <a:off x="6362700" y="1152525"/>
            <a:ext cx="476250" cy="476250"/>
          </a:xfrm>
          <a:prstGeom prst="rect">
            <a:avLst/>
          </a:prstGeom>
        </p:spPr>
      </p:pic>
      <p:pic>
        <p:nvPicPr>
          <p:cNvPr id="16" name="Image 14" descr="preencoded.png"/>
          <p:cNvPicPr>
            <a:picLocks noChangeAspect="1"/>
          </p:cNvPicPr>
          <p:nvPr/>
        </p:nvPicPr>
        <p:blipFill>
          <a:blip r:embed="rId14"/>
          <a:stretch>
            <a:fillRect/>
          </a:stretch>
        </p:blipFill>
        <p:spPr>
          <a:xfrm>
            <a:off x="6505575" y="1257300"/>
            <a:ext cx="190500" cy="266700"/>
          </a:xfrm>
          <a:prstGeom prst="rect">
            <a:avLst/>
          </a:prstGeom>
        </p:spPr>
      </p:pic>
      <p:pic>
        <p:nvPicPr>
          <p:cNvPr id="17" name="Image 15" descr="preencoded.png"/>
          <p:cNvPicPr>
            <a:picLocks noChangeAspect="1"/>
          </p:cNvPicPr>
          <p:nvPr/>
        </p:nvPicPr>
        <p:blipFill>
          <a:blip r:embed="rId15"/>
          <a:stretch>
            <a:fillRect/>
          </a:stretch>
        </p:blipFill>
        <p:spPr>
          <a:xfrm>
            <a:off x="6362700" y="1743075"/>
            <a:ext cx="2647950" cy="1447800"/>
          </a:xfrm>
          <a:prstGeom prst="rect">
            <a:avLst/>
          </a:prstGeom>
        </p:spPr>
      </p:pic>
      <p:pic>
        <p:nvPicPr>
          <p:cNvPr id="18" name="Image 16" descr="preencoded.png"/>
          <p:cNvPicPr>
            <a:picLocks noChangeAspect="1"/>
          </p:cNvPicPr>
          <p:nvPr/>
        </p:nvPicPr>
        <p:blipFill>
          <a:blip r:embed="rId16"/>
          <a:stretch>
            <a:fillRect/>
          </a:stretch>
        </p:blipFill>
        <p:spPr>
          <a:xfrm>
            <a:off x="9124950" y="1743075"/>
            <a:ext cx="2647950" cy="1447800"/>
          </a:xfrm>
          <a:prstGeom prst="rect">
            <a:avLst/>
          </a:prstGeom>
        </p:spPr>
      </p:pic>
      <p:pic>
        <p:nvPicPr>
          <p:cNvPr id="19" name="Image 17" descr="preencoded.png"/>
          <p:cNvPicPr>
            <a:picLocks noChangeAspect="1"/>
          </p:cNvPicPr>
          <p:nvPr/>
        </p:nvPicPr>
        <p:blipFill>
          <a:blip r:embed="rId17"/>
          <a:stretch>
            <a:fillRect/>
          </a:stretch>
        </p:blipFill>
        <p:spPr>
          <a:xfrm>
            <a:off x="6172200" y="3676650"/>
            <a:ext cx="5791200" cy="3028950"/>
          </a:xfrm>
          <a:prstGeom prst="rect">
            <a:avLst/>
          </a:prstGeom>
        </p:spPr>
      </p:pic>
      <p:pic>
        <p:nvPicPr>
          <p:cNvPr id="20" name="Image 18" descr="preencoded.png"/>
          <p:cNvPicPr>
            <a:picLocks noChangeAspect="1"/>
          </p:cNvPicPr>
          <p:nvPr/>
        </p:nvPicPr>
        <p:blipFill>
          <a:blip r:embed="rId18"/>
          <a:stretch>
            <a:fillRect/>
          </a:stretch>
        </p:blipFill>
        <p:spPr>
          <a:xfrm>
            <a:off x="6362700" y="3867150"/>
            <a:ext cx="476250" cy="476250"/>
          </a:xfrm>
          <a:prstGeom prst="rect">
            <a:avLst/>
          </a:prstGeom>
        </p:spPr>
      </p:pic>
      <p:pic>
        <p:nvPicPr>
          <p:cNvPr id="21" name="Image 19" descr="preencoded.png"/>
          <p:cNvPicPr>
            <a:picLocks noChangeAspect="1"/>
          </p:cNvPicPr>
          <p:nvPr/>
        </p:nvPicPr>
        <p:blipFill>
          <a:blip r:embed="rId19"/>
          <a:stretch>
            <a:fillRect/>
          </a:stretch>
        </p:blipFill>
        <p:spPr>
          <a:xfrm>
            <a:off x="6505575" y="3971925"/>
            <a:ext cx="190500" cy="266700"/>
          </a:xfrm>
          <a:prstGeom prst="rect">
            <a:avLst/>
          </a:prstGeom>
        </p:spPr>
      </p:pic>
      <p:pic>
        <p:nvPicPr>
          <p:cNvPr id="22" name="Image 20" descr="preencoded.png"/>
          <p:cNvPicPr>
            <a:picLocks noChangeAspect="1"/>
          </p:cNvPicPr>
          <p:nvPr/>
        </p:nvPicPr>
        <p:blipFill>
          <a:blip r:embed="rId20"/>
          <a:stretch>
            <a:fillRect/>
          </a:stretch>
        </p:blipFill>
        <p:spPr>
          <a:xfrm>
            <a:off x="6362700" y="4476750"/>
            <a:ext cx="381000" cy="381000"/>
          </a:xfrm>
          <a:prstGeom prst="rect">
            <a:avLst/>
          </a:prstGeom>
        </p:spPr>
      </p:pic>
      <p:pic>
        <p:nvPicPr>
          <p:cNvPr id="23" name="Image 21" descr="preencoded.png"/>
          <p:cNvPicPr>
            <a:picLocks noChangeAspect="1"/>
          </p:cNvPicPr>
          <p:nvPr/>
        </p:nvPicPr>
        <p:blipFill>
          <a:blip r:embed="rId21"/>
          <a:stretch>
            <a:fillRect/>
          </a:stretch>
        </p:blipFill>
        <p:spPr>
          <a:xfrm>
            <a:off x="6486525" y="4591050"/>
            <a:ext cx="133350" cy="152400"/>
          </a:xfrm>
          <a:prstGeom prst="rect">
            <a:avLst/>
          </a:prstGeom>
        </p:spPr>
      </p:pic>
      <p:pic>
        <p:nvPicPr>
          <p:cNvPr id="24" name="Image 22" descr="preencoded.png"/>
          <p:cNvPicPr>
            <a:picLocks noChangeAspect="1"/>
          </p:cNvPicPr>
          <p:nvPr/>
        </p:nvPicPr>
        <p:blipFill>
          <a:blip r:embed="rId22"/>
          <a:stretch>
            <a:fillRect/>
          </a:stretch>
        </p:blipFill>
        <p:spPr>
          <a:xfrm>
            <a:off x="6362700" y="4991100"/>
            <a:ext cx="381000" cy="381000"/>
          </a:xfrm>
          <a:prstGeom prst="rect">
            <a:avLst/>
          </a:prstGeom>
        </p:spPr>
      </p:pic>
      <p:pic>
        <p:nvPicPr>
          <p:cNvPr id="25" name="Image 23" descr="preencoded.png"/>
          <p:cNvPicPr>
            <a:picLocks noChangeAspect="1"/>
          </p:cNvPicPr>
          <p:nvPr/>
        </p:nvPicPr>
        <p:blipFill>
          <a:blip r:embed="rId23"/>
          <a:stretch>
            <a:fillRect/>
          </a:stretch>
        </p:blipFill>
        <p:spPr>
          <a:xfrm>
            <a:off x="6457950" y="5105400"/>
            <a:ext cx="190500" cy="152400"/>
          </a:xfrm>
          <a:prstGeom prst="rect">
            <a:avLst/>
          </a:prstGeom>
        </p:spPr>
      </p:pic>
      <p:pic>
        <p:nvPicPr>
          <p:cNvPr id="26" name="Image 24" descr="preencoded.png"/>
          <p:cNvPicPr>
            <a:picLocks noChangeAspect="1"/>
          </p:cNvPicPr>
          <p:nvPr/>
        </p:nvPicPr>
        <p:blipFill>
          <a:blip r:embed="rId24"/>
          <a:stretch>
            <a:fillRect/>
          </a:stretch>
        </p:blipFill>
        <p:spPr>
          <a:xfrm>
            <a:off x="6362700" y="5505450"/>
            <a:ext cx="381000" cy="381000"/>
          </a:xfrm>
          <a:prstGeom prst="rect">
            <a:avLst/>
          </a:prstGeom>
        </p:spPr>
      </p:pic>
      <p:pic>
        <p:nvPicPr>
          <p:cNvPr id="27" name="Image 25" descr="preencoded.png"/>
          <p:cNvPicPr>
            <a:picLocks noChangeAspect="1"/>
          </p:cNvPicPr>
          <p:nvPr/>
        </p:nvPicPr>
        <p:blipFill>
          <a:blip r:embed="rId25"/>
          <a:stretch>
            <a:fillRect/>
          </a:stretch>
        </p:blipFill>
        <p:spPr>
          <a:xfrm>
            <a:off x="6477000" y="5619750"/>
            <a:ext cx="152400" cy="152400"/>
          </a:xfrm>
          <a:prstGeom prst="rect">
            <a:avLst/>
          </a:prstGeom>
        </p:spPr>
      </p:pic>
      <p:pic>
        <p:nvPicPr>
          <p:cNvPr id="28" name="Image 26" descr="preencoded.png"/>
          <p:cNvPicPr>
            <a:picLocks noChangeAspect="1"/>
          </p:cNvPicPr>
          <p:nvPr/>
        </p:nvPicPr>
        <p:blipFill>
          <a:blip r:embed="rId22"/>
          <a:stretch>
            <a:fillRect/>
          </a:stretch>
        </p:blipFill>
        <p:spPr>
          <a:xfrm>
            <a:off x="6362700" y="6019800"/>
            <a:ext cx="381000" cy="381000"/>
          </a:xfrm>
          <a:prstGeom prst="rect">
            <a:avLst/>
          </a:prstGeom>
        </p:spPr>
      </p:pic>
      <p:pic>
        <p:nvPicPr>
          <p:cNvPr id="29" name="Image 27" descr="preencoded.png"/>
          <p:cNvPicPr>
            <a:picLocks noChangeAspect="1"/>
          </p:cNvPicPr>
          <p:nvPr/>
        </p:nvPicPr>
        <p:blipFill>
          <a:blip r:embed="rId26"/>
          <a:stretch>
            <a:fillRect/>
          </a:stretch>
        </p:blipFill>
        <p:spPr>
          <a:xfrm>
            <a:off x="6477000" y="6134100"/>
            <a:ext cx="152400" cy="152400"/>
          </a:xfrm>
          <a:prstGeom prst="rect">
            <a:avLst/>
          </a:prstGeom>
        </p:spPr>
      </p:pic>
      <p:sp>
        <p:nvSpPr>
          <p:cNvPr id="30" name="Text 0"/>
          <p:cNvSpPr/>
          <p:nvPr/>
        </p:nvSpPr>
        <p:spPr>
          <a:xfrm>
            <a:off x="285750" y="142875"/>
            <a:ext cx="5350490"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Resource Utilization Patterns and Trends</a:t>
            </a:r>
            <a:endParaRPr lang="en-US" sz="1800" dirty="0"/>
          </a:p>
        </p:txBody>
      </p:sp>
      <p:sp>
        <p:nvSpPr>
          <p:cNvPr id="31" name="Text 1"/>
          <p:cNvSpPr/>
          <p:nvPr/>
        </p:nvSpPr>
        <p:spPr>
          <a:xfrm>
            <a:off x="1038225" y="1257300"/>
            <a:ext cx="3074313" cy="266700"/>
          </a:xfrm>
          <a:prstGeom prst="rect">
            <a:avLst/>
          </a:prstGeom>
          <a:noFill/>
          <a:ln/>
        </p:spPr>
        <p:txBody>
          <a:bodyPr wrap="square" lIns="0" tIns="0" rIns="0" bIns="0" rtlCol="0" anchor="t"/>
          <a:lstStyle/>
          <a:p>
            <a:pPr marL="0" indent="0">
              <a:lnSpc>
                <a:spcPts val="2100"/>
              </a:lnSpc>
              <a:buNone/>
            </a:pPr>
            <a:r>
              <a:rPr lang="en-US" sz="1500" b="1" dirty="0">
                <a:solidFill>
                  <a:srgbClr val="333333"/>
                </a:solidFill>
                <a:latin typeface="Arial" pitchFamily="34" charset="0"/>
                <a:ea typeface="Arial" pitchFamily="34" charset="-122"/>
                <a:cs typeface="Arial" pitchFamily="34" charset="-120"/>
              </a:rPr>
              <a:t>Common Resource Patterns</a:t>
            </a:r>
            <a:endParaRPr lang="en-US" sz="1500" dirty="0"/>
          </a:p>
        </p:txBody>
      </p:sp>
      <p:sp>
        <p:nvSpPr>
          <p:cNvPr id="32" name="Text 2"/>
          <p:cNvSpPr/>
          <p:nvPr/>
        </p:nvSpPr>
        <p:spPr>
          <a:xfrm>
            <a:off x="800100" y="1857375"/>
            <a:ext cx="1291054"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Cyclical Usage</a:t>
            </a:r>
            <a:endParaRPr lang="en-US" sz="1200" dirty="0"/>
          </a:p>
        </p:txBody>
      </p:sp>
      <p:sp>
        <p:nvSpPr>
          <p:cNvPr id="33" name="Text 3"/>
          <p:cNvSpPr/>
          <p:nvPr/>
        </p:nvSpPr>
        <p:spPr>
          <a:xfrm>
            <a:off x="533400" y="2124075"/>
            <a:ext cx="518160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Regular peaks and valleys in resource usage, often tied to specific application cycles or user activities</a:t>
            </a:r>
            <a:endParaRPr lang="en-US" sz="1050" dirty="0"/>
          </a:p>
        </p:txBody>
      </p:sp>
      <p:sp>
        <p:nvSpPr>
          <p:cNvPr id="34" name="Text 4"/>
          <p:cNvSpPr/>
          <p:nvPr/>
        </p:nvSpPr>
        <p:spPr>
          <a:xfrm>
            <a:off x="762000" y="2828925"/>
            <a:ext cx="1423035"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Sporadic Spikes</a:t>
            </a:r>
            <a:endParaRPr lang="en-US" sz="1200" dirty="0"/>
          </a:p>
        </p:txBody>
      </p:sp>
      <p:sp>
        <p:nvSpPr>
          <p:cNvPr id="35" name="Text 5"/>
          <p:cNvSpPr/>
          <p:nvPr/>
        </p:nvSpPr>
        <p:spPr>
          <a:xfrm>
            <a:off x="533400" y="3095625"/>
            <a:ext cx="518160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Occasional sudden increases in resource usage that may be difficult to predict or correlate with specific events</a:t>
            </a:r>
            <a:endParaRPr lang="en-US" sz="1050" dirty="0"/>
          </a:p>
        </p:txBody>
      </p:sp>
      <p:sp>
        <p:nvSpPr>
          <p:cNvPr id="36" name="Text 6"/>
          <p:cNvSpPr/>
          <p:nvPr/>
        </p:nvSpPr>
        <p:spPr>
          <a:xfrm>
            <a:off x="723900" y="3800475"/>
            <a:ext cx="1381958"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Gradual Growth</a:t>
            </a:r>
            <a:endParaRPr lang="en-US" sz="1200" dirty="0"/>
          </a:p>
        </p:txBody>
      </p:sp>
      <p:sp>
        <p:nvSpPr>
          <p:cNvPr id="37" name="Text 7"/>
          <p:cNvSpPr/>
          <p:nvPr/>
        </p:nvSpPr>
        <p:spPr>
          <a:xfrm>
            <a:off x="533400" y="4067175"/>
            <a:ext cx="5181600" cy="3810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Subtle increase in resource usage over time, possibly due to memory leaks or increasing user loads</a:t>
            </a:r>
            <a:endParaRPr lang="en-US" sz="1050" dirty="0"/>
          </a:p>
        </p:txBody>
      </p:sp>
      <p:sp>
        <p:nvSpPr>
          <p:cNvPr id="38" name="Text 8"/>
          <p:cNvSpPr/>
          <p:nvPr/>
        </p:nvSpPr>
        <p:spPr>
          <a:xfrm>
            <a:off x="6981825" y="1257300"/>
            <a:ext cx="2278856" cy="266700"/>
          </a:xfrm>
          <a:prstGeom prst="rect">
            <a:avLst/>
          </a:prstGeom>
          <a:noFill/>
          <a:ln/>
        </p:spPr>
        <p:txBody>
          <a:bodyPr wrap="square" lIns="0" tIns="0" rIns="0" bIns="0" rtlCol="0" anchor="t"/>
          <a:lstStyle/>
          <a:p>
            <a:pPr marL="0" indent="0">
              <a:lnSpc>
                <a:spcPts val="2100"/>
              </a:lnSpc>
              <a:buNone/>
            </a:pPr>
            <a:r>
              <a:rPr lang="en-US" sz="1500" b="1" dirty="0">
                <a:solidFill>
                  <a:srgbClr val="333333"/>
                </a:solidFill>
                <a:latin typeface="Arial" pitchFamily="34" charset="0"/>
                <a:ea typeface="Arial" pitchFamily="34" charset="-122"/>
                <a:cs typeface="Arial" pitchFamily="34" charset="-120"/>
              </a:rPr>
              <a:t>Peak Usage Analysis</a:t>
            </a:r>
            <a:endParaRPr lang="en-US" sz="1500" dirty="0"/>
          </a:p>
        </p:txBody>
      </p:sp>
      <p:sp>
        <p:nvSpPr>
          <p:cNvPr id="39" name="Text 9"/>
          <p:cNvSpPr/>
          <p:nvPr/>
        </p:nvSpPr>
        <p:spPr>
          <a:xfrm>
            <a:off x="6477000" y="1857375"/>
            <a:ext cx="2903220" cy="228600"/>
          </a:xfrm>
          <a:prstGeom prst="rect">
            <a:avLst/>
          </a:prstGeom>
          <a:noFill/>
          <a:ln/>
        </p:spPr>
        <p:txBody>
          <a:bodyPr wrap="square" lIns="0" tIns="0" rIns="0" bIns="0" rtlCol="0" anchor="t"/>
          <a:lstStyle/>
          <a:p>
            <a:pPr marL="0" indent="0">
              <a:lnSpc>
                <a:spcPts val="1800"/>
              </a:lnSpc>
              <a:buNone/>
            </a:pPr>
            <a:r>
              <a:rPr lang="en-US" sz="1200" b="1" dirty="0">
                <a:solidFill>
                  <a:srgbClr val="6B21A8"/>
                </a:solidFill>
                <a:latin typeface="Arial" pitchFamily="34" charset="0"/>
                <a:ea typeface="Arial" pitchFamily="34" charset="-122"/>
                <a:cs typeface="Arial" pitchFamily="34" charset="-120"/>
              </a:rPr>
              <a:t>Identifying Peaks</a:t>
            </a:r>
            <a:endParaRPr lang="en-US" sz="1200" dirty="0"/>
          </a:p>
        </p:txBody>
      </p:sp>
      <p:sp>
        <p:nvSpPr>
          <p:cNvPr id="40" name="Text 10"/>
          <p:cNvSpPr/>
          <p:nvPr/>
        </p:nvSpPr>
        <p:spPr>
          <a:xfrm>
            <a:off x="6477000" y="2124075"/>
            <a:ext cx="290322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Monitor resource usage over time</a:t>
            </a:r>
            <a:endParaRPr lang="en-US" sz="1050" dirty="0"/>
          </a:p>
        </p:txBody>
      </p:sp>
      <p:sp>
        <p:nvSpPr>
          <p:cNvPr id="41" name="Text 11"/>
          <p:cNvSpPr/>
          <p:nvPr/>
        </p:nvSpPr>
        <p:spPr>
          <a:xfrm>
            <a:off x="6477000" y="2314575"/>
            <a:ext cx="2419350" cy="3810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Establish baseline performance metrics</a:t>
            </a:r>
            <a:endParaRPr lang="en-US" sz="1050" dirty="0"/>
          </a:p>
        </p:txBody>
      </p:sp>
      <p:sp>
        <p:nvSpPr>
          <p:cNvPr id="42" name="Text 12"/>
          <p:cNvSpPr/>
          <p:nvPr/>
        </p:nvSpPr>
        <p:spPr>
          <a:xfrm>
            <a:off x="6477000" y="2695575"/>
            <a:ext cx="290322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Identify consistent patterns</a:t>
            </a:r>
            <a:endParaRPr lang="en-US" sz="1050" dirty="0"/>
          </a:p>
        </p:txBody>
      </p:sp>
      <p:sp>
        <p:nvSpPr>
          <p:cNvPr id="43" name="Text 13"/>
          <p:cNvSpPr/>
          <p:nvPr/>
        </p:nvSpPr>
        <p:spPr>
          <a:xfrm>
            <a:off x="6477000" y="2886075"/>
            <a:ext cx="290322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Correlate with system events</a:t>
            </a:r>
            <a:endParaRPr lang="en-US" sz="1050" dirty="0"/>
          </a:p>
        </p:txBody>
      </p:sp>
      <p:sp>
        <p:nvSpPr>
          <p:cNvPr id="44" name="Text 14"/>
          <p:cNvSpPr/>
          <p:nvPr/>
        </p:nvSpPr>
        <p:spPr>
          <a:xfrm>
            <a:off x="9239250" y="1857375"/>
            <a:ext cx="2903220" cy="228600"/>
          </a:xfrm>
          <a:prstGeom prst="rect">
            <a:avLst/>
          </a:prstGeom>
          <a:noFill/>
          <a:ln/>
        </p:spPr>
        <p:txBody>
          <a:bodyPr wrap="square" lIns="0" tIns="0" rIns="0" bIns="0" rtlCol="0" anchor="t"/>
          <a:lstStyle/>
          <a:p>
            <a:pPr marL="0" indent="0">
              <a:lnSpc>
                <a:spcPts val="1800"/>
              </a:lnSpc>
              <a:buNone/>
            </a:pPr>
            <a:r>
              <a:rPr lang="en-US" sz="1200" b="1" dirty="0">
                <a:solidFill>
                  <a:srgbClr val="6B21A8"/>
                </a:solidFill>
                <a:latin typeface="Arial" pitchFamily="34" charset="0"/>
                <a:ea typeface="Arial" pitchFamily="34" charset="-122"/>
                <a:cs typeface="Arial" pitchFamily="34" charset="-120"/>
              </a:rPr>
              <a:t>Common Peak Triggers</a:t>
            </a:r>
            <a:endParaRPr lang="en-US" sz="1200" dirty="0"/>
          </a:p>
        </p:txBody>
      </p:sp>
      <p:sp>
        <p:nvSpPr>
          <p:cNvPr id="45" name="Text 15"/>
          <p:cNvSpPr/>
          <p:nvPr/>
        </p:nvSpPr>
        <p:spPr>
          <a:xfrm>
            <a:off x="9239250" y="2124075"/>
            <a:ext cx="290322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User login times</a:t>
            </a:r>
            <a:endParaRPr lang="en-US" sz="1050" dirty="0"/>
          </a:p>
        </p:txBody>
      </p:sp>
      <p:sp>
        <p:nvSpPr>
          <p:cNvPr id="46" name="Text 16"/>
          <p:cNvSpPr/>
          <p:nvPr/>
        </p:nvSpPr>
        <p:spPr>
          <a:xfrm>
            <a:off x="9239250" y="2314575"/>
            <a:ext cx="290322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Periodic batch processes</a:t>
            </a:r>
            <a:endParaRPr lang="en-US" sz="1050" dirty="0"/>
          </a:p>
        </p:txBody>
      </p:sp>
      <p:sp>
        <p:nvSpPr>
          <p:cNvPr id="47" name="Text 17"/>
          <p:cNvSpPr/>
          <p:nvPr/>
        </p:nvSpPr>
        <p:spPr>
          <a:xfrm>
            <a:off x="9239250" y="2505075"/>
            <a:ext cx="290322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Network traffic spikes</a:t>
            </a:r>
            <a:endParaRPr lang="en-US" sz="1050" dirty="0"/>
          </a:p>
        </p:txBody>
      </p:sp>
      <p:sp>
        <p:nvSpPr>
          <p:cNvPr id="48" name="Text 18"/>
          <p:cNvSpPr/>
          <p:nvPr/>
        </p:nvSpPr>
        <p:spPr>
          <a:xfrm>
            <a:off x="9239250" y="2695575"/>
            <a:ext cx="2903220" cy="190500"/>
          </a:xfrm>
          <a:prstGeom prst="rect">
            <a:avLst/>
          </a:prstGeom>
          <a:noFill/>
          <a:ln/>
        </p:spPr>
        <p:txBody>
          <a:bodyPr wrap="square" lIns="0" tIns="0" rIns="0" bIns="0" rtlCol="0" anchor="t"/>
          <a:lstStyle/>
          <a:p>
            <a:pPr marL="342900" indent="-342900" algn="l">
              <a:lnSpc>
                <a:spcPts val="1500"/>
              </a:lnSpc>
              <a:buSzPct val="100000"/>
              <a:buChar char="•"/>
            </a:pPr>
            <a:r>
              <a:rPr lang="en-US" sz="1050" dirty="0">
                <a:solidFill>
                  <a:srgbClr val="333333"/>
                </a:solidFill>
                <a:latin typeface="Arial" pitchFamily="34" charset="0"/>
                <a:ea typeface="Arial" pitchFamily="34" charset="-122"/>
                <a:cs typeface="Arial" pitchFamily="34" charset="-120"/>
              </a:rPr>
              <a:t>Interactive application loads</a:t>
            </a:r>
            <a:endParaRPr lang="en-US" sz="1050" dirty="0"/>
          </a:p>
        </p:txBody>
      </p:sp>
      <p:sp>
        <p:nvSpPr>
          <p:cNvPr id="49" name="Text 19"/>
          <p:cNvSpPr/>
          <p:nvPr/>
        </p:nvSpPr>
        <p:spPr>
          <a:xfrm>
            <a:off x="6981825" y="3971925"/>
            <a:ext cx="2553176" cy="266700"/>
          </a:xfrm>
          <a:prstGeom prst="rect">
            <a:avLst/>
          </a:prstGeom>
          <a:noFill/>
          <a:ln/>
        </p:spPr>
        <p:txBody>
          <a:bodyPr wrap="square" lIns="0" tIns="0" rIns="0" bIns="0" rtlCol="0" anchor="t"/>
          <a:lstStyle/>
          <a:p>
            <a:pPr marL="0" indent="0">
              <a:lnSpc>
                <a:spcPts val="2100"/>
              </a:lnSpc>
              <a:buNone/>
            </a:pPr>
            <a:r>
              <a:rPr lang="en-US" sz="1500" b="1" dirty="0">
                <a:solidFill>
                  <a:srgbClr val="333333"/>
                </a:solidFill>
                <a:latin typeface="Arial" pitchFamily="34" charset="0"/>
                <a:ea typeface="Arial" pitchFamily="34" charset="-122"/>
                <a:cs typeface="Arial" pitchFamily="34" charset="-120"/>
              </a:rPr>
              <a:t>Optimization Strategies</a:t>
            </a:r>
            <a:endParaRPr lang="en-US" sz="1500" dirty="0"/>
          </a:p>
        </p:txBody>
      </p:sp>
      <p:sp>
        <p:nvSpPr>
          <p:cNvPr id="50" name="Text 20"/>
          <p:cNvSpPr/>
          <p:nvPr/>
        </p:nvSpPr>
        <p:spPr>
          <a:xfrm>
            <a:off x="6858000" y="4457700"/>
            <a:ext cx="3460433"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Predictive Resource Allocation</a:t>
            </a:r>
            <a:endParaRPr lang="en-US" sz="1200" dirty="0"/>
          </a:p>
        </p:txBody>
      </p:sp>
      <p:sp>
        <p:nvSpPr>
          <p:cNvPr id="51" name="Text 21"/>
          <p:cNvSpPr/>
          <p:nvPr/>
        </p:nvSpPr>
        <p:spPr>
          <a:xfrm>
            <a:off x="6858000" y="4686300"/>
            <a:ext cx="3460433"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Anticipate peak loads and pre-allocate resources</a:t>
            </a:r>
            <a:endParaRPr lang="en-US" sz="1050" dirty="0"/>
          </a:p>
        </p:txBody>
      </p:sp>
      <p:sp>
        <p:nvSpPr>
          <p:cNvPr id="52" name="Text 22"/>
          <p:cNvSpPr/>
          <p:nvPr/>
        </p:nvSpPr>
        <p:spPr>
          <a:xfrm>
            <a:off x="6858000" y="4972050"/>
            <a:ext cx="3442395"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Dynamic Resource Adjustment</a:t>
            </a:r>
            <a:endParaRPr lang="en-US" sz="1200" dirty="0"/>
          </a:p>
        </p:txBody>
      </p:sp>
      <p:sp>
        <p:nvSpPr>
          <p:cNvPr id="53" name="Text 23"/>
          <p:cNvSpPr/>
          <p:nvPr/>
        </p:nvSpPr>
        <p:spPr>
          <a:xfrm>
            <a:off x="6858000" y="5200650"/>
            <a:ext cx="3442395"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Automatically scale resources based on demand</a:t>
            </a:r>
            <a:endParaRPr lang="en-US" sz="1050" dirty="0"/>
          </a:p>
        </p:txBody>
      </p:sp>
      <p:sp>
        <p:nvSpPr>
          <p:cNvPr id="54" name="Text 24"/>
          <p:cNvSpPr/>
          <p:nvPr/>
        </p:nvSpPr>
        <p:spPr>
          <a:xfrm>
            <a:off x="6858000" y="5486400"/>
            <a:ext cx="3542705"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Task Prioritization</a:t>
            </a:r>
            <a:endParaRPr lang="en-US" sz="1200" dirty="0"/>
          </a:p>
        </p:txBody>
      </p:sp>
      <p:sp>
        <p:nvSpPr>
          <p:cNvPr id="55" name="Text 25"/>
          <p:cNvSpPr/>
          <p:nvPr/>
        </p:nvSpPr>
        <p:spPr>
          <a:xfrm>
            <a:off x="6858000" y="5715000"/>
            <a:ext cx="4251246"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Optimize scheduling for critical processes during peak times</a:t>
            </a:r>
            <a:endParaRPr lang="en-US" sz="1050" dirty="0"/>
          </a:p>
        </p:txBody>
      </p:sp>
      <p:sp>
        <p:nvSpPr>
          <p:cNvPr id="56" name="Text 26"/>
          <p:cNvSpPr/>
          <p:nvPr/>
        </p:nvSpPr>
        <p:spPr>
          <a:xfrm>
            <a:off x="6858000" y="6000750"/>
            <a:ext cx="3753326" cy="228600"/>
          </a:xfrm>
          <a:prstGeom prst="rect">
            <a:avLst/>
          </a:prstGeom>
          <a:noFill/>
          <a:ln/>
        </p:spPr>
        <p:txBody>
          <a:bodyPr wrap="square" lIns="0" tIns="0" rIns="0" bIns="0" rtlCol="0" anchor="t"/>
          <a:lstStyle/>
          <a:p>
            <a:pPr marL="0" indent="0">
              <a:lnSpc>
                <a:spcPts val="1800"/>
              </a:lnSpc>
              <a:buNone/>
            </a:pPr>
            <a:r>
              <a:rPr lang="en-US" sz="1200" b="1" dirty="0">
                <a:solidFill>
                  <a:srgbClr val="333333"/>
                </a:solidFill>
                <a:latin typeface="Arial" pitchFamily="34" charset="0"/>
                <a:ea typeface="Arial" pitchFamily="34" charset="-122"/>
                <a:cs typeface="Arial" pitchFamily="34" charset="-120"/>
              </a:rPr>
              <a:t>Scalable Architecture</a:t>
            </a:r>
            <a:endParaRPr lang="en-US" sz="1200" dirty="0"/>
          </a:p>
        </p:txBody>
      </p:sp>
      <p:sp>
        <p:nvSpPr>
          <p:cNvPr id="57" name="Text 27"/>
          <p:cNvSpPr/>
          <p:nvPr/>
        </p:nvSpPr>
        <p:spPr>
          <a:xfrm>
            <a:off x="6858000" y="6229350"/>
            <a:ext cx="3753326" cy="190500"/>
          </a:xfrm>
          <a:prstGeom prst="rect">
            <a:avLst/>
          </a:prstGeom>
          <a:noFill/>
          <a:ln/>
        </p:spPr>
        <p:txBody>
          <a:bodyPr wrap="square" lIns="0" tIns="0" rIns="0" bIns="0" rtlCol="0" anchor="t"/>
          <a:lstStyle/>
          <a:p>
            <a:pPr marL="0" indent="0">
              <a:lnSpc>
                <a:spcPts val="1500"/>
              </a:lnSpc>
              <a:buNone/>
            </a:pPr>
            <a:r>
              <a:rPr lang="en-US" sz="1050" dirty="0">
                <a:solidFill>
                  <a:srgbClr val="333333"/>
                </a:solidFill>
                <a:latin typeface="Arial" pitchFamily="34" charset="0"/>
                <a:ea typeface="Arial" pitchFamily="34" charset="-122"/>
                <a:cs typeface="Arial" pitchFamily="34" charset="-120"/>
              </a:rPr>
              <a:t>Design systems that can elastically scale horizontally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590550"/>
          </a:xfrm>
          <a:prstGeom prst="rect">
            <a:avLst/>
          </a:prstGeom>
        </p:spPr>
      </p:pic>
      <p:pic>
        <p:nvPicPr>
          <p:cNvPr id="4" name="Image 2" descr="preencoded.png"/>
          <p:cNvPicPr>
            <a:picLocks noChangeAspect="1"/>
          </p:cNvPicPr>
          <p:nvPr/>
        </p:nvPicPr>
        <p:blipFill>
          <a:blip r:embed="rId5"/>
          <a:stretch>
            <a:fillRect/>
          </a:stretch>
        </p:blipFill>
        <p:spPr>
          <a:xfrm>
            <a:off x="228600" y="819150"/>
            <a:ext cx="5772150" cy="2600325"/>
          </a:xfrm>
          <a:prstGeom prst="rect">
            <a:avLst/>
          </a:prstGeom>
        </p:spPr>
      </p:pic>
      <p:pic>
        <p:nvPicPr>
          <p:cNvPr id="5" name="Image 3" descr="preencoded.png"/>
          <p:cNvPicPr>
            <a:picLocks noChangeAspect="1"/>
          </p:cNvPicPr>
          <p:nvPr/>
        </p:nvPicPr>
        <p:blipFill>
          <a:blip r:embed="rId6"/>
          <a:stretch>
            <a:fillRect/>
          </a:stretch>
        </p:blipFill>
        <p:spPr>
          <a:xfrm>
            <a:off x="85725" y="676275"/>
            <a:ext cx="381000" cy="381000"/>
          </a:xfrm>
          <a:prstGeom prst="rect">
            <a:avLst/>
          </a:prstGeom>
        </p:spPr>
      </p:pic>
      <p:pic>
        <p:nvPicPr>
          <p:cNvPr id="6" name="Image 4" descr="preencoded.png"/>
          <p:cNvPicPr>
            <a:picLocks noChangeAspect="1"/>
          </p:cNvPicPr>
          <p:nvPr/>
        </p:nvPicPr>
        <p:blipFill>
          <a:blip r:embed="rId7"/>
          <a:stretch>
            <a:fillRect/>
          </a:stretch>
        </p:blipFill>
        <p:spPr>
          <a:xfrm>
            <a:off x="381000" y="971550"/>
            <a:ext cx="381000" cy="381000"/>
          </a:xfrm>
          <a:prstGeom prst="rect">
            <a:avLst/>
          </a:prstGeom>
        </p:spPr>
      </p:pic>
      <p:pic>
        <p:nvPicPr>
          <p:cNvPr id="7" name="Image 5" descr="preencoded.png"/>
          <p:cNvPicPr>
            <a:picLocks noChangeAspect="1"/>
          </p:cNvPicPr>
          <p:nvPr/>
        </p:nvPicPr>
        <p:blipFill>
          <a:blip r:embed="rId8"/>
          <a:stretch>
            <a:fillRect/>
          </a:stretch>
        </p:blipFill>
        <p:spPr>
          <a:xfrm>
            <a:off x="476250" y="1028700"/>
            <a:ext cx="190500" cy="266700"/>
          </a:xfrm>
          <a:prstGeom prst="rect">
            <a:avLst/>
          </a:prstGeom>
        </p:spPr>
      </p:pic>
      <p:pic>
        <p:nvPicPr>
          <p:cNvPr id="8" name="Image 6" descr="preencoded.png"/>
          <p:cNvPicPr>
            <a:picLocks noChangeAspect="1"/>
          </p:cNvPicPr>
          <p:nvPr/>
        </p:nvPicPr>
        <p:blipFill>
          <a:blip r:embed="rId5"/>
          <a:stretch>
            <a:fillRect/>
          </a:stretch>
        </p:blipFill>
        <p:spPr>
          <a:xfrm>
            <a:off x="6191250" y="819150"/>
            <a:ext cx="5772150" cy="2600325"/>
          </a:xfrm>
          <a:prstGeom prst="rect">
            <a:avLst/>
          </a:prstGeom>
        </p:spPr>
      </p:pic>
      <p:pic>
        <p:nvPicPr>
          <p:cNvPr id="9" name="Image 7" descr="preencoded.png"/>
          <p:cNvPicPr>
            <a:picLocks noChangeAspect="1"/>
          </p:cNvPicPr>
          <p:nvPr/>
        </p:nvPicPr>
        <p:blipFill>
          <a:blip r:embed="rId9"/>
          <a:stretch>
            <a:fillRect/>
          </a:stretch>
        </p:blipFill>
        <p:spPr>
          <a:xfrm>
            <a:off x="6048375" y="676275"/>
            <a:ext cx="381000" cy="381000"/>
          </a:xfrm>
          <a:prstGeom prst="rect">
            <a:avLst/>
          </a:prstGeom>
        </p:spPr>
      </p:pic>
      <p:pic>
        <p:nvPicPr>
          <p:cNvPr id="10" name="Image 8" descr="preencoded.png"/>
          <p:cNvPicPr>
            <a:picLocks noChangeAspect="1"/>
          </p:cNvPicPr>
          <p:nvPr/>
        </p:nvPicPr>
        <p:blipFill>
          <a:blip r:embed="rId10"/>
          <a:stretch>
            <a:fillRect/>
          </a:stretch>
        </p:blipFill>
        <p:spPr>
          <a:xfrm>
            <a:off x="6343650" y="971550"/>
            <a:ext cx="381000" cy="381000"/>
          </a:xfrm>
          <a:prstGeom prst="rect">
            <a:avLst/>
          </a:prstGeom>
        </p:spPr>
      </p:pic>
      <p:pic>
        <p:nvPicPr>
          <p:cNvPr id="11" name="Image 9" descr="preencoded.png"/>
          <p:cNvPicPr>
            <a:picLocks noChangeAspect="1"/>
          </p:cNvPicPr>
          <p:nvPr/>
        </p:nvPicPr>
        <p:blipFill>
          <a:blip r:embed="rId11"/>
          <a:stretch>
            <a:fillRect/>
          </a:stretch>
        </p:blipFill>
        <p:spPr>
          <a:xfrm>
            <a:off x="6438900" y="1028700"/>
            <a:ext cx="190500" cy="266700"/>
          </a:xfrm>
          <a:prstGeom prst="rect">
            <a:avLst/>
          </a:prstGeom>
        </p:spPr>
      </p:pic>
      <p:pic>
        <p:nvPicPr>
          <p:cNvPr id="12" name="Image 10" descr="preencoded.png"/>
          <p:cNvPicPr>
            <a:picLocks noChangeAspect="1"/>
          </p:cNvPicPr>
          <p:nvPr/>
        </p:nvPicPr>
        <p:blipFill>
          <a:blip r:embed="rId5"/>
          <a:stretch>
            <a:fillRect/>
          </a:stretch>
        </p:blipFill>
        <p:spPr>
          <a:xfrm>
            <a:off x="228600" y="3609975"/>
            <a:ext cx="5772150" cy="2600325"/>
          </a:xfrm>
          <a:prstGeom prst="rect">
            <a:avLst/>
          </a:prstGeom>
        </p:spPr>
      </p:pic>
      <p:pic>
        <p:nvPicPr>
          <p:cNvPr id="13" name="Image 11" descr="preencoded.png"/>
          <p:cNvPicPr>
            <a:picLocks noChangeAspect="1"/>
          </p:cNvPicPr>
          <p:nvPr/>
        </p:nvPicPr>
        <p:blipFill>
          <a:blip r:embed="rId12"/>
          <a:stretch>
            <a:fillRect/>
          </a:stretch>
        </p:blipFill>
        <p:spPr>
          <a:xfrm>
            <a:off x="85725" y="3467100"/>
            <a:ext cx="381000" cy="381000"/>
          </a:xfrm>
          <a:prstGeom prst="rect">
            <a:avLst/>
          </a:prstGeom>
        </p:spPr>
      </p:pic>
      <p:pic>
        <p:nvPicPr>
          <p:cNvPr id="14" name="Image 12" descr="preencoded.png"/>
          <p:cNvPicPr>
            <a:picLocks noChangeAspect="1"/>
          </p:cNvPicPr>
          <p:nvPr/>
        </p:nvPicPr>
        <p:blipFill>
          <a:blip r:embed="rId13"/>
          <a:stretch>
            <a:fillRect/>
          </a:stretch>
        </p:blipFill>
        <p:spPr>
          <a:xfrm>
            <a:off x="381000" y="3762375"/>
            <a:ext cx="381000" cy="381000"/>
          </a:xfrm>
          <a:prstGeom prst="rect">
            <a:avLst/>
          </a:prstGeom>
        </p:spPr>
      </p:pic>
      <p:pic>
        <p:nvPicPr>
          <p:cNvPr id="15" name="Image 13" descr="preencoded.png"/>
          <p:cNvPicPr>
            <a:picLocks noChangeAspect="1"/>
          </p:cNvPicPr>
          <p:nvPr/>
        </p:nvPicPr>
        <p:blipFill>
          <a:blip r:embed="rId14"/>
          <a:stretch>
            <a:fillRect/>
          </a:stretch>
        </p:blipFill>
        <p:spPr>
          <a:xfrm>
            <a:off x="476250" y="3819525"/>
            <a:ext cx="190500" cy="266700"/>
          </a:xfrm>
          <a:prstGeom prst="rect">
            <a:avLst/>
          </a:prstGeom>
        </p:spPr>
      </p:pic>
      <p:pic>
        <p:nvPicPr>
          <p:cNvPr id="16" name="Image 14" descr="preencoded.png"/>
          <p:cNvPicPr>
            <a:picLocks noChangeAspect="1"/>
          </p:cNvPicPr>
          <p:nvPr/>
        </p:nvPicPr>
        <p:blipFill>
          <a:blip r:embed="rId5"/>
          <a:stretch>
            <a:fillRect/>
          </a:stretch>
        </p:blipFill>
        <p:spPr>
          <a:xfrm>
            <a:off x="6191250" y="3609975"/>
            <a:ext cx="5772150" cy="2600325"/>
          </a:xfrm>
          <a:prstGeom prst="rect">
            <a:avLst/>
          </a:prstGeom>
        </p:spPr>
      </p:pic>
      <p:pic>
        <p:nvPicPr>
          <p:cNvPr id="17" name="Image 15" descr="preencoded.png"/>
          <p:cNvPicPr>
            <a:picLocks noChangeAspect="1"/>
          </p:cNvPicPr>
          <p:nvPr/>
        </p:nvPicPr>
        <p:blipFill>
          <a:blip r:embed="rId15"/>
          <a:stretch>
            <a:fillRect/>
          </a:stretch>
        </p:blipFill>
        <p:spPr>
          <a:xfrm>
            <a:off x="6048375" y="3467100"/>
            <a:ext cx="381000" cy="381000"/>
          </a:xfrm>
          <a:prstGeom prst="rect">
            <a:avLst/>
          </a:prstGeom>
        </p:spPr>
      </p:pic>
      <p:pic>
        <p:nvPicPr>
          <p:cNvPr id="18" name="Image 16" descr="preencoded.png"/>
          <p:cNvPicPr>
            <a:picLocks noChangeAspect="1"/>
          </p:cNvPicPr>
          <p:nvPr/>
        </p:nvPicPr>
        <p:blipFill>
          <a:blip r:embed="rId16"/>
          <a:stretch>
            <a:fillRect/>
          </a:stretch>
        </p:blipFill>
        <p:spPr>
          <a:xfrm>
            <a:off x="6343650" y="3762375"/>
            <a:ext cx="381000" cy="381000"/>
          </a:xfrm>
          <a:prstGeom prst="rect">
            <a:avLst/>
          </a:prstGeom>
        </p:spPr>
      </p:pic>
      <p:pic>
        <p:nvPicPr>
          <p:cNvPr id="19" name="Image 17" descr="preencoded.png"/>
          <p:cNvPicPr>
            <a:picLocks noChangeAspect="1"/>
          </p:cNvPicPr>
          <p:nvPr/>
        </p:nvPicPr>
        <p:blipFill>
          <a:blip r:embed="rId17"/>
          <a:stretch>
            <a:fillRect/>
          </a:stretch>
        </p:blipFill>
        <p:spPr>
          <a:xfrm>
            <a:off x="6438900" y="3819525"/>
            <a:ext cx="190500" cy="266700"/>
          </a:xfrm>
          <a:prstGeom prst="rect">
            <a:avLst/>
          </a:prstGeom>
        </p:spPr>
      </p:pic>
      <p:pic>
        <p:nvPicPr>
          <p:cNvPr id="20" name="Image 18" descr="preencoded.png"/>
          <p:cNvPicPr>
            <a:picLocks noChangeAspect="1"/>
          </p:cNvPicPr>
          <p:nvPr/>
        </p:nvPicPr>
        <p:blipFill>
          <a:blip r:embed="rId18"/>
          <a:stretch>
            <a:fillRect/>
          </a:stretch>
        </p:blipFill>
        <p:spPr>
          <a:xfrm>
            <a:off x="0" y="6438900"/>
            <a:ext cx="12192000" cy="419100"/>
          </a:xfrm>
          <a:prstGeom prst="rect">
            <a:avLst/>
          </a:prstGeom>
        </p:spPr>
      </p:pic>
      <p:pic>
        <p:nvPicPr>
          <p:cNvPr id="21" name="Image 19" descr="preencoded.png"/>
          <p:cNvPicPr>
            <a:picLocks noChangeAspect="1"/>
          </p:cNvPicPr>
          <p:nvPr/>
        </p:nvPicPr>
        <p:blipFill>
          <a:blip r:embed="rId19"/>
          <a:stretch>
            <a:fillRect/>
          </a:stretch>
        </p:blipFill>
        <p:spPr>
          <a:xfrm>
            <a:off x="2566392" y="6572250"/>
            <a:ext cx="114300" cy="152400"/>
          </a:xfrm>
          <a:prstGeom prst="rect">
            <a:avLst/>
          </a:prstGeom>
        </p:spPr>
      </p:pic>
      <p:sp>
        <p:nvSpPr>
          <p:cNvPr id="22" name="Text 0"/>
          <p:cNvSpPr/>
          <p:nvPr/>
        </p:nvSpPr>
        <p:spPr>
          <a:xfrm>
            <a:off x="285750" y="142875"/>
            <a:ext cx="2362974" cy="304800"/>
          </a:xfrm>
          <a:prstGeom prst="rect">
            <a:avLst/>
          </a:prstGeom>
          <a:noFill/>
          <a:ln/>
        </p:spPr>
        <p:txBody>
          <a:bodyPr wrap="square" lIns="0" tIns="0" rIns="0" bIns="0" rtlCol="0" anchor="t"/>
          <a:lstStyle/>
          <a:p>
            <a:pPr marL="0" indent="0">
              <a:lnSpc>
                <a:spcPts val="2400"/>
              </a:lnSpc>
              <a:buNone/>
            </a:pPr>
            <a:r>
              <a:rPr lang="en-US" sz="1800" b="1" dirty="0">
                <a:solidFill>
                  <a:srgbClr val="FFFFFF"/>
                </a:solidFill>
                <a:latin typeface="Arial" pitchFamily="34" charset="0"/>
                <a:ea typeface="Arial" pitchFamily="34" charset="-122"/>
                <a:cs typeface="Arial" pitchFamily="34" charset="-120"/>
              </a:rPr>
              <a:t>Review Questions</a:t>
            </a:r>
            <a:endParaRPr lang="en-US" sz="1800" dirty="0"/>
          </a:p>
        </p:txBody>
      </p:sp>
      <p:sp>
        <p:nvSpPr>
          <p:cNvPr id="23" name="Text 1"/>
          <p:cNvSpPr/>
          <p:nvPr/>
        </p:nvSpPr>
        <p:spPr>
          <a:xfrm>
            <a:off x="228451" y="676275"/>
            <a:ext cx="381000" cy="381000"/>
          </a:xfrm>
          <a:prstGeom prst="rect">
            <a:avLst/>
          </a:prstGeom>
          <a:noFill/>
          <a:ln/>
        </p:spPr>
        <p:txBody>
          <a:bodyPr wrap="square" lIns="0" tIns="0" rIns="0" bIns="0" rtlCol="0" anchor="t"/>
          <a:lstStyle/>
          <a:p>
            <a:pPr marL="0" indent="0">
              <a:lnSpc>
                <a:spcPts val="2025"/>
              </a:lnSpc>
              <a:buNone/>
            </a:pPr>
            <a:r>
              <a:rPr lang="en-US" sz="1350" b="1" dirty="0">
                <a:solidFill>
                  <a:srgbClr val="FFFFFF"/>
                </a:solidFill>
                <a:latin typeface="Arial" pitchFamily="34" charset="0"/>
                <a:ea typeface="Arial" pitchFamily="34" charset="-122"/>
                <a:cs typeface="Arial" pitchFamily="34" charset="-120"/>
              </a:rPr>
              <a:t>1</a:t>
            </a:r>
            <a:endParaRPr lang="en-US" sz="1350" dirty="0"/>
          </a:p>
        </p:txBody>
      </p:sp>
      <p:sp>
        <p:nvSpPr>
          <p:cNvPr id="24" name="Text 2"/>
          <p:cNvSpPr/>
          <p:nvPr/>
        </p:nvSpPr>
        <p:spPr>
          <a:xfrm>
            <a:off x="876300" y="1028700"/>
            <a:ext cx="2515672" cy="266700"/>
          </a:xfrm>
          <a:prstGeom prst="rect">
            <a:avLst/>
          </a:prstGeom>
          <a:noFill/>
          <a:ln/>
        </p:spPr>
        <p:txBody>
          <a:bodyPr wrap="square" lIns="0" tIns="0" rIns="0" bIns="0" rtlCol="0" anchor="t"/>
          <a:lstStyle/>
          <a:p>
            <a:pPr marL="0" indent="0">
              <a:lnSpc>
                <a:spcPts val="2100"/>
              </a:lnSpc>
              <a:buNone/>
            </a:pPr>
            <a:r>
              <a:rPr lang="en-US" sz="1350" b="1" dirty="0">
                <a:solidFill>
                  <a:srgbClr val="333333"/>
                </a:solidFill>
                <a:latin typeface="Arial" pitchFamily="34" charset="0"/>
                <a:ea typeface="Arial" pitchFamily="34" charset="-122"/>
                <a:cs typeface="Arial" pitchFamily="34" charset="-120"/>
              </a:rPr>
              <a:t>Process State Transitions</a:t>
            </a:r>
            <a:endParaRPr lang="en-US" sz="1350" dirty="0"/>
          </a:p>
        </p:txBody>
      </p:sp>
      <p:sp>
        <p:nvSpPr>
          <p:cNvPr id="25" name="Text 3"/>
          <p:cNvSpPr/>
          <p:nvPr/>
        </p:nvSpPr>
        <p:spPr>
          <a:xfrm>
            <a:off x="381000" y="1466850"/>
            <a:ext cx="5467350" cy="6858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A process is currently in the "Running" state. Describe two distinct events that could cause it to transition to the "Ready" state, and one event that could cause it to transition to the "Waiting" (Blocked) state.</a:t>
            </a:r>
            <a:endParaRPr lang="en-US" sz="1200" dirty="0"/>
          </a:p>
        </p:txBody>
      </p:sp>
      <p:sp>
        <p:nvSpPr>
          <p:cNvPr id="26" name="Text 4"/>
          <p:cNvSpPr/>
          <p:nvPr/>
        </p:nvSpPr>
        <p:spPr>
          <a:xfrm>
            <a:off x="6191101" y="676275"/>
            <a:ext cx="381000" cy="381000"/>
          </a:xfrm>
          <a:prstGeom prst="rect">
            <a:avLst/>
          </a:prstGeom>
          <a:noFill/>
          <a:ln/>
        </p:spPr>
        <p:txBody>
          <a:bodyPr wrap="square" lIns="0" tIns="0" rIns="0" bIns="0" rtlCol="0" anchor="t"/>
          <a:lstStyle/>
          <a:p>
            <a:pPr marL="0" indent="0">
              <a:lnSpc>
                <a:spcPts val="2025"/>
              </a:lnSpc>
              <a:buNone/>
            </a:pPr>
            <a:r>
              <a:rPr lang="en-US" sz="1350" b="1" dirty="0">
                <a:solidFill>
                  <a:srgbClr val="FFFFFF"/>
                </a:solidFill>
                <a:latin typeface="Arial" pitchFamily="34" charset="0"/>
                <a:ea typeface="Arial" pitchFamily="34" charset="-122"/>
                <a:cs typeface="Arial" pitchFamily="34" charset="-120"/>
              </a:rPr>
              <a:t>2</a:t>
            </a:r>
            <a:endParaRPr lang="en-US" sz="1350" dirty="0"/>
          </a:p>
        </p:txBody>
      </p:sp>
      <p:sp>
        <p:nvSpPr>
          <p:cNvPr id="27" name="Text 5"/>
          <p:cNvSpPr/>
          <p:nvPr/>
        </p:nvSpPr>
        <p:spPr>
          <a:xfrm>
            <a:off x="6838950" y="1028700"/>
            <a:ext cx="2735699" cy="266700"/>
          </a:xfrm>
          <a:prstGeom prst="rect">
            <a:avLst/>
          </a:prstGeom>
          <a:noFill/>
          <a:ln/>
        </p:spPr>
        <p:txBody>
          <a:bodyPr wrap="square" lIns="0" tIns="0" rIns="0" bIns="0" rtlCol="0" anchor="t"/>
          <a:lstStyle/>
          <a:p>
            <a:pPr marL="0" indent="0">
              <a:lnSpc>
                <a:spcPts val="2100"/>
              </a:lnSpc>
              <a:buNone/>
            </a:pPr>
            <a:r>
              <a:rPr lang="en-US" sz="1350" b="1" dirty="0">
                <a:solidFill>
                  <a:srgbClr val="333333"/>
                </a:solidFill>
                <a:latin typeface="Arial" pitchFamily="34" charset="0"/>
                <a:ea typeface="Arial" pitchFamily="34" charset="-122"/>
                <a:cs typeface="Arial" pitchFamily="34" charset="-120"/>
              </a:rPr>
              <a:t>CPU Scheduling Algorithms</a:t>
            </a:r>
            <a:endParaRPr lang="en-US" sz="1350" dirty="0"/>
          </a:p>
        </p:txBody>
      </p:sp>
      <p:sp>
        <p:nvSpPr>
          <p:cNvPr id="28" name="Text 6"/>
          <p:cNvSpPr/>
          <p:nvPr/>
        </p:nvSpPr>
        <p:spPr>
          <a:xfrm>
            <a:off x="6343650" y="1466850"/>
            <a:ext cx="5467350" cy="9144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Compare and contrast the First-Come, First-Served (FCFS) and Shortest-Job-First (SJF) CPU scheduling algorithms. Discuss one advantage and one disadvantage for each, particularly regarding their impact on waiting time and potential for starvation.</a:t>
            </a:r>
            <a:endParaRPr lang="en-US" sz="1200" dirty="0"/>
          </a:p>
        </p:txBody>
      </p:sp>
      <p:sp>
        <p:nvSpPr>
          <p:cNvPr id="29" name="Text 7"/>
          <p:cNvSpPr/>
          <p:nvPr/>
        </p:nvSpPr>
        <p:spPr>
          <a:xfrm>
            <a:off x="228451" y="3467100"/>
            <a:ext cx="381000" cy="381000"/>
          </a:xfrm>
          <a:prstGeom prst="rect">
            <a:avLst/>
          </a:prstGeom>
          <a:noFill/>
          <a:ln/>
        </p:spPr>
        <p:txBody>
          <a:bodyPr wrap="square" lIns="0" tIns="0" rIns="0" bIns="0" rtlCol="0" anchor="t"/>
          <a:lstStyle/>
          <a:p>
            <a:pPr marL="0" indent="0">
              <a:lnSpc>
                <a:spcPts val="2025"/>
              </a:lnSpc>
              <a:buNone/>
            </a:pPr>
            <a:r>
              <a:rPr lang="en-US" sz="1350" b="1" dirty="0">
                <a:solidFill>
                  <a:srgbClr val="FFFFFF"/>
                </a:solidFill>
                <a:latin typeface="Arial" pitchFamily="34" charset="0"/>
                <a:ea typeface="Arial" pitchFamily="34" charset="-122"/>
                <a:cs typeface="Arial" pitchFamily="34" charset="-120"/>
              </a:rPr>
              <a:t>3</a:t>
            </a:r>
            <a:endParaRPr lang="en-US" sz="1350" dirty="0"/>
          </a:p>
        </p:txBody>
      </p:sp>
      <p:sp>
        <p:nvSpPr>
          <p:cNvPr id="30" name="Text 8"/>
          <p:cNvSpPr/>
          <p:nvPr/>
        </p:nvSpPr>
        <p:spPr>
          <a:xfrm>
            <a:off x="876300" y="3819525"/>
            <a:ext cx="3371850" cy="266700"/>
          </a:xfrm>
          <a:prstGeom prst="rect">
            <a:avLst/>
          </a:prstGeom>
          <a:noFill/>
          <a:ln/>
        </p:spPr>
        <p:txBody>
          <a:bodyPr wrap="square" lIns="0" tIns="0" rIns="0" bIns="0" rtlCol="0" anchor="t"/>
          <a:lstStyle/>
          <a:p>
            <a:pPr marL="0" indent="0">
              <a:lnSpc>
                <a:spcPts val="2100"/>
              </a:lnSpc>
              <a:buNone/>
            </a:pPr>
            <a:r>
              <a:rPr lang="en-US" sz="1350" b="1" dirty="0">
                <a:solidFill>
                  <a:srgbClr val="333333"/>
                </a:solidFill>
                <a:latin typeface="Arial" pitchFamily="34" charset="0"/>
                <a:ea typeface="Arial" pitchFamily="34" charset="-122"/>
                <a:cs typeface="Arial" pitchFamily="34" charset="-120"/>
              </a:rPr>
              <a:t>Multi-threading &amp; Race Conditions</a:t>
            </a:r>
            <a:endParaRPr lang="en-US" sz="1350" dirty="0"/>
          </a:p>
        </p:txBody>
      </p:sp>
      <p:sp>
        <p:nvSpPr>
          <p:cNvPr id="31" name="Text 9"/>
          <p:cNvSpPr/>
          <p:nvPr/>
        </p:nvSpPr>
        <p:spPr>
          <a:xfrm>
            <a:off x="381000" y="4257675"/>
            <a:ext cx="5467350" cy="6858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Explain the concept of a "race condition" in the context of multi-threading and process synchronization. How do synchronization mechanisms like mutexes or semaphores help prevent race conditions?</a:t>
            </a:r>
            <a:endParaRPr lang="en-US" sz="1200" dirty="0"/>
          </a:p>
        </p:txBody>
      </p:sp>
      <p:sp>
        <p:nvSpPr>
          <p:cNvPr id="32" name="Text 10"/>
          <p:cNvSpPr/>
          <p:nvPr/>
        </p:nvSpPr>
        <p:spPr>
          <a:xfrm>
            <a:off x="6191101" y="3467100"/>
            <a:ext cx="381000" cy="381000"/>
          </a:xfrm>
          <a:prstGeom prst="rect">
            <a:avLst/>
          </a:prstGeom>
          <a:noFill/>
          <a:ln/>
        </p:spPr>
        <p:txBody>
          <a:bodyPr wrap="square" lIns="0" tIns="0" rIns="0" bIns="0" rtlCol="0" anchor="t"/>
          <a:lstStyle/>
          <a:p>
            <a:pPr marL="0" indent="0">
              <a:lnSpc>
                <a:spcPts val="2025"/>
              </a:lnSpc>
              <a:buNone/>
            </a:pPr>
            <a:r>
              <a:rPr lang="en-US" sz="1350" b="1" dirty="0">
                <a:solidFill>
                  <a:srgbClr val="FFFFFF"/>
                </a:solidFill>
                <a:latin typeface="Arial" pitchFamily="34" charset="0"/>
                <a:ea typeface="Arial" pitchFamily="34" charset="-122"/>
                <a:cs typeface="Arial" pitchFamily="34" charset="-120"/>
              </a:rPr>
              <a:t>4</a:t>
            </a:r>
            <a:endParaRPr lang="en-US" sz="1350" dirty="0"/>
          </a:p>
        </p:txBody>
      </p:sp>
      <p:sp>
        <p:nvSpPr>
          <p:cNvPr id="33" name="Text 11"/>
          <p:cNvSpPr/>
          <p:nvPr/>
        </p:nvSpPr>
        <p:spPr>
          <a:xfrm>
            <a:off x="6838950" y="3819525"/>
            <a:ext cx="3262729" cy="266700"/>
          </a:xfrm>
          <a:prstGeom prst="rect">
            <a:avLst/>
          </a:prstGeom>
          <a:noFill/>
          <a:ln/>
        </p:spPr>
        <p:txBody>
          <a:bodyPr wrap="square" lIns="0" tIns="0" rIns="0" bIns="0" rtlCol="0" anchor="t"/>
          <a:lstStyle/>
          <a:p>
            <a:pPr marL="0" indent="0">
              <a:lnSpc>
                <a:spcPts val="2100"/>
              </a:lnSpc>
              <a:buNone/>
            </a:pPr>
            <a:r>
              <a:rPr lang="en-US" sz="1350" b="1" dirty="0">
                <a:solidFill>
                  <a:srgbClr val="333333"/>
                </a:solidFill>
                <a:latin typeface="Arial" pitchFamily="34" charset="0"/>
                <a:ea typeface="Arial" pitchFamily="34" charset="-122"/>
                <a:cs typeface="Arial" pitchFamily="34" charset="-120"/>
              </a:rPr>
              <a:t>Performance Bottleneck Analysis</a:t>
            </a:r>
            <a:endParaRPr lang="en-US" sz="1350" dirty="0"/>
          </a:p>
        </p:txBody>
      </p:sp>
      <p:sp>
        <p:nvSpPr>
          <p:cNvPr id="34" name="Text 12"/>
          <p:cNvSpPr/>
          <p:nvPr/>
        </p:nvSpPr>
        <p:spPr>
          <a:xfrm>
            <a:off x="6343650" y="4257675"/>
            <a:ext cx="5467350" cy="1143000"/>
          </a:xfrm>
          <a:prstGeom prst="rect">
            <a:avLst/>
          </a:prstGeom>
          <a:noFill/>
          <a:ln/>
        </p:spPr>
        <p:txBody>
          <a:bodyPr wrap="square" lIns="0" tIns="0" rIns="0" bIns="0" rtlCol="0" anchor="t"/>
          <a:lstStyle/>
          <a:p>
            <a:pPr marL="0" indent="0">
              <a:lnSpc>
                <a:spcPts val="1800"/>
              </a:lnSpc>
              <a:buNone/>
            </a:pPr>
            <a:r>
              <a:rPr lang="en-US" sz="1200" dirty="0">
                <a:solidFill>
                  <a:srgbClr val="333333"/>
                </a:solidFill>
                <a:latin typeface="Arial" pitchFamily="34" charset="0"/>
                <a:ea typeface="Arial" pitchFamily="34" charset="-122"/>
                <a:cs typeface="Arial" pitchFamily="34" charset="-120"/>
              </a:rPr>
              <a:t>A system is experiencing slow application response times. Monitoring reveals consistently high CPU utilization (95%) and low network throughput, while memory utilization remains moderate. Based on this, what is the most likely performance bottleneck, and what initial mitigation strategy would you recommend?</a:t>
            </a:r>
            <a:endParaRPr lang="en-US" sz="1200" dirty="0"/>
          </a:p>
        </p:txBody>
      </p:sp>
      <p:sp>
        <p:nvSpPr>
          <p:cNvPr id="35" name="Text 13"/>
          <p:cNvSpPr/>
          <p:nvPr/>
        </p:nvSpPr>
        <p:spPr>
          <a:xfrm>
            <a:off x="2756892" y="6553200"/>
            <a:ext cx="8242280" cy="190500"/>
          </a:xfrm>
          <a:prstGeom prst="rect">
            <a:avLst/>
          </a:prstGeom>
          <a:noFill/>
          <a:ln/>
        </p:spPr>
        <p:txBody>
          <a:bodyPr wrap="square" lIns="0" tIns="0" rIns="0" bIns="0" rtlCol="0" anchor="t"/>
          <a:lstStyle/>
          <a:p>
            <a:pPr marL="0" indent="0">
              <a:lnSpc>
                <a:spcPts val="1500"/>
              </a:lnSpc>
              <a:buNone/>
            </a:pPr>
            <a:r>
              <a:rPr lang="en-US" sz="1050" dirty="0">
                <a:solidFill>
                  <a:srgbClr val="374151"/>
                </a:solidFill>
                <a:latin typeface="Arial" pitchFamily="34" charset="0"/>
                <a:ea typeface="Arial" pitchFamily="34" charset="-122"/>
                <a:cs typeface="Arial" pitchFamily="34" charset="-120"/>
              </a:rPr>
              <a:t>These questions cover the key learning objectives: OS design principles, system utilities, and performance trade-offs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TotalTime>
  <Words>1787</Words>
  <Application>Microsoft Office PowerPoint</Application>
  <PresentationFormat>Widescreen</PresentationFormat>
  <Paragraphs>318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Consolas</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Shabih Fatima</cp:lastModifiedBy>
  <cp:revision>2</cp:revision>
  <dcterms:created xsi:type="dcterms:W3CDTF">2025-10-11T12:24:34Z</dcterms:created>
  <dcterms:modified xsi:type="dcterms:W3CDTF">2025-10-12T19:55:49Z</dcterms:modified>
</cp:coreProperties>
</file>